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79" r:id="rId3"/>
    <p:sldId id="259" r:id="rId4"/>
    <p:sldId id="260" r:id="rId5"/>
    <p:sldId id="269" r:id="rId6"/>
    <p:sldId id="276" r:id="rId7"/>
    <p:sldId id="270" r:id="rId8"/>
    <p:sldId id="261" r:id="rId9"/>
    <p:sldId id="258" r:id="rId10"/>
    <p:sldId id="268" r:id="rId11"/>
    <p:sldId id="271" r:id="rId12"/>
    <p:sldId id="264" r:id="rId13"/>
    <p:sldId id="263" r:id="rId14"/>
    <p:sldId id="282" r:id="rId15"/>
    <p:sldId id="288" r:id="rId16"/>
    <p:sldId id="290" r:id="rId17"/>
    <p:sldId id="289" r:id="rId18"/>
    <p:sldId id="265" r:id="rId19"/>
    <p:sldId id="266" r:id="rId20"/>
    <p:sldId id="280" r:id="rId21"/>
    <p:sldId id="272" r:id="rId22"/>
    <p:sldId id="274" r:id="rId23"/>
    <p:sldId id="275" r:id="rId24"/>
    <p:sldId id="267" r:id="rId25"/>
    <p:sldId id="281" r:id="rId26"/>
    <p:sldId id="283" r:id="rId27"/>
    <p:sldId id="284" r:id="rId28"/>
    <p:sldId id="285" r:id="rId29"/>
    <p:sldId id="286" r:id="rId30"/>
    <p:sldId id="287" r:id="rId31"/>
    <p:sldId id="277" r:id="rId32"/>
    <p:sldId id="27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8F6FF"/>
    <a:srgbClr val="969696"/>
    <a:srgbClr val="5A5A5A"/>
    <a:srgbClr val="000000"/>
    <a:srgbClr val="FF0000"/>
    <a:srgbClr val="4EA5F0"/>
    <a:srgbClr val="0E2C4F"/>
    <a:srgbClr val="073183"/>
    <a:srgbClr val="0E2B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29T22:44:00.130"/>
    </inkml:context>
    <inkml:brush xml:id="br0">
      <inkml:brushProperty name="width" value="0.3" units="cm"/>
      <inkml:brushProperty name="height" value="0.6" units="cm"/>
      <inkml:brushProperty name="color" value="#F44C4C"/>
      <inkml:brushProperty name="tip" value="rectangle"/>
      <inkml:brushProperty name="rasterOp" value="maskPen"/>
      <inkml:brushProperty name="ignorePressure" value="1"/>
    </inkml:brush>
  </inkml:definitions>
  <inkml:trace contextRef="#ctx0" brushRef="#br0">6472 57,'-17'-6,"0"1,-1 0,0 1,0 1,0 1,0 1,-23 1,18-1,-631-2,332 6,-1017-3,1066-14,16 0,-1243 12,721 5,-357-3,1113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9T22:44:11.555"/>
    </inkml:context>
    <inkml:brush xml:id="br0">
      <inkml:brushProperty name="width" value="0.3" units="cm"/>
      <inkml:brushProperty name="height" value="0.6" units="cm"/>
      <inkml:brushProperty name="color" value="#F44C4C"/>
      <inkml:brushProperty name="tip" value="rectangle"/>
      <inkml:brushProperty name="rasterOp" value="maskPen"/>
      <inkml:brushProperty name="ignorePressure" value="1"/>
    </inkml:brush>
  </inkml:definitions>
  <inkml:trace contextRef="#ctx0" brushRef="#br0">1 1 0,'3987'0'0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29T22:47:45.136"/>
    </inkml:context>
    <inkml:brush xml:id="br0">
      <inkml:brushProperty name="width" value="0.5" units="cm"/>
      <inkml:brushProperty name="height" value="1" units="cm"/>
      <inkml:brushProperty name="color" value="#F44C4C"/>
      <inkml:brushProperty name="tip" value="rectangle"/>
      <inkml:brushProperty name="rasterOp" value="maskPen"/>
      <inkml:brushProperty name="ignorePressure" value="1"/>
    </inkml:brush>
  </inkml:definitions>
  <inkml:trace contextRef="#ctx0" brushRef="#br0">0 304,'0'-1,"0"0,1 0,-1 0,0-1,1 1,-1 0,1 0,-1 0,1 0,-1 0,1 1,0-1,0 0,-1 0,1 0,0 0,0 1,0-1,0 0,0 1,0-1,0 1,1-1,27-9,-27 9,49-8,1 1,-1 3,103 3,-86 2,1635 0,-747 2,-479-2,-441 2,0 2,0 2,68 20,-20-5,-28-8,-10-1,0-3,1-1,58 1,-2-10,-40-1,0 3,117 16,-123-9,0-3,1-2,61-5,-29 0,-85 2,-1 0,1 0,-1-1,1 1,-1-1,1 0,-1 0,0 0,0-1,1 0,4-2,-7 2,0 0,0 0,0 0,0 0,-1 0,1 0,0 0,-1 0,0-1,0 1,0-1,0 1,0-1,0 1,0-1,-1 1,0-1,1 0,-1 1,0-5,-1-2,0 0,0 1,-1-1,0 0,-1 1,0-1,0 1,0 0,-1 0,-1 0,1 1,-1-1,0 1,-1 0,0 1,-13-12,0 0,-2 1,0 2,0 0,-36-18,26 20,0 2,-1 1,0 1,0 2,-48-5,63 10,-77-7,-178 6,146 5,-2274-1,1261-2,1130 1,-1 0,1 1,-1 0,1 0,0 1,0 0,0 1,-16 6,20-6,0 0,0 1,0-1,0 1,1 0,-1 0,1 1,0-1,0 1,1 0,-1 0,1 0,0 1,-3 7,-16 36,4-9,-27 83,44-119,1-1,-1 1,0 0,1-1,0 1,0 0,0-1,0 1,1 0,-1-1,1 1,0 0,0-1,0 1,1-1,-1 1,3 3,0-3,-1 1,1-1,0 0,0 0,0 0,1 0,-1-1,1 0,0 0,6 3,9 3,-1-2,2-1,-1 0,0-1,24 2,134 6,26 5,-100-3,119 1,105-15,-156-2,-164 1,0-1,0 0,-1-1,1 1,0-1,0-1,-1 0,0 0,12-6,5-6,32-25,15-9,-29 26,-28 17,0-1,0 0,0-2,-1 1,0-2,-1 0,0 0,15-17,-27 26,1 0,0 1,0-1,-1 0,1 0,0 0,-1 0,1 0,-1 0,1 0,-1 0,1 0,-1 0,0 0,0 0,1 0,-1 0,0 0,0 0,0 0,0 0,0 0,-1 0,1 0,0 0,0 0,-1 0,1 0,0 0,-1 0,1 0,-1 0,1 0,-1 0,0 0,1 0,-1 0,0 1,0-1,0 0,1 1,-1-1,0 0,0 1,0-1,0 1,-1-1,-5-2,-1 1,1 0,-1 1,0-1,-10 0,-319 0,195 5,76-3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8T22:44:42.735"/>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1473 1,'-5'0,"-6"0,-1 5,-3 6,1 5,2 6,4 3,3 2,2 1,-2 0,-1 1,-4-1,-1 5,-2 1,1-1,2-1,-2-1,2-2,-8 4,-4 1,0 9,0 1,4-2,0-3,3-4,0-3,2-3,-1-1,2-1,-3 0,3-1,-3-4,2-1,-1 0,-3 1,-4 2,3 6,-2 2,0 1,-3-6,-7-2,3-1,1 0,0-4,-1-1,1 2,-1 0,0-2,5 0,1 2,-1 1,0 2,-2 2,-2-4,0-1,4 5,1 3,-1 1,4 1,-4-2,-4-4,-2-3,0 0,-1 1,6 1,0 1,1 1,4 1,0 0,3 1,0-5,2-2,-1 5,-3 3,-4 1,3 0,-1 0,3-1,-1-6,3-1,4-1,-1 2,1 1,2 1,3 1,7 11,12 2,18 10,17 0,10-3,-1-5,4-4,1-9,-6-10,-8-2,-8-4,-6-5,-4-3,6-2,2-2,-1 0,1-1,0 0,3 0,-3 1,8 0,4-1,3 1,15 0,15 0,12 0,-2 0,3 0,-7 0,0 0,-1 0,-6 0,1 0,0 0,-5 0,-7 0,-1 0,-3 0,0 0,-2 0,-8 0,-9 0,-7 0,-8 0,-3 0,-4 0,-1 0,4 0,2 0,5 0,0 0,-1 0,-3 0,4-4,-1-2,3 0,-1 1,-1 2,-3 1,-3 1,-6-4,-3-6,-6-6,-4-4,-6-13,2-5,-1-5,-1 0,-2 2,-2 1,-6-4,-1 2,-6 4,-5 3,-9 4,-5 2,-2-3,0 0,0-9,2-2,1 3,0 7,1 5,6 4,0 0,1 0,-1 0,-6 0,-4-6,0-7,1-1,0 6,2 4,0 6,1 4,-4-1,-6-1,-2-2,-2-1,1-2,2 4,4 1,3 0,-7-7,-2-2,2-2,3 1,-2 1,0 0,-6 2,-6 0,-7-9,-4-3,-6-8,5-1,2 3,8 6,3 3,6 0,4 1,5 3,4 1,2 3,6 0,2 1,4 1,1 5,2 1,-1 0,-3-1,2-2,-2-1,3-1,3-1,4-5,2-2,3 1,2 0,5 7,2 12,4 13,5 16,5 6,3-1,6-4,9-10,1-9,-1-6,-17 14,-16 15,-24 18,-12 16,-7 9,-6 11,-5 4,1-3,-1-1,-1-2,-2-1,3 2,10-6,7-6,3-9,7-8,3-7,3-5,1-4,2-1,-1-2,-3 1,1 4,-7 3,2 4,-2 0,-1 0,-1-3,-2-2,4-11,6-24,6-20,13-20,11-12,8-11,14-3,5-13,10-2,11-1,-2 5,-6 2,-2 1,-6 3,-6 1,-5 4,0-1,0 7,-7 10,-3 9,-6 7,-6 15,-15 25,-16 21,-14 21,-12 16,-11 8,-2 5,-4 4,3-1,6 0,-1-5,4-9,5-1,1-3,3 4,4-5,3-3,3-6,6-7,3-1,0-3,4-4,0-2,3-2,-6-7,1-2,-1 0,-2 1,-1 1,-2 2,-2 1,0 1,4 0,2 0,-1 1,-1 4,-1 2,-1-1,3-1,1-6,4-2,5-2,0 1,2 1,2 1,4 1,1 1,2 0,1 0,5 1,6-1,6 5,10 2,4-1,2 0,0-3,4-5,-1-3,0-5,1 0,1-4,2 1,-1-2,7-3,5 7,8-1,3-1,0-4,4-4,-1-2,-6-3,1-1,-1 0,-6-1,-7 1,-6-1,-7 1,-2-1,5 1,3 0,-1 0,2 0,-1 0,2 0,-1 0,7 0,-1 0,2 0,-3 0,0 5,2 1,2 0,-2-1,-1-2,-2-1,-1-1,3 0,2-1,-2-1,-4 1,-5 0,-4 0,1 0,1-1,-2 1,7 0,2 0,-1 0,-4 0,-3 0,2 0,-1 0,-1 0,-2 0,8 0,1 0,-2 0,-2 0,-3 0,-3 0,3 0,0-4,-1-2,3 0,0 1,4-7,-1-8,-2-3,-8-4,-4-6,-6-2,-6-4,3-10,0-1,-4 3,-3 6,-3 4,-8 4,-3 3,-5 3,-6 0,-5-9,-3-3,-7-4,-3 1,0 2,-4 0,-5 6,1 4,3 2,2 7,5 1,1 1,2-3,-7-1,-3-1,-5-2,2-1,3 0,-2-5,-2 3,0 1,4 2,4 0,-2-1,1 1,2-1,-7 1,-2-1,-2-1,-8-4,1-1,0 0,-1 0,-5-2,2-5,-2-1,3 3,7-2,1-4,6 2,-1 3,2 3,0 8,1 4,2 2,4 0,-3-7,-3-1,-1-2,7 1,4 1,3 5,0 3,20 5,19 14,27 13,19 18,20 10,13 2,11 8,2 2,1 0,1 6,-3-1,-2-6,-3-2,-10-4,-14-5,-12-9,-7-10,-18-16,-19-24,-32-26,-47-28,-40-16,-31-6,-12-1,-1 8,11 13,23 17,21 12,21 11,13 11,20 20,21 15,22 20,14 10,18 3,11 7,1 2,7 0,10 6,9 7,9 1,-1 5,8-6,-2 1,1 3,-10-6,-6-8,-5-9,-12-8,-11 0,0-7,-3-3,-5-3,-1 0,-1 1,5 0,6-4,-2 0,-4 0,-5-4,-5 1,-3-3,-7 0,-3-2,-5 2,4-3,4 3,1 6,2 6,-4 7,-1 2,1 5,-5-1,1-2,-4 7,0-1,3-2,-2-4,0-4,3-2,-1-3,-1-2,-1 0,-1 0,-1-1,0 1,-1 0,6 5,0 1,-4 0,1-1,-2-1,-4-2,1 0,-1-2,-3 1,-2 4,-2 1,-1 9,-2 2,-10-6,-7-5,-6-9,-4-7,-6-3,-7-4,-6-3,-4-3,-4 3,-6-1,-11 0,-3-2,-3-2,2 0,-4-1,1-1,1 0,4-1,-5 1,-2 0,7 0,7-1,6 1,-1 0,4 0,9 0,2 0,5 0,-5 0,1 0,3 0,0 0,2 0,3 0,-1 0,1 0,3 0,-8 0,0 0,-4 0,3 0,-2 0,-6-4,0-2,0 0,-5 1,-3 2,-10 1,-6 1,3 0,11 1,34 0,49-9,20-3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8T22:44:55.623"/>
    </inkml:context>
    <inkml:brush xml:id="br0">
      <inkml:brushProperty name="width" value="0.035" units="cm"/>
      <inkml:brushProperty name="height" value="0.035" units="cm"/>
    </inkml:brush>
  </inkml:definitions>
  <inkml:trace contextRef="#ctx0" brushRef="#br0">3500 443 24575,'-53'-2'0,"0"-2"0,0-2 0,-75-20 0,-150-57 0,119 33 0,-635-144 0,604 162 0,-2 9 0,-241 1 0,281 28 0,129-3 0,0 1 0,1 1 0,-1 1 0,-31 12 0,10 2 0,0 2 0,1 2 0,-76 56 0,60-33 0,-97 102 0,59-52 0,-26 29 0,102-102 0,1 1 0,2 1 0,-25 45 0,29-43 0,1 0 0,2 1 0,0 1 0,2 0 0,2 0 0,0 1 0,2 0 0,2 0 0,1 0 0,1 40 0,3-36 0,0-1 0,2 0 0,2 0 0,1 0 0,2-1 0,1 0 0,1 0 0,27 51 0,163 235 0,-156-254 0,226 318 0,-199-291 0,4-4 0,89 80 0,-119-126 0,3-2 0,1-2 0,64 37 0,200 73 0,-258-124 0,-36-14 0,0 2 0,-1 0 0,0 1 0,-1 1 0,0 0 0,19 22 0,-30-30 0,15 12 0,2-2 0,0-1 0,0 0 0,2-2 0,42 16 0,-29-12 0,181 64 0,-55-22 0,-63-11 0,-68-30 0,70 26 0,-55-31 0,1-1 0,1-2 0,69 3 0,157-8 0,-260-5 0,50-2 0,0-4 0,-1-2 0,0-3 0,0-3 0,105-37 0,-145 40 0,-1-1 0,0-1 0,-1 0 0,0-2 0,30-25 0,-15 7 0,-2-2 0,36-42 0,-10-1 0,75-124 0,-122 175 0,-1 0 0,-2-2 0,-1 1 0,17-60 0,11-125 0,-9 70 0,-19 97 0,10-80 0,-17 58 0,-4-78 0,-2 115 0,-2 0 0,-2 1 0,-1-1 0,-19-57 0,-4 15 0,-3 2 0,-4 1 0,-2 2 0,-53-70 0,23 48 0,-4 4 0,-104-98 0,143 150 0,-37-51 0,40 46 0,-37-36 0,46 55-119,1 0 246,-29-23-1,41 37-314,0 0 1,-1 1 0,1 0-1,-1 1 1,0 0 0,-1 0-1,-13-3 1,-16-1-6639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8T22:44:57.684"/>
    </inkml:context>
    <inkml:brush xml:id="br0">
      <inkml:brushProperty name="width" value="0.035" units="cm"/>
      <inkml:brushProperty name="height" value="0.035" units="cm"/>
    </inkml:brush>
  </inkml:definitions>
  <inkml:trace contextRef="#ctx0" brushRef="#br0">586 1456 24575,'-4'-3'0,"-1"-1"0,0 1 0,1 0 0,-1 0 0,0 1 0,-9-4 0,-18-10 0,16 3 0,1-1 0,0 0 0,0-1 0,2 0 0,0-2 0,1 1 0,0-1 0,-11-25 0,-20-27 0,24 38 0,1 0 0,2-2 0,1 0 0,1-1 0,2 0 0,1-1 0,2 0 0,2 0 0,1-1 0,2 0 0,0-68 0,4 60 0,1 0 0,13-74 0,-10 100 0,0 0 0,2 0 0,0 0 0,1 1 0,1 0 0,0 0 0,2 0 0,21-29 0,107-102 0,-97 108 0,-38 37 0,6-5 0,-1-1 0,-1 0 0,1 0 0,6-12 0,-13 20 0,0 0 0,0 0 0,-1 0 0,1-1 0,0 1 0,-1 0 0,1-1 0,0 1 0,-1 0 0,0-1 0,1 1 0,-1 0 0,0-1 0,0 1 0,0-1 0,0 1 0,0-1 0,0 1 0,0 0 0,0-1 0,-1 1 0,1-1 0,0 1 0,-1 0 0,1-1 0,-1 1 0,0 0 0,1 0 0,-1-1 0,0 1 0,0 0 0,0 0 0,0 0 0,0 0 0,0 0 0,0 0 0,0 0 0,0 0 0,0 1 0,-1-1 0,1 0 0,0 1 0,0-1 0,-1 0 0,-1 1 0,-18-5 0,0 1 0,0 1 0,0 1 0,-1 1 0,1 1 0,-30 4 0,3-2 0,-36-2 0,-74 4 0,155-4 0,0 1 0,1-1 0,-1 0 0,0 1 0,1-1 0,-1 1 0,0 0 0,1 0 0,-1 0 0,1 0 0,0 0 0,-5 3 0,7-3 0,-1-1 0,1 0 0,0 1 0,0-1 0,-1 1 0,1-1 0,0 1 0,0-1 0,-1 0 0,1 1 0,0-1 0,0 1 0,0-1 0,0 1 0,0-1 0,0 1 0,0 0 0,0-1 0,0 1 0,0-1 0,0 1 0,0-1 0,0 1 0,1 0 0,13 17 0,-5-11 0,1-1 0,-1 0 0,1 0 0,0-1 0,1 0 0,-1-1 0,18 5 0,83 14 0,-83-19 0,258 32 0,-164-25 0,-120-11 0,0 0 0,0 0 0,-1 1 0,1-1 0,0 0 0,0 1 0,0 0 0,0-1 0,-1 1 0,1 0 0,0 0 0,-1 0 0,1 0 0,0 0 0,-1 0 0,0 0 0,1 1 0,-1-1 0,0 0 0,1 1 0,-1-1 0,0 1 0,0 0 0,0-1 0,0 1 0,-1 0 0,1 0 0,0-1 0,-1 1 0,1 0 0,-1 0 0,0 0 0,1 0 0,-1 0 0,0-1 0,0 1 0,0 0 0,-1 3 0,-1 7 0,0 1 0,-1 0 0,0-1 0,-9 21 0,6-16 0,-38 93 0,30-78 0,1 0 0,1 1 0,2 0 0,-10 56 0,19-85-62,0 0 0,1 0 0,0-1 0,0 1 0,0 0 0,0 0 0,0 0 0,1-1 0,0 1 0,-1 0 0,1-1 0,1 1-1,-1 0 1,1-1 0,-1 1 0,1-1 0,0 0 0,0 0 0,0 0 0,1 0 0,3 4 0,11 5-6764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F26CAE-131A-466A-A3FF-0FE5579CBC46}" type="datetimeFigureOut">
              <a:rPr lang="en-US" smtClean="0"/>
              <a:t>6/8/2026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4A6E16-21FF-4510-9A94-CA964232A7C6}" type="slidenum">
              <a:rPr lang="en-US" smtClean="0"/>
              <a:t>‹#›</a:t>
            </a:fld>
            <a:endParaRPr lang="en-US" dirty="0"/>
          </a:p>
        </p:txBody>
      </p:sp>
    </p:spTree>
    <p:extLst>
      <p:ext uri="{BB962C8B-B14F-4D97-AF65-F5344CB8AC3E}">
        <p14:creationId xmlns:p14="http://schemas.microsoft.com/office/powerpoint/2010/main" val="3528181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4A6E16-21FF-4510-9A94-CA964232A7C6}" type="slidenum">
              <a:rPr lang="en-US" smtClean="0"/>
              <a:t>13</a:t>
            </a:fld>
            <a:endParaRPr lang="en-US" dirty="0"/>
          </a:p>
        </p:txBody>
      </p:sp>
    </p:spTree>
    <p:extLst>
      <p:ext uri="{BB962C8B-B14F-4D97-AF65-F5344CB8AC3E}">
        <p14:creationId xmlns:p14="http://schemas.microsoft.com/office/powerpoint/2010/main" val="3522466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7E7BE-DC2A-AAC5-5845-3B009A24A7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AB6EFB-C829-BEDD-AC5D-D7EB4D882B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826DC4-3453-23C6-6C56-914F38693EA1}"/>
              </a:ext>
            </a:extLst>
          </p:cNvPr>
          <p:cNvSpPr>
            <a:spLocks noGrp="1"/>
          </p:cNvSpPr>
          <p:nvPr>
            <p:ph type="dt" sz="half" idx="10"/>
          </p:nvPr>
        </p:nvSpPr>
        <p:spPr/>
        <p:txBody>
          <a:bodyPr/>
          <a:lstStyle/>
          <a:p>
            <a:fld id="{73701E76-5902-4E79-BD07-A74935D0AD6A}" type="datetimeFigureOut">
              <a:rPr lang="en-US" smtClean="0"/>
              <a:t>6/8/2026</a:t>
            </a:fld>
            <a:endParaRPr lang="en-US" dirty="0"/>
          </a:p>
        </p:txBody>
      </p:sp>
      <p:sp>
        <p:nvSpPr>
          <p:cNvPr id="5" name="Footer Placeholder 4">
            <a:extLst>
              <a:ext uri="{FF2B5EF4-FFF2-40B4-BE49-F238E27FC236}">
                <a16:creationId xmlns:a16="http://schemas.microsoft.com/office/drawing/2014/main" id="{CF7B04BA-D79D-ADE0-06A9-E40220214A7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48597CD-B4B1-5116-0778-8BE5D9803A23}"/>
              </a:ext>
            </a:extLst>
          </p:cNvPr>
          <p:cNvSpPr>
            <a:spLocks noGrp="1"/>
          </p:cNvSpPr>
          <p:nvPr>
            <p:ph type="sldNum" sz="quarter" idx="12"/>
          </p:nvPr>
        </p:nvSpPr>
        <p:spPr/>
        <p:txBody>
          <a:bodyPr/>
          <a:lstStyle/>
          <a:p>
            <a:fld id="{386AF0C2-A652-4EFD-B774-3F03CF804A78}" type="slidenum">
              <a:rPr lang="en-US" smtClean="0"/>
              <a:t>‹#›</a:t>
            </a:fld>
            <a:endParaRPr lang="en-US" dirty="0"/>
          </a:p>
        </p:txBody>
      </p:sp>
    </p:spTree>
    <p:extLst>
      <p:ext uri="{BB962C8B-B14F-4D97-AF65-F5344CB8AC3E}">
        <p14:creationId xmlns:p14="http://schemas.microsoft.com/office/powerpoint/2010/main" val="2683510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27137-10DA-BE09-09D4-D526C6187A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16DD8F-A162-0DA3-B9DB-B6790D923B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36618C-51DE-ACCC-FE9B-5D68D707FB62}"/>
              </a:ext>
            </a:extLst>
          </p:cNvPr>
          <p:cNvSpPr>
            <a:spLocks noGrp="1"/>
          </p:cNvSpPr>
          <p:nvPr>
            <p:ph type="dt" sz="half" idx="10"/>
          </p:nvPr>
        </p:nvSpPr>
        <p:spPr/>
        <p:txBody>
          <a:bodyPr/>
          <a:lstStyle/>
          <a:p>
            <a:fld id="{73701E76-5902-4E79-BD07-A74935D0AD6A}" type="datetimeFigureOut">
              <a:rPr lang="en-US" smtClean="0"/>
              <a:t>6/8/2026</a:t>
            </a:fld>
            <a:endParaRPr lang="en-US" dirty="0"/>
          </a:p>
        </p:txBody>
      </p:sp>
      <p:sp>
        <p:nvSpPr>
          <p:cNvPr id="5" name="Footer Placeholder 4">
            <a:extLst>
              <a:ext uri="{FF2B5EF4-FFF2-40B4-BE49-F238E27FC236}">
                <a16:creationId xmlns:a16="http://schemas.microsoft.com/office/drawing/2014/main" id="{0E22E0BE-660F-1E8F-E262-2521A6DC7DE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42AF99-DB17-6D7F-9470-1247C0C3B4DD}"/>
              </a:ext>
            </a:extLst>
          </p:cNvPr>
          <p:cNvSpPr>
            <a:spLocks noGrp="1"/>
          </p:cNvSpPr>
          <p:nvPr>
            <p:ph type="sldNum" sz="quarter" idx="12"/>
          </p:nvPr>
        </p:nvSpPr>
        <p:spPr/>
        <p:txBody>
          <a:bodyPr/>
          <a:lstStyle/>
          <a:p>
            <a:fld id="{386AF0C2-A652-4EFD-B774-3F03CF804A78}" type="slidenum">
              <a:rPr lang="en-US" smtClean="0"/>
              <a:t>‹#›</a:t>
            </a:fld>
            <a:endParaRPr lang="en-US" dirty="0"/>
          </a:p>
        </p:txBody>
      </p:sp>
    </p:spTree>
    <p:extLst>
      <p:ext uri="{BB962C8B-B14F-4D97-AF65-F5344CB8AC3E}">
        <p14:creationId xmlns:p14="http://schemas.microsoft.com/office/powerpoint/2010/main" val="140781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87466-5223-2568-2B60-667C0F2B5F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E27D34-6EF5-891D-43B5-F7E6EC56CF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DD38A0-CD62-0C8B-77F0-C61B29E14E87}"/>
              </a:ext>
            </a:extLst>
          </p:cNvPr>
          <p:cNvSpPr>
            <a:spLocks noGrp="1"/>
          </p:cNvSpPr>
          <p:nvPr>
            <p:ph type="dt" sz="half" idx="10"/>
          </p:nvPr>
        </p:nvSpPr>
        <p:spPr/>
        <p:txBody>
          <a:bodyPr/>
          <a:lstStyle/>
          <a:p>
            <a:fld id="{73701E76-5902-4E79-BD07-A74935D0AD6A}" type="datetimeFigureOut">
              <a:rPr lang="en-US" smtClean="0"/>
              <a:t>6/8/2026</a:t>
            </a:fld>
            <a:endParaRPr lang="en-US" dirty="0"/>
          </a:p>
        </p:txBody>
      </p:sp>
      <p:sp>
        <p:nvSpPr>
          <p:cNvPr id="5" name="Footer Placeholder 4">
            <a:extLst>
              <a:ext uri="{FF2B5EF4-FFF2-40B4-BE49-F238E27FC236}">
                <a16:creationId xmlns:a16="http://schemas.microsoft.com/office/drawing/2014/main" id="{F0213687-0627-3E75-C036-080215C1002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C3C69A5-CB6C-8917-6B08-8DB604842473}"/>
              </a:ext>
            </a:extLst>
          </p:cNvPr>
          <p:cNvSpPr>
            <a:spLocks noGrp="1"/>
          </p:cNvSpPr>
          <p:nvPr>
            <p:ph type="sldNum" sz="quarter" idx="12"/>
          </p:nvPr>
        </p:nvSpPr>
        <p:spPr/>
        <p:txBody>
          <a:bodyPr/>
          <a:lstStyle/>
          <a:p>
            <a:fld id="{386AF0C2-A652-4EFD-B774-3F03CF804A78}" type="slidenum">
              <a:rPr lang="en-US" smtClean="0"/>
              <a:t>‹#›</a:t>
            </a:fld>
            <a:endParaRPr lang="en-US" dirty="0"/>
          </a:p>
        </p:txBody>
      </p:sp>
    </p:spTree>
    <p:extLst>
      <p:ext uri="{BB962C8B-B14F-4D97-AF65-F5344CB8AC3E}">
        <p14:creationId xmlns:p14="http://schemas.microsoft.com/office/powerpoint/2010/main" val="1636987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DFA67-7C53-4232-E03E-76AC26E745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3DCEC9-D5A3-85E0-74C4-2A884E216F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80DD65-A3B5-8A7B-92DD-CB72027036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91BA2A-FB75-CC0A-5BB0-6A027A2A6E62}"/>
              </a:ext>
            </a:extLst>
          </p:cNvPr>
          <p:cNvSpPr>
            <a:spLocks noGrp="1"/>
          </p:cNvSpPr>
          <p:nvPr>
            <p:ph type="dt" sz="half" idx="10"/>
          </p:nvPr>
        </p:nvSpPr>
        <p:spPr/>
        <p:txBody>
          <a:bodyPr/>
          <a:lstStyle/>
          <a:p>
            <a:fld id="{73701E76-5902-4E79-BD07-A74935D0AD6A}" type="datetimeFigureOut">
              <a:rPr lang="en-US" smtClean="0"/>
              <a:t>6/8/2026</a:t>
            </a:fld>
            <a:endParaRPr lang="en-US" dirty="0"/>
          </a:p>
        </p:txBody>
      </p:sp>
      <p:sp>
        <p:nvSpPr>
          <p:cNvPr id="6" name="Footer Placeholder 5">
            <a:extLst>
              <a:ext uri="{FF2B5EF4-FFF2-40B4-BE49-F238E27FC236}">
                <a16:creationId xmlns:a16="http://schemas.microsoft.com/office/drawing/2014/main" id="{F3B035F5-2050-C8A1-9D22-9854D1D203B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8609DFB-9F7A-EC33-CD23-6E8118B99EC0}"/>
              </a:ext>
            </a:extLst>
          </p:cNvPr>
          <p:cNvSpPr>
            <a:spLocks noGrp="1"/>
          </p:cNvSpPr>
          <p:nvPr>
            <p:ph type="sldNum" sz="quarter" idx="12"/>
          </p:nvPr>
        </p:nvSpPr>
        <p:spPr/>
        <p:txBody>
          <a:bodyPr/>
          <a:lstStyle/>
          <a:p>
            <a:fld id="{386AF0C2-A652-4EFD-B774-3F03CF804A78}" type="slidenum">
              <a:rPr lang="en-US" smtClean="0"/>
              <a:t>‹#›</a:t>
            </a:fld>
            <a:endParaRPr lang="en-US" dirty="0"/>
          </a:p>
        </p:txBody>
      </p:sp>
    </p:spTree>
    <p:extLst>
      <p:ext uri="{BB962C8B-B14F-4D97-AF65-F5344CB8AC3E}">
        <p14:creationId xmlns:p14="http://schemas.microsoft.com/office/powerpoint/2010/main" val="1208534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79BB2-C126-D8DD-562B-564FDAE2E99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EEEB06-7888-5332-8C6F-027585D265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EEDB49-9C69-9312-9DF8-B95838A03A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9C4A97-3D91-3549-6324-12B27EC9A0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8319D3-5DF4-D71B-4C14-87EA6FE961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AB6295-E44F-8233-A2FC-1E05F0F282A2}"/>
              </a:ext>
            </a:extLst>
          </p:cNvPr>
          <p:cNvSpPr>
            <a:spLocks noGrp="1"/>
          </p:cNvSpPr>
          <p:nvPr>
            <p:ph type="dt" sz="half" idx="10"/>
          </p:nvPr>
        </p:nvSpPr>
        <p:spPr/>
        <p:txBody>
          <a:bodyPr/>
          <a:lstStyle/>
          <a:p>
            <a:fld id="{73701E76-5902-4E79-BD07-A74935D0AD6A}" type="datetimeFigureOut">
              <a:rPr lang="en-US" smtClean="0"/>
              <a:t>6/8/2026</a:t>
            </a:fld>
            <a:endParaRPr lang="en-US" dirty="0"/>
          </a:p>
        </p:txBody>
      </p:sp>
      <p:sp>
        <p:nvSpPr>
          <p:cNvPr id="8" name="Footer Placeholder 7">
            <a:extLst>
              <a:ext uri="{FF2B5EF4-FFF2-40B4-BE49-F238E27FC236}">
                <a16:creationId xmlns:a16="http://schemas.microsoft.com/office/drawing/2014/main" id="{C15D721B-0322-962D-4857-D033C7DC1B8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A85698A-FDF1-F127-D370-D1270AD8CAE9}"/>
              </a:ext>
            </a:extLst>
          </p:cNvPr>
          <p:cNvSpPr>
            <a:spLocks noGrp="1"/>
          </p:cNvSpPr>
          <p:nvPr>
            <p:ph type="sldNum" sz="quarter" idx="12"/>
          </p:nvPr>
        </p:nvSpPr>
        <p:spPr/>
        <p:txBody>
          <a:bodyPr/>
          <a:lstStyle/>
          <a:p>
            <a:fld id="{386AF0C2-A652-4EFD-B774-3F03CF804A78}" type="slidenum">
              <a:rPr lang="en-US" smtClean="0"/>
              <a:t>‹#›</a:t>
            </a:fld>
            <a:endParaRPr lang="en-US" dirty="0"/>
          </a:p>
        </p:txBody>
      </p:sp>
    </p:spTree>
    <p:extLst>
      <p:ext uri="{BB962C8B-B14F-4D97-AF65-F5344CB8AC3E}">
        <p14:creationId xmlns:p14="http://schemas.microsoft.com/office/powerpoint/2010/main" val="1955573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0D628-B5FF-437F-9E61-5247D21587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8E7F67-4093-3583-28D1-160D83DBEABD}"/>
              </a:ext>
            </a:extLst>
          </p:cNvPr>
          <p:cNvSpPr>
            <a:spLocks noGrp="1"/>
          </p:cNvSpPr>
          <p:nvPr>
            <p:ph type="dt" sz="half" idx="10"/>
          </p:nvPr>
        </p:nvSpPr>
        <p:spPr/>
        <p:txBody>
          <a:bodyPr/>
          <a:lstStyle/>
          <a:p>
            <a:fld id="{73701E76-5902-4E79-BD07-A74935D0AD6A}" type="datetimeFigureOut">
              <a:rPr lang="en-US" smtClean="0"/>
              <a:t>6/8/2026</a:t>
            </a:fld>
            <a:endParaRPr lang="en-US" dirty="0"/>
          </a:p>
        </p:txBody>
      </p:sp>
      <p:sp>
        <p:nvSpPr>
          <p:cNvPr id="4" name="Footer Placeholder 3">
            <a:extLst>
              <a:ext uri="{FF2B5EF4-FFF2-40B4-BE49-F238E27FC236}">
                <a16:creationId xmlns:a16="http://schemas.microsoft.com/office/drawing/2014/main" id="{A1BED3E8-FDEA-B784-DE40-03F25B43D81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94C87D4-3E35-6E0F-8108-323514D837C8}"/>
              </a:ext>
            </a:extLst>
          </p:cNvPr>
          <p:cNvSpPr>
            <a:spLocks noGrp="1"/>
          </p:cNvSpPr>
          <p:nvPr>
            <p:ph type="sldNum" sz="quarter" idx="12"/>
          </p:nvPr>
        </p:nvSpPr>
        <p:spPr/>
        <p:txBody>
          <a:bodyPr/>
          <a:lstStyle/>
          <a:p>
            <a:fld id="{386AF0C2-A652-4EFD-B774-3F03CF804A78}" type="slidenum">
              <a:rPr lang="en-US" smtClean="0"/>
              <a:t>‹#›</a:t>
            </a:fld>
            <a:endParaRPr lang="en-US" dirty="0"/>
          </a:p>
        </p:txBody>
      </p:sp>
    </p:spTree>
    <p:extLst>
      <p:ext uri="{BB962C8B-B14F-4D97-AF65-F5344CB8AC3E}">
        <p14:creationId xmlns:p14="http://schemas.microsoft.com/office/powerpoint/2010/main" val="1088007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E48498-A90B-E095-CD3A-766CB2BC8661}"/>
              </a:ext>
            </a:extLst>
          </p:cNvPr>
          <p:cNvSpPr>
            <a:spLocks noGrp="1"/>
          </p:cNvSpPr>
          <p:nvPr>
            <p:ph type="dt" sz="half" idx="10"/>
          </p:nvPr>
        </p:nvSpPr>
        <p:spPr/>
        <p:txBody>
          <a:bodyPr/>
          <a:lstStyle/>
          <a:p>
            <a:fld id="{73701E76-5902-4E79-BD07-A74935D0AD6A}" type="datetimeFigureOut">
              <a:rPr lang="en-US" smtClean="0"/>
              <a:t>6/8/2026</a:t>
            </a:fld>
            <a:endParaRPr lang="en-US" dirty="0"/>
          </a:p>
        </p:txBody>
      </p:sp>
      <p:sp>
        <p:nvSpPr>
          <p:cNvPr id="3" name="Footer Placeholder 2">
            <a:extLst>
              <a:ext uri="{FF2B5EF4-FFF2-40B4-BE49-F238E27FC236}">
                <a16:creationId xmlns:a16="http://schemas.microsoft.com/office/drawing/2014/main" id="{BC7FCB41-24CB-B5F3-45DD-0F4E4685EED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42CFB6B-EABC-DB6B-8EBD-14669CF2C45F}"/>
              </a:ext>
            </a:extLst>
          </p:cNvPr>
          <p:cNvSpPr>
            <a:spLocks noGrp="1"/>
          </p:cNvSpPr>
          <p:nvPr>
            <p:ph type="sldNum" sz="quarter" idx="12"/>
          </p:nvPr>
        </p:nvSpPr>
        <p:spPr/>
        <p:txBody>
          <a:bodyPr/>
          <a:lstStyle/>
          <a:p>
            <a:fld id="{386AF0C2-A652-4EFD-B774-3F03CF804A78}" type="slidenum">
              <a:rPr lang="en-US" smtClean="0"/>
              <a:t>‹#›</a:t>
            </a:fld>
            <a:endParaRPr lang="en-US" dirty="0"/>
          </a:p>
        </p:txBody>
      </p:sp>
    </p:spTree>
    <p:extLst>
      <p:ext uri="{BB962C8B-B14F-4D97-AF65-F5344CB8AC3E}">
        <p14:creationId xmlns:p14="http://schemas.microsoft.com/office/powerpoint/2010/main" val="3213516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C1D42-FC3A-771C-A6A0-BF17A4EE0B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FC04C6-F665-1A56-6250-4BC1271133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90BA88-3CF2-2A1B-83F5-49B8BEECEB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B7C5B5-D5D3-CB98-790C-DEDA3943C902}"/>
              </a:ext>
            </a:extLst>
          </p:cNvPr>
          <p:cNvSpPr>
            <a:spLocks noGrp="1"/>
          </p:cNvSpPr>
          <p:nvPr>
            <p:ph type="dt" sz="half" idx="10"/>
          </p:nvPr>
        </p:nvSpPr>
        <p:spPr/>
        <p:txBody>
          <a:bodyPr/>
          <a:lstStyle/>
          <a:p>
            <a:fld id="{73701E76-5902-4E79-BD07-A74935D0AD6A}" type="datetimeFigureOut">
              <a:rPr lang="en-US" smtClean="0"/>
              <a:t>6/8/2026</a:t>
            </a:fld>
            <a:endParaRPr lang="en-US" dirty="0"/>
          </a:p>
        </p:txBody>
      </p:sp>
      <p:sp>
        <p:nvSpPr>
          <p:cNvPr id="6" name="Footer Placeholder 5">
            <a:extLst>
              <a:ext uri="{FF2B5EF4-FFF2-40B4-BE49-F238E27FC236}">
                <a16:creationId xmlns:a16="http://schemas.microsoft.com/office/drawing/2014/main" id="{2922C141-F626-4D62-CE82-1B98DCE57B4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5EA1349-7B3A-F96D-1B46-25631B7B533B}"/>
              </a:ext>
            </a:extLst>
          </p:cNvPr>
          <p:cNvSpPr>
            <a:spLocks noGrp="1"/>
          </p:cNvSpPr>
          <p:nvPr>
            <p:ph type="sldNum" sz="quarter" idx="12"/>
          </p:nvPr>
        </p:nvSpPr>
        <p:spPr/>
        <p:txBody>
          <a:bodyPr/>
          <a:lstStyle/>
          <a:p>
            <a:fld id="{386AF0C2-A652-4EFD-B774-3F03CF804A78}" type="slidenum">
              <a:rPr lang="en-US" smtClean="0"/>
              <a:t>‹#›</a:t>
            </a:fld>
            <a:endParaRPr lang="en-US" dirty="0"/>
          </a:p>
        </p:txBody>
      </p:sp>
    </p:spTree>
    <p:extLst>
      <p:ext uri="{BB962C8B-B14F-4D97-AF65-F5344CB8AC3E}">
        <p14:creationId xmlns:p14="http://schemas.microsoft.com/office/powerpoint/2010/main" val="3519878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840CB-6FB2-B042-1D8C-1E395DAD73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161049A-9CCF-4893-0082-A91E4321EE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83161954-8752-371B-C41F-8AC6D08306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93E931-44AA-6635-836F-1ABD9F2F28EF}"/>
              </a:ext>
            </a:extLst>
          </p:cNvPr>
          <p:cNvSpPr>
            <a:spLocks noGrp="1"/>
          </p:cNvSpPr>
          <p:nvPr>
            <p:ph type="dt" sz="half" idx="10"/>
          </p:nvPr>
        </p:nvSpPr>
        <p:spPr/>
        <p:txBody>
          <a:bodyPr/>
          <a:lstStyle/>
          <a:p>
            <a:fld id="{73701E76-5902-4E79-BD07-A74935D0AD6A}" type="datetimeFigureOut">
              <a:rPr lang="en-US" smtClean="0"/>
              <a:t>6/8/2026</a:t>
            </a:fld>
            <a:endParaRPr lang="en-US" dirty="0"/>
          </a:p>
        </p:txBody>
      </p:sp>
      <p:sp>
        <p:nvSpPr>
          <p:cNvPr id="6" name="Footer Placeholder 5">
            <a:extLst>
              <a:ext uri="{FF2B5EF4-FFF2-40B4-BE49-F238E27FC236}">
                <a16:creationId xmlns:a16="http://schemas.microsoft.com/office/drawing/2014/main" id="{AA0F4035-BC46-5AF8-FCD8-78305ADAC1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8AE31B0-E654-5694-C044-DBF1BCC18F0C}"/>
              </a:ext>
            </a:extLst>
          </p:cNvPr>
          <p:cNvSpPr>
            <a:spLocks noGrp="1"/>
          </p:cNvSpPr>
          <p:nvPr>
            <p:ph type="sldNum" sz="quarter" idx="12"/>
          </p:nvPr>
        </p:nvSpPr>
        <p:spPr/>
        <p:txBody>
          <a:bodyPr/>
          <a:lstStyle/>
          <a:p>
            <a:fld id="{386AF0C2-A652-4EFD-B774-3F03CF804A78}" type="slidenum">
              <a:rPr lang="en-US" smtClean="0"/>
              <a:t>‹#›</a:t>
            </a:fld>
            <a:endParaRPr lang="en-US" dirty="0"/>
          </a:p>
        </p:txBody>
      </p:sp>
    </p:spTree>
    <p:extLst>
      <p:ext uri="{BB962C8B-B14F-4D97-AF65-F5344CB8AC3E}">
        <p14:creationId xmlns:p14="http://schemas.microsoft.com/office/powerpoint/2010/main" val="2839987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0177E-4064-7D02-17B2-34F8C11D0C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A9173D-6D86-209A-E338-472BBB2DA3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87012E-73ED-E9A2-75A3-3051AEDB1C0B}"/>
              </a:ext>
            </a:extLst>
          </p:cNvPr>
          <p:cNvSpPr>
            <a:spLocks noGrp="1"/>
          </p:cNvSpPr>
          <p:nvPr>
            <p:ph type="dt" sz="half" idx="10"/>
          </p:nvPr>
        </p:nvSpPr>
        <p:spPr/>
        <p:txBody>
          <a:bodyPr/>
          <a:lstStyle/>
          <a:p>
            <a:fld id="{73701E76-5902-4E79-BD07-A74935D0AD6A}" type="datetimeFigureOut">
              <a:rPr lang="en-US" smtClean="0"/>
              <a:t>6/8/2026</a:t>
            </a:fld>
            <a:endParaRPr lang="en-US" dirty="0"/>
          </a:p>
        </p:txBody>
      </p:sp>
      <p:sp>
        <p:nvSpPr>
          <p:cNvPr id="5" name="Footer Placeholder 4">
            <a:extLst>
              <a:ext uri="{FF2B5EF4-FFF2-40B4-BE49-F238E27FC236}">
                <a16:creationId xmlns:a16="http://schemas.microsoft.com/office/drawing/2014/main" id="{920A0478-3FCD-F100-D3AF-1DF74742602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199564C-CBA5-3CE6-D398-EEE78509292E}"/>
              </a:ext>
            </a:extLst>
          </p:cNvPr>
          <p:cNvSpPr>
            <a:spLocks noGrp="1"/>
          </p:cNvSpPr>
          <p:nvPr>
            <p:ph type="sldNum" sz="quarter" idx="12"/>
          </p:nvPr>
        </p:nvSpPr>
        <p:spPr/>
        <p:txBody>
          <a:bodyPr/>
          <a:lstStyle/>
          <a:p>
            <a:fld id="{386AF0C2-A652-4EFD-B774-3F03CF804A78}" type="slidenum">
              <a:rPr lang="en-US" smtClean="0"/>
              <a:t>‹#›</a:t>
            </a:fld>
            <a:endParaRPr lang="en-US" dirty="0"/>
          </a:p>
        </p:txBody>
      </p:sp>
    </p:spTree>
    <p:extLst>
      <p:ext uri="{BB962C8B-B14F-4D97-AF65-F5344CB8AC3E}">
        <p14:creationId xmlns:p14="http://schemas.microsoft.com/office/powerpoint/2010/main" val="2014381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5A1DA1-0C97-12F4-06B5-56C3EABA35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BC3DF6-A65D-521A-3C03-439882C752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4B7444-D860-31C8-D2E4-4CDE4F2B73C2}"/>
              </a:ext>
            </a:extLst>
          </p:cNvPr>
          <p:cNvSpPr>
            <a:spLocks noGrp="1"/>
          </p:cNvSpPr>
          <p:nvPr>
            <p:ph type="dt" sz="half" idx="10"/>
          </p:nvPr>
        </p:nvSpPr>
        <p:spPr/>
        <p:txBody>
          <a:bodyPr/>
          <a:lstStyle/>
          <a:p>
            <a:fld id="{73701E76-5902-4E79-BD07-A74935D0AD6A}" type="datetimeFigureOut">
              <a:rPr lang="en-US" smtClean="0"/>
              <a:t>6/8/2026</a:t>
            </a:fld>
            <a:endParaRPr lang="en-US" dirty="0"/>
          </a:p>
        </p:txBody>
      </p:sp>
      <p:sp>
        <p:nvSpPr>
          <p:cNvPr id="5" name="Footer Placeholder 4">
            <a:extLst>
              <a:ext uri="{FF2B5EF4-FFF2-40B4-BE49-F238E27FC236}">
                <a16:creationId xmlns:a16="http://schemas.microsoft.com/office/drawing/2014/main" id="{B5E26008-F8B2-9A85-EE80-4722A8B8529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F2B2D3-996D-5353-A7B5-9C7D303182FB}"/>
              </a:ext>
            </a:extLst>
          </p:cNvPr>
          <p:cNvSpPr>
            <a:spLocks noGrp="1"/>
          </p:cNvSpPr>
          <p:nvPr>
            <p:ph type="sldNum" sz="quarter" idx="12"/>
          </p:nvPr>
        </p:nvSpPr>
        <p:spPr/>
        <p:txBody>
          <a:bodyPr/>
          <a:lstStyle/>
          <a:p>
            <a:fld id="{386AF0C2-A652-4EFD-B774-3F03CF804A78}" type="slidenum">
              <a:rPr lang="en-US" smtClean="0"/>
              <a:t>‹#›</a:t>
            </a:fld>
            <a:endParaRPr lang="en-US" dirty="0"/>
          </a:p>
        </p:txBody>
      </p:sp>
    </p:spTree>
    <p:extLst>
      <p:ext uri="{BB962C8B-B14F-4D97-AF65-F5344CB8AC3E}">
        <p14:creationId xmlns:p14="http://schemas.microsoft.com/office/powerpoint/2010/main" val="4222127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F8E81-EB50-4974-1DB9-9462C90C0548}"/>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B4170D60-8095-A0C7-9EB5-13CBCA384168}"/>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519D5D-5FF5-AE9D-B095-EA372AFA717C}"/>
              </a:ext>
            </a:extLst>
          </p:cNvPr>
          <p:cNvSpPr>
            <a:spLocks noGrp="1"/>
          </p:cNvSpPr>
          <p:nvPr>
            <p:ph type="dt" sz="half" idx="10"/>
          </p:nvPr>
        </p:nvSpPr>
        <p:spPr/>
        <p:txBody>
          <a:bodyPr/>
          <a:lstStyle/>
          <a:p>
            <a:fld id="{73701E76-5902-4E79-BD07-A74935D0AD6A}" type="datetimeFigureOut">
              <a:rPr lang="en-US" smtClean="0"/>
              <a:t>6/8/2026</a:t>
            </a:fld>
            <a:endParaRPr lang="en-US" dirty="0"/>
          </a:p>
        </p:txBody>
      </p:sp>
      <p:sp>
        <p:nvSpPr>
          <p:cNvPr id="5" name="Footer Placeholder 4">
            <a:extLst>
              <a:ext uri="{FF2B5EF4-FFF2-40B4-BE49-F238E27FC236}">
                <a16:creationId xmlns:a16="http://schemas.microsoft.com/office/drawing/2014/main" id="{562918FF-79B6-E72B-B2F6-0F89D695149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00D19C5-9A9F-3C97-BC58-1B172C8E52B9}"/>
              </a:ext>
            </a:extLst>
          </p:cNvPr>
          <p:cNvSpPr>
            <a:spLocks noGrp="1"/>
          </p:cNvSpPr>
          <p:nvPr>
            <p:ph type="sldNum" sz="quarter" idx="12"/>
          </p:nvPr>
        </p:nvSpPr>
        <p:spPr/>
        <p:txBody>
          <a:bodyPr/>
          <a:lstStyle/>
          <a:p>
            <a:fld id="{386AF0C2-A652-4EFD-B774-3F03CF804A78}" type="slidenum">
              <a:rPr lang="en-US" smtClean="0"/>
              <a:t>‹#›</a:t>
            </a:fld>
            <a:endParaRPr lang="en-US" dirty="0"/>
          </a:p>
        </p:txBody>
      </p:sp>
    </p:spTree>
    <p:extLst>
      <p:ext uri="{BB962C8B-B14F-4D97-AF65-F5344CB8AC3E}">
        <p14:creationId xmlns:p14="http://schemas.microsoft.com/office/powerpoint/2010/main" val="3235698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a:lum/>
            <a:extLst>
              <a:ext uri="{96DAC541-7B7A-43D3-8B79-37D633B846F1}">
                <asvg:svgBlip xmlns:asvg="http://schemas.microsoft.com/office/drawing/2016/SVG/main" r:embed="rId14"/>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8C2D0-C2F3-9C0F-BCBA-5B71B4DBF4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89A732-8E91-CD4B-C8F3-75B6B3957C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7A0121-34A0-ABBE-2306-5B6A6309A0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701E76-5902-4E79-BD07-A74935D0AD6A}" type="datetimeFigureOut">
              <a:rPr lang="en-US" smtClean="0"/>
              <a:t>6/8/2026</a:t>
            </a:fld>
            <a:endParaRPr lang="en-US" dirty="0"/>
          </a:p>
        </p:txBody>
      </p:sp>
      <p:sp>
        <p:nvSpPr>
          <p:cNvPr id="5" name="Footer Placeholder 4">
            <a:extLst>
              <a:ext uri="{FF2B5EF4-FFF2-40B4-BE49-F238E27FC236}">
                <a16:creationId xmlns:a16="http://schemas.microsoft.com/office/drawing/2014/main" id="{47DBEC93-FA19-959F-620C-29AFC27E56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365AD928-B4EB-B49C-6C92-F32AFEF367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6AF0C2-A652-4EFD-B774-3F03CF804A78}" type="slidenum">
              <a:rPr lang="en-US" smtClean="0"/>
              <a:t>‹#›</a:t>
            </a:fld>
            <a:endParaRPr lang="en-US" dirty="0"/>
          </a:p>
        </p:txBody>
      </p:sp>
    </p:spTree>
    <p:extLst>
      <p:ext uri="{BB962C8B-B14F-4D97-AF65-F5344CB8AC3E}">
        <p14:creationId xmlns:p14="http://schemas.microsoft.com/office/powerpoint/2010/main" val="12309065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image" Target="../media/image7.png"/><Relationship Id="rId4" Type="http://schemas.openxmlformats.org/officeDocument/2006/relationships/customXml" Target="../ink/ink1.xml"/><Relationship Id="rId9" Type="http://schemas.openxmlformats.org/officeDocument/2006/relationships/customXml" Target="../ink/ink3.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customXml" Target="../ink/ink4.xml"/><Relationship Id="rId11" Type="http://schemas.openxmlformats.org/officeDocument/2006/relationships/image" Target="../media/image30.png"/><Relationship Id="rId5" Type="http://schemas.openxmlformats.org/officeDocument/2006/relationships/image" Target="../media/image27.png"/><Relationship Id="rId10" Type="http://schemas.openxmlformats.org/officeDocument/2006/relationships/customXml" Target="../ink/ink6.xml"/><Relationship Id="rId4" Type="http://schemas.openxmlformats.org/officeDocument/2006/relationships/image" Target="../media/image26.png"/><Relationship Id="rId9"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hyperlink" Target="https://doi.org/10.3390/electronics11111775" TargetMode="External"/><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9.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2D6BDB-4448-88D2-5D5D-9B66365D39D5}"/>
              </a:ext>
            </a:extLst>
          </p:cNvPr>
          <p:cNvPicPr>
            <a:picLocks noChangeAspect="1"/>
          </p:cNvPicPr>
          <p:nvPr/>
        </p:nvPicPr>
        <p:blipFill>
          <a:blip r:embed="rId2">
            <a:duotone>
              <a:prstClr val="black"/>
              <a:srgbClr val="D9C3A5">
                <a:tint val="50000"/>
                <a:satMod val="180000"/>
              </a:srgbClr>
            </a:duotone>
          </a:blip>
          <a:stretch>
            <a:fillRect/>
          </a:stretch>
        </p:blipFill>
        <p:spPr>
          <a:xfrm>
            <a:off x="5697333" y="0"/>
            <a:ext cx="6494667" cy="1903506"/>
          </a:xfrm>
          <a:prstGeom prst="rect">
            <a:avLst/>
          </a:prstGeom>
          <a:ln>
            <a:solidFill>
              <a:schemeClr val="bg2">
                <a:lumMod val="10000"/>
              </a:schemeClr>
            </a:solidFill>
          </a:ln>
        </p:spPr>
      </p:pic>
      <p:pic>
        <p:nvPicPr>
          <p:cNvPr id="12" name="Picture 11">
            <a:extLst>
              <a:ext uri="{FF2B5EF4-FFF2-40B4-BE49-F238E27FC236}">
                <a16:creationId xmlns:a16="http://schemas.microsoft.com/office/drawing/2014/main" id="{AF7DDD04-1514-30B7-A865-4491CA2FACB0}"/>
              </a:ext>
            </a:extLst>
          </p:cNvPr>
          <p:cNvPicPr>
            <a:picLocks noChangeAspect="1"/>
          </p:cNvPicPr>
          <p:nvPr/>
        </p:nvPicPr>
        <p:blipFill>
          <a:blip r:embed="rId3">
            <a:duotone>
              <a:prstClr val="black"/>
              <a:schemeClr val="accent5">
                <a:tint val="45000"/>
                <a:satMod val="400000"/>
              </a:schemeClr>
            </a:duotone>
          </a:blip>
          <a:stretch>
            <a:fillRect/>
          </a:stretch>
        </p:blipFill>
        <p:spPr>
          <a:xfrm>
            <a:off x="0" y="1502853"/>
            <a:ext cx="6494667" cy="2045889"/>
          </a:xfrm>
          <a:prstGeom prst="rect">
            <a:avLst/>
          </a:prstGeom>
        </p:spPr>
      </p:pic>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0F6BC905-3310-725D-BA7B-E3F98DF74DF7}"/>
                  </a:ext>
                </a:extLst>
              </p14:cNvPr>
              <p14:cNvContentPartPr/>
              <p14:nvPr/>
            </p14:nvContentPartPr>
            <p14:xfrm>
              <a:off x="6096217" y="1031628"/>
              <a:ext cx="2329920" cy="20520"/>
            </p14:xfrm>
          </p:contentPart>
        </mc:Choice>
        <mc:Fallback xmlns="">
          <p:pic>
            <p:nvPicPr>
              <p:cNvPr id="13" name="Ink 12">
                <a:extLst>
                  <a:ext uri="{FF2B5EF4-FFF2-40B4-BE49-F238E27FC236}">
                    <a16:creationId xmlns:a16="http://schemas.microsoft.com/office/drawing/2014/main" id="{0F6BC905-3310-725D-BA7B-E3F98DF74DF7}"/>
                  </a:ext>
                </a:extLst>
              </p:cNvPr>
              <p:cNvPicPr/>
              <p:nvPr/>
            </p:nvPicPr>
            <p:blipFill>
              <a:blip r:embed="rId5"/>
              <a:stretch>
                <a:fillRect/>
              </a:stretch>
            </p:blipFill>
            <p:spPr>
              <a:xfrm>
                <a:off x="6042577" y="923628"/>
                <a:ext cx="243756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6A051741-BE2E-E8EE-9FC8-24087A20B966}"/>
                  </a:ext>
                </a:extLst>
              </p14:cNvPr>
              <p14:cNvContentPartPr/>
              <p14:nvPr/>
            </p14:nvContentPartPr>
            <p14:xfrm>
              <a:off x="304537" y="2143308"/>
              <a:ext cx="1435680" cy="360"/>
            </p14:xfrm>
          </p:contentPart>
        </mc:Choice>
        <mc:Fallback xmlns="">
          <p:pic>
            <p:nvPicPr>
              <p:cNvPr id="16" name="Ink 15">
                <a:extLst>
                  <a:ext uri="{FF2B5EF4-FFF2-40B4-BE49-F238E27FC236}">
                    <a16:creationId xmlns:a16="http://schemas.microsoft.com/office/drawing/2014/main" id="{6A051741-BE2E-E8EE-9FC8-24087A20B966}"/>
                  </a:ext>
                </a:extLst>
              </p:cNvPr>
              <p:cNvPicPr/>
              <p:nvPr/>
            </p:nvPicPr>
            <p:blipFill>
              <a:blip r:embed="rId7"/>
              <a:stretch>
                <a:fillRect/>
              </a:stretch>
            </p:blipFill>
            <p:spPr>
              <a:xfrm>
                <a:off x="250897" y="2035668"/>
                <a:ext cx="1543320" cy="216000"/>
              </a:xfrm>
              <a:prstGeom prst="rect">
                <a:avLst/>
              </a:prstGeom>
            </p:spPr>
          </p:pic>
        </mc:Fallback>
      </mc:AlternateContent>
      <p:pic>
        <p:nvPicPr>
          <p:cNvPr id="20" name="Picture 19">
            <a:extLst>
              <a:ext uri="{FF2B5EF4-FFF2-40B4-BE49-F238E27FC236}">
                <a16:creationId xmlns:a16="http://schemas.microsoft.com/office/drawing/2014/main" id="{0C726DCE-F940-67B2-5AC7-5966153DC4AE}"/>
              </a:ext>
            </a:extLst>
          </p:cNvPr>
          <p:cNvPicPr>
            <a:picLocks noChangeAspect="1"/>
          </p:cNvPicPr>
          <p:nvPr/>
        </p:nvPicPr>
        <p:blipFill>
          <a:blip r:embed="rId8"/>
          <a:stretch>
            <a:fillRect/>
          </a:stretch>
        </p:blipFill>
        <p:spPr>
          <a:xfrm>
            <a:off x="5479540" y="3025869"/>
            <a:ext cx="6930251" cy="1570857"/>
          </a:xfrm>
          <a:prstGeom prst="rect">
            <a:avLst/>
          </a:prstGeom>
        </p:spPr>
      </p:pic>
      <mc:AlternateContent xmlns:mc="http://schemas.openxmlformats.org/markup-compatibility/2006" xmlns:p14="http://schemas.microsoft.com/office/powerpoint/2010/main">
        <mc:Choice Requires="p14">
          <p:contentPart p14:bwMode="auto" r:id="rId9">
            <p14:nvContentPartPr>
              <p14:cNvPr id="22" name="Ink 21">
                <a:extLst>
                  <a:ext uri="{FF2B5EF4-FFF2-40B4-BE49-F238E27FC236}">
                    <a16:creationId xmlns:a16="http://schemas.microsoft.com/office/drawing/2014/main" id="{545A5BC9-D5BF-6DA5-D848-5A77269B4D25}"/>
                  </a:ext>
                </a:extLst>
              </p14:cNvPr>
              <p14:cNvContentPartPr/>
              <p14:nvPr/>
            </p14:nvContentPartPr>
            <p14:xfrm>
              <a:off x="5909377" y="3597348"/>
              <a:ext cx="1810440" cy="188640"/>
            </p14:xfrm>
          </p:contentPart>
        </mc:Choice>
        <mc:Fallback xmlns="">
          <p:pic>
            <p:nvPicPr>
              <p:cNvPr id="22" name="Ink 21">
                <a:extLst>
                  <a:ext uri="{FF2B5EF4-FFF2-40B4-BE49-F238E27FC236}">
                    <a16:creationId xmlns:a16="http://schemas.microsoft.com/office/drawing/2014/main" id="{545A5BC9-D5BF-6DA5-D848-5A77269B4D25}"/>
                  </a:ext>
                </a:extLst>
              </p:cNvPr>
              <p:cNvPicPr/>
              <p:nvPr/>
            </p:nvPicPr>
            <p:blipFill>
              <a:blip r:embed="rId10"/>
              <a:stretch>
                <a:fillRect/>
              </a:stretch>
            </p:blipFill>
            <p:spPr>
              <a:xfrm>
                <a:off x="5819377" y="3417708"/>
                <a:ext cx="1990080" cy="548280"/>
              </a:xfrm>
              <a:prstGeom prst="rect">
                <a:avLst/>
              </a:prstGeom>
            </p:spPr>
          </p:pic>
        </mc:Fallback>
      </mc:AlternateContent>
      <p:pic>
        <p:nvPicPr>
          <p:cNvPr id="26" name="Picture 25">
            <a:extLst>
              <a:ext uri="{FF2B5EF4-FFF2-40B4-BE49-F238E27FC236}">
                <a16:creationId xmlns:a16="http://schemas.microsoft.com/office/drawing/2014/main" id="{1740DEAA-A6F9-3674-95A7-2E989A854CB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48837" y="3597348"/>
            <a:ext cx="3984549" cy="2826774"/>
          </a:xfrm>
          <a:prstGeom prst="rect">
            <a:avLst/>
          </a:prstGeom>
        </p:spPr>
      </p:pic>
      <p:sp>
        <p:nvSpPr>
          <p:cNvPr id="28" name="TextBox 27">
            <a:extLst>
              <a:ext uri="{FF2B5EF4-FFF2-40B4-BE49-F238E27FC236}">
                <a16:creationId xmlns:a16="http://schemas.microsoft.com/office/drawing/2014/main" id="{113450AC-76C4-8BC6-951C-55B9DB53D01C}"/>
              </a:ext>
            </a:extLst>
          </p:cNvPr>
          <p:cNvSpPr txBox="1"/>
          <p:nvPr/>
        </p:nvSpPr>
        <p:spPr>
          <a:xfrm>
            <a:off x="482982" y="167406"/>
            <a:ext cx="5528702" cy="1323439"/>
          </a:xfrm>
          <a:prstGeom prst="rect">
            <a:avLst/>
          </a:prstGeom>
          <a:noFill/>
        </p:spPr>
        <p:txBody>
          <a:bodyPr wrap="square" rtlCol="0">
            <a:spAutoFit/>
          </a:bodyPr>
          <a:lstStyle/>
          <a:p>
            <a:r>
              <a:rPr lang="en-US" sz="4000" b="1" i="1" dirty="0">
                <a:solidFill>
                  <a:schemeClr val="accent4">
                    <a:lumMod val="20000"/>
                    <a:lumOff val="80000"/>
                  </a:schemeClr>
                </a:solidFill>
              </a:rPr>
              <a:t>Artificial Intelligence &amp; Medicine  </a:t>
            </a:r>
          </a:p>
        </p:txBody>
      </p:sp>
    </p:spTree>
    <p:extLst>
      <p:ext uri="{BB962C8B-B14F-4D97-AF65-F5344CB8AC3E}">
        <p14:creationId xmlns:p14="http://schemas.microsoft.com/office/powerpoint/2010/main" val="1268710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CDFF20-25F1-35BA-9316-7144C75380B5}"/>
              </a:ext>
            </a:extLst>
          </p:cNvPr>
          <p:cNvPicPr>
            <a:picLocks noChangeAspect="1"/>
          </p:cNvPicPr>
          <p:nvPr/>
        </p:nvPicPr>
        <p:blipFill>
          <a:blip r:embed="rId2"/>
          <a:stretch>
            <a:fillRect/>
          </a:stretch>
        </p:blipFill>
        <p:spPr>
          <a:xfrm>
            <a:off x="938628" y="2237774"/>
            <a:ext cx="6734175" cy="3381375"/>
          </a:xfrm>
          <a:prstGeom prst="rect">
            <a:avLst/>
          </a:prstGeom>
        </p:spPr>
      </p:pic>
      <p:sp>
        <p:nvSpPr>
          <p:cNvPr id="3" name="TextBox 2">
            <a:extLst>
              <a:ext uri="{FF2B5EF4-FFF2-40B4-BE49-F238E27FC236}">
                <a16:creationId xmlns:a16="http://schemas.microsoft.com/office/drawing/2014/main" id="{B9D7DEB6-33C1-6543-29E5-1F657A8E97F3}"/>
              </a:ext>
            </a:extLst>
          </p:cNvPr>
          <p:cNvSpPr txBox="1"/>
          <p:nvPr/>
        </p:nvSpPr>
        <p:spPr>
          <a:xfrm>
            <a:off x="698384" y="293507"/>
            <a:ext cx="8168780" cy="1359125"/>
          </a:xfrm>
          <a:prstGeom prst="rect">
            <a:avLst/>
          </a:prstGeom>
          <a:noFill/>
        </p:spPr>
        <p:txBody>
          <a:bodyPr wrap="square">
            <a:spAutoFit/>
          </a:bodyPr>
          <a:lstStyle/>
          <a:p>
            <a:r>
              <a:rPr lang="en-US" sz="4000" dirty="0">
                <a:solidFill>
                  <a:schemeClr val="accent1">
                    <a:lumMod val="40000"/>
                    <a:lumOff val="60000"/>
                  </a:schemeClr>
                </a:solidFill>
              </a:rPr>
              <a:t>How would you teach a computer to tell a cat from a dog?</a:t>
            </a:r>
          </a:p>
        </p:txBody>
      </p:sp>
      <p:pic>
        <p:nvPicPr>
          <p:cNvPr id="4" name="Picture 3">
            <a:extLst>
              <a:ext uri="{FF2B5EF4-FFF2-40B4-BE49-F238E27FC236}">
                <a16:creationId xmlns:a16="http://schemas.microsoft.com/office/drawing/2014/main" id="{20366976-F389-2925-B445-6F6A715FDFDA}"/>
              </a:ext>
            </a:extLst>
          </p:cNvPr>
          <p:cNvPicPr>
            <a:picLocks noChangeAspect="1"/>
          </p:cNvPicPr>
          <p:nvPr/>
        </p:nvPicPr>
        <p:blipFill>
          <a:blip r:embed="rId3"/>
          <a:stretch>
            <a:fillRect/>
          </a:stretch>
        </p:blipFill>
        <p:spPr>
          <a:xfrm>
            <a:off x="8418745" y="2096068"/>
            <a:ext cx="2619375" cy="1743075"/>
          </a:xfrm>
          <a:prstGeom prst="rect">
            <a:avLst/>
          </a:prstGeom>
        </p:spPr>
      </p:pic>
      <p:sp>
        <p:nvSpPr>
          <p:cNvPr id="6" name="TextBox 5">
            <a:extLst>
              <a:ext uri="{FF2B5EF4-FFF2-40B4-BE49-F238E27FC236}">
                <a16:creationId xmlns:a16="http://schemas.microsoft.com/office/drawing/2014/main" id="{11D8872C-6ED5-E140-F0AA-0F3317C15E1E}"/>
              </a:ext>
            </a:extLst>
          </p:cNvPr>
          <p:cNvSpPr txBox="1"/>
          <p:nvPr/>
        </p:nvSpPr>
        <p:spPr>
          <a:xfrm>
            <a:off x="8534400" y="1612740"/>
            <a:ext cx="1968680" cy="523220"/>
          </a:xfrm>
          <a:prstGeom prst="rect">
            <a:avLst/>
          </a:prstGeom>
          <a:noFill/>
        </p:spPr>
        <p:txBody>
          <a:bodyPr wrap="none" rtlCol="0">
            <a:spAutoFit/>
          </a:bodyPr>
          <a:lstStyle/>
          <a:p>
            <a:r>
              <a:rPr lang="en-US" sz="2800" dirty="0">
                <a:solidFill>
                  <a:schemeClr val="accent4">
                    <a:lumMod val="20000"/>
                    <a:lumOff val="80000"/>
                  </a:schemeClr>
                </a:solidFill>
              </a:rPr>
              <a:t>Dog or Cat ?</a:t>
            </a:r>
          </a:p>
        </p:txBody>
      </p:sp>
    </p:spTree>
    <p:extLst>
      <p:ext uri="{BB962C8B-B14F-4D97-AF65-F5344CB8AC3E}">
        <p14:creationId xmlns:p14="http://schemas.microsoft.com/office/powerpoint/2010/main" val="2897018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D16EA-E5DC-665F-4879-825F5E997E84}"/>
              </a:ext>
            </a:extLst>
          </p:cNvPr>
          <p:cNvSpPr>
            <a:spLocks noGrp="1"/>
          </p:cNvSpPr>
          <p:nvPr>
            <p:ph type="title"/>
          </p:nvPr>
        </p:nvSpPr>
        <p:spPr/>
        <p:txBody>
          <a:bodyPr>
            <a:normAutofit fontScale="90000"/>
          </a:bodyPr>
          <a:lstStyle/>
          <a:p>
            <a:r>
              <a:rPr lang="en-US" b="1" dirty="0">
                <a:solidFill>
                  <a:schemeClr val="accent4">
                    <a:lumMod val="20000"/>
                    <a:lumOff val="80000"/>
                  </a:schemeClr>
                </a:solidFill>
              </a:rPr>
              <a:t>What is AI, Machine Learning, and Deep Learning?</a:t>
            </a:r>
            <a:br>
              <a:rPr lang="en-US" b="1" dirty="0"/>
            </a:br>
            <a:endParaRPr lang="en-US" dirty="0"/>
          </a:p>
        </p:txBody>
      </p:sp>
      <p:sp>
        <p:nvSpPr>
          <p:cNvPr id="3" name="Content Placeholder 2">
            <a:extLst>
              <a:ext uri="{FF2B5EF4-FFF2-40B4-BE49-F238E27FC236}">
                <a16:creationId xmlns:a16="http://schemas.microsoft.com/office/drawing/2014/main" id="{21797AE0-8E69-4B37-8482-074CE5189D1D}"/>
              </a:ext>
            </a:extLst>
          </p:cNvPr>
          <p:cNvSpPr>
            <a:spLocks noGrp="1"/>
          </p:cNvSpPr>
          <p:nvPr>
            <p:ph idx="1"/>
          </p:nvPr>
        </p:nvSpPr>
        <p:spPr/>
        <p:txBody>
          <a:bodyPr/>
          <a:lstStyle/>
          <a:p>
            <a:r>
              <a:rPr lang="en-US" dirty="0">
                <a:solidFill>
                  <a:schemeClr val="accent4">
                    <a:lumMod val="20000"/>
                    <a:lumOff val="80000"/>
                  </a:schemeClr>
                </a:solidFill>
              </a:rPr>
              <a:t>Artificial intelligence is the broad concept of machines performing tasks that normally require human intelligence. </a:t>
            </a:r>
          </a:p>
          <a:p>
            <a:r>
              <a:rPr lang="en-US" dirty="0">
                <a:solidFill>
                  <a:schemeClr val="accent4">
                    <a:lumMod val="20000"/>
                    <a:lumOff val="80000"/>
                  </a:schemeClr>
                </a:solidFill>
              </a:rPr>
              <a:t>Machine learning is a part of AI in which models learn from data instead of following only fixed rules. </a:t>
            </a:r>
          </a:p>
          <a:p>
            <a:r>
              <a:rPr lang="en-US" dirty="0">
                <a:solidFill>
                  <a:schemeClr val="accent4">
                    <a:lumMod val="20000"/>
                    <a:lumOff val="80000"/>
                  </a:schemeClr>
                </a:solidFill>
              </a:rPr>
              <a:t>Deep learning is a more advanced branch of machine learning that uses multi-layer neural networks and is especially powerful for complex data such as medical images and signals.</a:t>
            </a:r>
          </a:p>
        </p:txBody>
      </p:sp>
    </p:spTree>
    <p:extLst>
      <p:ext uri="{BB962C8B-B14F-4D97-AF65-F5344CB8AC3E}">
        <p14:creationId xmlns:p14="http://schemas.microsoft.com/office/powerpoint/2010/main" val="618652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DF45D-F191-9163-9618-B6CA4F83844E}"/>
              </a:ext>
            </a:extLst>
          </p:cNvPr>
          <p:cNvSpPr>
            <a:spLocks noGrp="1"/>
          </p:cNvSpPr>
          <p:nvPr>
            <p:ph type="title"/>
          </p:nvPr>
        </p:nvSpPr>
        <p:spPr/>
        <p:txBody>
          <a:bodyPr/>
          <a:lstStyle/>
          <a:p>
            <a:r>
              <a:rPr lang="en-US" b="1" dirty="0">
                <a:solidFill>
                  <a:schemeClr val="accent4">
                    <a:lumMod val="20000"/>
                    <a:lumOff val="80000"/>
                  </a:schemeClr>
                </a:solidFill>
              </a:rPr>
              <a:t>4 Types of Machine Learning:</a:t>
            </a:r>
            <a:br>
              <a:rPr lang="en-US" b="1" dirty="0">
                <a:solidFill>
                  <a:schemeClr val="accent4">
                    <a:lumMod val="20000"/>
                    <a:lumOff val="80000"/>
                  </a:schemeClr>
                </a:solidFill>
              </a:rPr>
            </a:br>
            <a:endParaRPr lang="en-US" dirty="0">
              <a:solidFill>
                <a:schemeClr val="accent4">
                  <a:lumMod val="20000"/>
                  <a:lumOff val="80000"/>
                </a:schemeClr>
              </a:solidFill>
            </a:endParaRPr>
          </a:p>
        </p:txBody>
      </p:sp>
      <p:sp>
        <p:nvSpPr>
          <p:cNvPr id="4" name="Rectangle 3">
            <a:extLst>
              <a:ext uri="{FF2B5EF4-FFF2-40B4-BE49-F238E27FC236}">
                <a16:creationId xmlns:a16="http://schemas.microsoft.com/office/drawing/2014/main" id="{71A13390-EC12-53E0-52A8-4B6634CA6325}"/>
              </a:ext>
            </a:extLst>
          </p:cNvPr>
          <p:cNvSpPr/>
          <p:nvPr/>
        </p:nvSpPr>
        <p:spPr>
          <a:xfrm>
            <a:off x="838200" y="1349247"/>
            <a:ext cx="2546554" cy="14330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Supervised learning</a:t>
            </a:r>
            <a:endParaRPr lang="en-US" dirty="0"/>
          </a:p>
        </p:txBody>
      </p:sp>
      <p:sp>
        <p:nvSpPr>
          <p:cNvPr id="16" name="Rectangle 15">
            <a:extLst>
              <a:ext uri="{FF2B5EF4-FFF2-40B4-BE49-F238E27FC236}">
                <a16:creationId xmlns:a16="http://schemas.microsoft.com/office/drawing/2014/main" id="{8AAC8C8A-8068-556C-46CF-F87916B94ED3}"/>
              </a:ext>
            </a:extLst>
          </p:cNvPr>
          <p:cNvSpPr/>
          <p:nvPr/>
        </p:nvSpPr>
        <p:spPr>
          <a:xfrm>
            <a:off x="838200" y="3429000"/>
            <a:ext cx="2546554" cy="13273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Unsupervised learning</a:t>
            </a:r>
            <a:endParaRPr lang="en-US" dirty="0"/>
          </a:p>
        </p:txBody>
      </p:sp>
      <p:sp>
        <p:nvSpPr>
          <p:cNvPr id="18" name="Rectangle 17">
            <a:extLst>
              <a:ext uri="{FF2B5EF4-FFF2-40B4-BE49-F238E27FC236}">
                <a16:creationId xmlns:a16="http://schemas.microsoft.com/office/drawing/2014/main" id="{E2C7F79A-BAEA-12F2-2EC5-CA44BBF0D2E7}"/>
              </a:ext>
            </a:extLst>
          </p:cNvPr>
          <p:cNvSpPr/>
          <p:nvPr/>
        </p:nvSpPr>
        <p:spPr>
          <a:xfrm>
            <a:off x="3384754" y="2389124"/>
            <a:ext cx="2458065" cy="14330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Semi-supervised learning</a:t>
            </a:r>
          </a:p>
        </p:txBody>
      </p:sp>
      <p:sp>
        <p:nvSpPr>
          <p:cNvPr id="19" name="Rectangle 18">
            <a:extLst>
              <a:ext uri="{FF2B5EF4-FFF2-40B4-BE49-F238E27FC236}">
                <a16:creationId xmlns:a16="http://schemas.microsoft.com/office/drawing/2014/main" id="{752370C9-B070-5239-6AAE-F13B93824E5D}"/>
              </a:ext>
            </a:extLst>
          </p:cNvPr>
          <p:cNvSpPr/>
          <p:nvPr/>
        </p:nvSpPr>
        <p:spPr>
          <a:xfrm>
            <a:off x="3384753" y="4468877"/>
            <a:ext cx="2458065" cy="13273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Reinforcement learning</a:t>
            </a:r>
          </a:p>
        </p:txBody>
      </p:sp>
    </p:spTree>
    <p:extLst>
      <p:ext uri="{BB962C8B-B14F-4D97-AF65-F5344CB8AC3E}">
        <p14:creationId xmlns:p14="http://schemas.microsoft.com/office/powerpoint/2010/main" val="786724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BCBB0D-696C-3267-0A36-ED71380AEEB9}"/>
              </a:ext>
            </a:extLst>
          </p:cNvPr>
          <p:cNvSpPr txBox="1"/>
          <p:nvPr/>
        </p:nvSpPr>
        <p:spPr>
          <a:xfrm>
            <a:off x="530943" y="108154"/>
            <a:ext cx="4001728" cy="584775"/>
          </a:xfrm>
          <a:prstGeom prst="rect">
            <a:avLst/>
          </a:prstGeom>
          <a:noFill/>
        </p:spPr>
        <p:txBody>
          <a:bodyPr wrap="square" rtlCol="0">
            <a:spAutoFit/>
          </a:bodyPr>
          <a:lstStyle/>
          <a:p>
            <a:r>
              <a:rPr lang="en-US" sz="3200" b="1" i="1" dirty="0">
                <a:solidFill>
                  <a:schemeClr val="accent4">
                    <a:lumMod val="20000"/>
                    <a:lumOff val="80000"/>
                  </a:schemeClr>
                </a:solidFill>
              </a:rPr>
              <a:t>Supervised Learning:</a:t>
            </a:r>
          </a:p>
        </p:txBody>
      </p:sp>
      <p:sp>
        <p:nvSpPr>
          <p:cNvPr id="5" name="Oval 4">
            <a:extLst>
              <a:ext uri="{FF2B5EF4-FFF2-40B4-BE49-F238E27FC236}">
                <a16:creationId xmlns:a16="http://schemas.microsoft.com/office/drawing/2014/main" id="{347C6934-826B-74EF-20E6-4326AED5F04A}"/>
              </a:ext>
            </a:extLst>
          </p:cNvPr>
          <p:cNvSpPr/>
          <p:nvPr/>
        </p:nvSpPr>
        <p:spPr>
          <a:xfrm>
            <a:off x="5255341" y="3298723"/>
            <a:ext cx="1981201" cy="108892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Classification</a:t>
            </a:r>
          </a:p>
        </p:txBody>
      </p:sp>
      <p:sp>
        <p:nvSpPr>
          <p:cNvPr id="6" name="Oval 5">
            <a:extLst>
              <a:ext uri="{FF2B5EF4-FFF2-40B4-BE49-F238E27FC236}">
                <a16:creationId xmlns:a16="http://schemas.microsoft.com/office/drawing/2014/main" id="{51F9F9AE-99CD-5697-94D4-0E057E878008}"/>
              </a:ext>
            </a:extLst>
          </p:cNvPr>
          <p:cNvSpPr/>
          <p:nvPr/>
        </p:nvSpPr>
        <p:spPr>
          <a:xfrm>
            <a:off x="340444" y="3352799"/>
            <a:ext cx="1865672" cy="108892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Regression</a:t>
            </a:r>
          </a:p>
        </p:txBody>
      </p:sp>
      <p:sp>
        <p:nvSpPr>
          <p:cNvPr id="7" name="Rectangle: Rounded Corners 6">
            <a:extLst>
              <a:ext uri="{FF2B5EF4-FFF2-40B4-BE49-F238E27FC236}">
                <a16:creationId xmlns:a16="http://schemas.microsoft.com/office/drawing/2014/main" id="{4F27B224-45C9-B648-EABF-CC3C21C0732B}"/>
              </a:ext>
            </a:extLst>
          </p:cNvPr>
          <p:cNvSpPr/>
          <p:nvPr/>
        </p:nvSpPr>
        <p:spPr>
          <a:xfrm>
            <a:off x="2948449" y="3392680"/>
            <a:ext cx="1627239" cy="10091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Simple Linear Regression</a:t>
            </a:r>
          </a:p>
        </p:txBody>
      </p:sp>
      <p:sp>
        <p:nvSpPr>
          <p:cNvPr id="9" name="Rectangle: Rounded Corners 8">
            <a:extLst>
              <a:ext uri="{FF2B5EF4-FFF2-40B4-BE49-F238E27FC236}">
                <a16:creationId xmlns:a16="http://schemas.microsoft.com/office/drawing/2014/main" id="{8567807E-C688-8F98-3565-99A71B233C78}"/>
              </a:ext>
            </a:extLst>
          </p:cNvPr>
          <p:cNvSpPr/>
          <p:nvPr/>
        </p:nvSpPr>
        <p:spPr>
          <a:xfrm>
            <a:off x="2058631" y="4639594"/>
            <a:ext cx="1627238" cy="9832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Polynomial Regression</a:t>
            </a:r>
          </a:p>
        </p:txBody>
      </p:sp>
      <p:sp>
        <p:nvSpPr>
          <p:cNvPr id="11" name="Rectangle: Rounded Corners 10">
            <a:extLst>
              <a:ext uri="{FF2B5EF4-FFF2-40B4-BE49-F238E27FC236}">
                <a16:creationId xmlns:a16="http://schemas.microsoft.com/office/drawing/2014/main" id="{8F453ADA-F1A6-DB04-EC43-CFDA2DFCE59D}"/>
              </a:ext>
            </a:extLst>
          </p:cNvPr>
          <p:cNvSpPr/>
          <p:nvPr/>
        </p:nvSpPr>
        <p:spPr>
          <a:xfrm>
            <a:off x="7951840" y="3953798"/>
            <a:ext cx="1563329" cy="8676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Logistic Regression</a:t>
            </a:r>
          </a:p>
        </p:txBody>
      </p:sp>
      <p:sp>
        <p:nvSpPr>
          <p:cNvPr id="12" name="Rectangle: Rounded Corners 11">
            <a:extLst>
              <a:ext uri="{FF2B5EF4-FFF2-40B4-BE49-F238E27FC236}">
                <a16:creationId xmlns:a16="http://schemas.microsoft.com/office/drawing/2014/main" id="{DCD8CE9B-0BC9-746F-08D5-FAAED2C216A6}"/>
              </a:ext>
            </a:extLst>
          </p:cNvPr>
          <p:cNvSpPr/>
          <p:nvPr/>
        </p:nvSpPr>
        <p:spPr>
          <a:xfrm>
            <a:off x="6194323" y="4918588"/>
            <a:ext cx="1563329" cy="9832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SVM</a:t>
            </a:r>
          </a:p>
        </p:txBody>
      </p:sp>
      <p:sp>
        <p:nvSpPr>
          <p:cNvPr id="13" name="Rectangle: Rounded Corners 12">
            <a:extLst>
              <a:ext uri="{FF2B5EF4-FFF2-40B4-BE49-F238E27FC236}">
                <a16:creationId xmlns:a16="http://schemas.microsoft.com/office/drawing/2014/main" id="{7853B969-850B-7E30-82F5-E9224195A906}"/>
              </a:ext>
            </a:extLst>
          </p:cNvPr>
          <p:cNvSpPr/>
          <p:nvPr/>
        </p:nvSpPr>
        <p:spPr>
          <a:xfrm>
            <a:off x="2058630" y="2077680"/>
            <a:ext cx="1627239" cy="10434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Multiple Linear Regression</a:t>
            </a:r>
          </a:p>
        </p:txBody>
      </p:sp>
      <p:cxnSp>
        <p:nvCxnSpPr>
          <p:cNvPr id="15" name="Straight Connector 14">
            <a:extLst>
              <a:ext uri="{FF2B5EF4-FFF2-40B4-BE49-F238E27FC236}">
                <a16:creationId xmlns:a16="http://schemas.microsoft.com/office/drawing/2014/main" id="{E0EAE3C6-744E-BDDB-6516-646C869A4BE2}"/>
              </a:ext>
            </a:extLst>
          </p:cNvPr>
          <p:cNvCxnSpPr>
            <a:stCxn id="6" idx="7"/>
          </p:cNvCxnSpPr>
          <p:nvPr/>
        </p:nvCxnSpPr>
        <p:spPr>
          <a:xfrm flipV="1">
            <a:off x="1932895" y="3121128"/>
            <a:ext cx="273221" cy="39114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DBDD7CF-928F-FA6C-3C2C-FC4B332FFE77}"/>
              </a:ext>
            </a:extLst>
          </p:cNvPr>
          <p:cNvCxnSpPr>
            <a:cxnSpLocks/>
            <a:stCxn id="6" idx="6"/>
            <a:endCxn id="7" idx="1"/>
          </p:cNvCxnSpPr>
          <p:nvPr/>
        </p:nvCxnSpPr>
        <p:spPr>
          <a:xfrm flipV="1">
            <a:off x="2206116" y="3897260"/>
            <a:ext cx="742333"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0043BF8-BAF3-9F8D-6E99-4571CD3F6210}"/>
              </a:ext>
            </a:extLst>
          </p:cNvPr>
          <p:cNvCxnSpPr>
            <a:stCxn id="6" idx="5"/>
          </p:cNvCxnSpPr>
          <p:nvPr/>
        </p:nvCxnSpPr>
        <p:spPr>
          <a:xfrm>
            <a:off x="1932895" y="4282253"/>
            <a:ext cx="273221" cy="357341"/>
          </a:xfrm>
          <a:prstGeom prst="line">
            <a:avLst/>
          </a:prstGeom>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1D9972DC-2F6F-DDC5-23EE-00925FA1D0F8}"/>
              </a:ext>
            </a:extLst>
          </p:cNvPr>
          <p:cNvSpPr/>
          <p:nvPr/>
        </p:nvSpPr>
        <p:spPr>
          <a:xfrm>
            <a:off x="7951840" y="2802656"/>
            <a:ext cx="1563329" cy="8676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Decision Tree</a:t>
            </a:r>
          </a:p>
        </p:txBody>
      </p:sp>
      <p:sp>
        <p:nvSpPr>
          <p:cNvPr id="23" name="Rectangle: Rounded Corners 22">
            <a:extLst>
              <a:ext uri="{FF2B5EF4-FFF2-40B4-BE49-F238E27FC236}">
                <a16:creationId xmlns:a16="http://schemas.microsoft.com/office/drawing/2014/main" id="{06EB4A3B-C5FF-E1EB-E8AE-F798F7FBFD94}"/>
              </a:ext>
            </a:extLst>
          </p:cNvPr>
          <p:cNvSpPr/>
          <p:nvPr/>
        </p:nvSpPr>
        <p:spPr>
          <a:xfrm>
            <a:off x="6388511" y="1731708"/>
            <a:ext cx="1563329" cy="8676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KNN</a:t>
            </a:r>
          </a:p>
        </p:txBody>
      </p:sp>
      <p:cxnSp>
        <p:nvCxnSpPr>
          <p:cNvPr id="31" name="Straight Connector 30">
            <a:extLst>
              <a:ext uri="{FF2B5EF4-FFF2-40B4-BE49-F238E27FC236}">
                <a16:creationId xmlns:a16="http://schemas.microsoft.com/office/drawing/2014/main" id="{6C01B2F1-0A8C-3654-D210-4CFC5957E433}"/>
              </a:ext>
            </a:extLst>
          </p:cNvPr>
          <p:cNvCxnSpPr>
            <a:stCxn id="5" idx="0"/>
            <a:endCxn id="23" idx="2"/>
          </p:cNvCxnSpPr>
          <p:nvPr/>
        </p:nvCxnSpPr>
        <p:spPr>
          <a:xfrm flipV="1">
            <a:off x="6245942" y="2599404"/>
            <a:ext cx="924234" cy="699319"/>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B4F0877-795C-996C-EE0D-DF686935B14F}"/>
              </a:ext>
            </a:extLst>
          </p:cNvPr>
          <p:cNvCxnSpPr>
            <a:stCxn id="5" idx="4"/>
            <a:endCxn id="12" idx="0"/>
          </p:cNvCxnSpPr>
          <p:nvPr/>
        </p:nvCxnSpPr>
        <p:spPr>
          <a:xfrm>
            <a:off x="6245942" y="4387646"/>
            <a:ext cx="730046" cy="530942"/>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2961637-97E4-23CD-0F67-1D4C84FE69CC}"/>
              </a:ext>
            </a:extLst>
          </p:cNvPr>
          <p:cNvCxnSpPr>
            <a:cxnSpLocks/>
            <a:stCxn id="5" idx="7"/>
            <a:endCxn id="22" idx="1"/>
          </p:cNvCxnSpPr>
          <p:nvPr/>
        </p:nvCxnSpPr>
        <p:spPr>
          <a:xfrm flipV="1">
            <a:off x="6946402" y="3236504"/>
            <a:ext cx="1005438" cy="2216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2340491-CD7F-92D6-6F47-235DAE987364}"/>
              </a:ext>
            </a:extLst>
          </p:cNvPr>
          <p:cNvCxnSpPr>
            <a:cxnSpLocks/>
            <a:stCxn id="5" idx="5"/>
            <a:endCxn id="11" idx="1"/>
          </p:cNvCxnSpPr>
          <p:nvPr/>
        </p:nvCxnSpPr>
        <p:spPr>
          <a:xfrm>
            <a:off x="6946402" y="4228177"/>
            <a:ext cx="1005438" cy="159469"/>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0431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1BFE5-3FE3-8C44-91D1-7D599232753A}"/>
              </a:ext>
            </a:extLst>
          </p:cNvPr>
          <p:cNvSpPr>
            <a:spLocks noGrp="1"/>
          </p:cNvSpPr>
          <p:nvPr>
            <p:ph type="title"/>
          </p:nvPr>
        </p:nvSpPr>
        <p:spPr/>
        <p:txBody>
          <a:bodyPr/>
          <a:lstStyle/>
          <a:p>
            <a:r>
              <a:rPr lang="en-US" b="1" dirty="0">
                <a:solidFill>
                  <a:schemeClr val="accent4">
                    <a:lumMod val="20000"/>
                    <a:lumOff val="80000"/>
                  </a:schemeClr>
                </a:solidFill>
              </a:rPr>
              <a:t>Common Steps in ML Usage</a:t>
            </a:r>
            <a:br>
              <a:rPr lang="en-US" b="1" dirty="0"/>
            </a:br>
            <a:endParaRPr lang="en-US" dirty="0"/>
          </a:p>
        </p:txBody>
      </p:sp>
      <p:sp>
        <p:nvSpPr>
          <p:cNvPr id="4" name="Rectangle: Rounded Corners 3">
            <a:extLst>
              <a:ext uri="{FF2B5EF4-FFF2-40B4-BE49-F238E27FC236}">
                <a16:creationId xmlns:a16="http://schemas.microsoft.com/office/drawing/2014/main" id="{723C8BF4-BEDD-563E-8066-CAA7EA660BA7}"/>
              </a:ext>
            </a:extLst>
          </p:cNvPr>
          <p:cNvSpPr/>
          <p:nvPr/>
        </p:nvSpPr>
        <p:spPr>
          <a:xfrm>
            <a:off x="44260" y="1056942"/>
            <a:ext cx="1288026" cy="7964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collection</a:t>
            </a:r>
            <a:endParaRPr lang="en-US" dirty="0"/>
          </a:p>
        </p:txBody>
      </p:sp>
      <p:sp>
        <p:nvSpPr>
          <p:cNvPr id="5" name="Rectangle: Rounded Corners 4">
            <a:extLst>
              <a:ext uri="{FF2B5EF4-FFF2-40B4-BE49-F238E27FC236}">
                <a16:creationId xmlns:a16="http://schemas.microsoft.com/office/drawing/2014/main" id="{942BB15B-7BAA-F72C-05D9-187DF837E593}"/>
              </a:ext>
            </a:extLst>
          </p:cNvPr>
          <p:cNvSpPr/>
          <p:nvPr/>
        </p:nvSpPr>
        <p:spPr>
          <a:xfrm>
            <a:off x="1489599" y="1385139"/>
            <a:ext cx="1524000" cy="796412"/>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engineering</a:t>
            </a:r>
            <a:endParaRPr lang="en-US" dirty="0"/>
          </a:p>
        </p:txBody>
      </p:sp>
      <p:sp>
        <p:nvSpPr>
          <p:cNvPr id="6" name="Rectangle: Rounded Corners 5">
            <a:extLst>
              <a:ext uri="{FF2B5EF4-FFF2-40B4-BE49-F238E27FC236}">
                <a16:creationId xmlns:a16="http://schemas.microsoft.com/office/drawing/2014/main" id="{D6A77D80-1CBB-4689-5611-63378A6A9448}"/>
              </a:ext>
            </a:extLst>
          </p:cNvPr>
          <p:cNvSpPr/>
          <p:nvPr/>
        </p:nvSpPr>
        <p:spPr>
          <a:xfrm>
            <a:off x="3116838" y="1772526"/>
            <a:ext cx="1622323" cy="796412"/>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Preprocessing</a:t>
            </a:r>
            <a:endParaRPr lang="en-US" dirty="0"/>
          </a:p>
        </p:txBody>
      </p:sp>
      <p:sp>
        <p:nvSpPr>
          <p:cNvPr id="7" name="Rectangle: Rounded Corners 6">
            <a:extLst>
              <a:ext uri="{FF2B5EF4-FFF2-40B4-BE49-F238E27FC236}">
                <a16:creationId xmlns:a16="http://schemas.microsoft.com/office/drawing/2014/main" id="{08D4E8A9-0977-9689-736D-63606B4C9A25}"/>
              </a:ext>
            </a:extLst>
          </p:cNvPr>
          <p:cNvSpPr/>
          <p:nvPr/>
        </p:nvSpPr>
        <p:spPr>
          <a:xfrm>
            <a:off x="8008382" y="3017471"/>
            <a:ext cx="1514168" cy="796412"/>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Model training</a:t>
            </a:r>
            <a:endParaRPr lang="en-US" dirty="0"/>
          </a:p>
        </p:txBody>
      </p:sp>
      <p:sp>
        <p:nvSpPr>
          <p:cNvPr id="8" name="Rectangle: Rounded Corners 7">
            <a:extLst>
              <a:ext uri="{FF2B5EF4-FFF2-40B4-BE49-F238E27FC236}">
                <a16:creationId xmlns:a16="http://schemas.microsoft.com/office/drawing/2014/main" id="{30A80AE9-EAEF-8022-EE98-D424B25BB784}"/>
              </a:ext>
            </a:extLst>
          </p:cNvPr>
          <p:cNvSpPr/>
          <p:nvPr/>
        </p:nvSpPr>
        <p:spPr>
          <a:xfrm>
            <a:off x="4842398" y="2221059"/>
            <a:ext cx="1445342" cy="796412"/>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Train / validation / test split</a:t>
            </a:r>
            <a:endParaRPr lang="en-US" dirty="0"/>
          </a:p>
        </p:txBody>
      </p:sp>
      <p:sp>
        <p:nvSpPr>
          <p:cNvPr id="9" name="Rectangle: Rounded Corners 8">
            <a:extLst>
              <a:ext uri="{FF2B5EF4-FFF2-40B4-BE49-F238E27FC236}">
                <a16:creationId xmlns:a16="http://schemas.microsoft.com/office/drawing/2014/main" id="{6765202A-15F3-6514-BB1A-1156BE943E3C}"/>
              </a:ext>
            </a:extLst>
          </p:cNvPr>
          <p:cNvSpPr/>
          <p:nvPr/>
        </p:nvSpPr>
        <p:spPr>
          <a:xfrm>
            <a:off x="9736407" y="3415677"/>
            <a:ext cx="1582995" cy="7865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Testing</a:t>
            </a:r>
            <a:endParaRPr lang="en-US" dirty="0"/>
          </a:p>
        </p:txBody>
      </p:sp>
      <p:sp>
        <p:nvSpPr>
          <p:cNvPr id="10" name="Rectangle: Rounded Corners 9">
            <a:extLst>
              <a:ext uri="{FF2B5EF4-FFF2-40B4-BE49-F238E27FC236}">
                <a16:creationId xmlns:a16="http://schemas.microsoft.com/office/drawing/2014/main" id="{E6ED2CCE-8A76-E796-ECC9-5500B5204500}"/>
              </a:ext>
            </a:extLst>
          </p:cNvPr>
          <p:cNvSpPr/>
          <p:nvPr/>
        </p:nvSpPr>
        <p:spPr>
          <a:xfrm>
            <a:off x="8046483" y="4202257"/>
            <a:ext cx="1582995" cy="7964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Evaluation</a:t>
            </a:r>
          </a:p>
        </p:txBody>
      </p:sp>
      <p:sp>
        <p:nvSpPr>
          <p:cNvPr id="11" name="Rectangle: Rounded Corners 10">
            <a:extLst>
              <a:ext uri="{FF2B5EF4-FFF2-40B4-BE49-F238E27FC236}">
                <a16:creationId xmlns:a16="http://schemas.microsoft.com/office/drawing/2014/main" id="{DDBDF76A-294F-660C-EBAD-B135B333AD32}"/>
              </a:ext>
            </a:extLst>
          </p:cNvPr>
          <p:cNvSpPr/>
          <p:nvPr/>
        </p:nvSpPr>
        <p:spPr>
          <a:xfrm>
            <a:off x="6459803" y="4752356"/>
            <a:ext cx="1445342" cy="7964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Deployment</a:t>
            </a:r>
          </a:p>
        </p:txBody>
      </p:sp>
      <p:sp>
        <p:nvSpPr>
          <p:cNvPr id="12" name="Rectangle: Rounded Corners 11">
            <a:extLst>
              <a:ext uri="{FF2B5EF4-FFF2-40B4-BE49-F238E27FC236}">
                <a16:creationId xmlns:a16="http://schemas.microsoft.com/office/drawing/2014/main" id="{1A9906FE-00AB-3667-E27D-D2F66C0CC111}"/>
              </a:ext>
            </a:extLst>
          </p:cNvPr>
          <p:cNvSpPr/>
          <p:nvPr/>
        </p:nvSpPr>
        <p:spPr>
          <a:xfrm>
            <a:off x="4557263" y="5194714"/>
            <a:ext cx="1730477" cy="9291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Monitoring and improvement</a:t>
            </a:r>
          </a:p>
        </p:txBody>
      </p:sp>
      <p:sp>
        <p:nvSpPr>
          <p:cNvPr id="15" name="Rectangle: Rounded Corners 14">
            <a:extLst>
              <a:ext uri="{FF2B5EF4-FFF2-40B4-BE49-F238E27FC236}">
                <a16:creationId xmlns:a16="http://schemas.microsoft.com/office/drawing/2014/main" id="{4D587BD2-3089-2881-921C-774CCEAE57CE}"/>
              </a:ext>
            </a:extLst>
          </p:cNvPr>
          <p:cNvSpPr/>
          <p:nvPr/>
        </p:nvSpPr>
        <p:spPr>
          <a:xfrm>
            <a:off x="6390977" y="2644577"/>
            <a:ext cx="1514168" cy="796412"/>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Validation and tuning</a:t>
            </a:r>
          </a:p>
        </p:txBody>
      </p:sp>
      <p:sp>
        <p:nvSpPr>
          <p:cNvPr id="24" name="TextBox 23">
            <a:extLst>
              <a:ext uri="{FF2B5EF4-FFF2-40B4-BE49-F238E27FC236}">
                <a16:creationId xmlns:a16="http://schemas.microsoft.com/office/drawing/2014/main" id="{9875B4B6-4106-0828-73C1-B2012204A3EB}"/>
              </a:ext>
            </a:extLst>
          </p:cNvPr>
          <p:cNvSpPr txBox="1"/>
          <p:nvPr/>
        </p:nvSpPr>
        <p:spPr>
          <a:xfrm>
            <a:off x="2279858" y="3238897"/>
            <a:ext cx="4179945" cy="769441"/>
          </a:xfrm>
          <a:prstGeom prst="rect">
            <a:avLst/>
          </a:prstGeom>
          <a:noFill/>
        </p:spPr>
        <p:txBody>
          <a:bodyPr wrap="square" rtlCol="0">
            <a:spAutoFit/>
          </a:bodyPr>
          <a:lstStyle/>
          <a:p>
            <a:r>
              <a:rPr lang="en-US" sz="2400" b="1" dirty="0">
                <a:solidFill>
                  <a:schemeClr val="accent5">
                    <a:lumMod val="20000"/>
                    <a:lumOff val="80000"/>
                  </a:schemeClr>
                </a:solidFill>
              </a:rPr>
              <a:t>Deep learning </a:t>
            </a:r>
            <a:r>
              <a:rPr lang="en-US" sz="2000" dirty="0">
                <a:solidFill>
                  <a:schemeClr val="accent5">
                    <a:lumMod val="20000"/>
                    <a:lumOff val="80000"/>
                  </a:schemeClr>
                </a:solidFill>
              </a:rPr>
              <a:t>doesn't require human interference </a:t>
            </a:r>
          </a:p>
        </p:txBody>
      </p:sp>
      <p:cxnSp>
        <p:nvCxnSpPr>
          <p:cNvPr id="26" name="Straight Arrow Connector 25">
            <a:extLst>
              <a:ext uri="{FF2B5EF4-FFF2-40B4-BE49-F238E27FC236}">
                <a16:creationId xmlns:a16="http://schemas.microsoft.com/office/drawing/2014/main" id="{0FD3B1DC-FB51-DD4F-019D-F6EE32A15A3D}"/>
              </a:ext>
            </a:extLst>
          </p:cNvPr>
          <p:cNvCxnSpPr/>
          <p:nvPr/>
        </p:nvCxnSpPr>
        <p:spPr>
          <a:xfrm>
            <a:off x="403123" y="1853354"/>
            <a:ext cx="0" cy="765911"/>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7" name="TextBox 26">
            <a:extLst>
              <a:ext uri="{FF2B5EF4-FFF2-40B4-BE49-F238E27FC236}">
                <a16:creationId xmlns:a16="http://schemas.microsoft.com/office/drawing/2014/main" id="{E137BE57-431E-2264-4387-6A2E5EC68E79}"/>
              </a:ext>
            </a:extLst>
          </p:cNvPr>
          <p:cNvSpPr txBox="1"/>
          <p:nvPr/>
        </p:nvSpPr>
        <p:spPr>
          <a:xfrm>
            <a:off x="44260" y="2619265"/>
            <a:ext cx="1847253" cy="646331"/>
          </a:xfrm>
          <a:prstGeom prst="rect">
            <a:avLst/>
          </a:prstGeom>
          <a:noFill/>
        </p:spPr>
        <p:txBody>
          <a:bodyPr wrap="square" rtlCol="0">
            <a:spAutoFit/>
          </a:bodyPr>
          <a:lstStyle/>
          <a:p>
            <a:r>
              <a:rPr lang="en-US" dirty="0">
                <a:solidFill>
                  <a:schemeClr val="accent6">
                    <a:lumMod val="40000"/>
                    <a:lumOff val="60000"/>
                  </a:schemeClr>
                </a:solidFill>
              </a:rPr>
              <a:t>Semi-supervised learning</a:t>
            </a:r>
          </a:p>
        </p:txBody>
      </p:sp>
      <p:cxnSp>
        <p:nvCxnSpPr>
          <p:cNvPr id="29" name="Straight Arrow Connector 28">
            <a:extLst>
              <a:ext uri="{FF2B5EF4-FFF2-40B4-BE49-F238E27FC236}">
                <a16:creationId xmlns:a16="http://schemas.microsoft.com/office/drawing/2014/main" id="{789E04DD-6961-5EC6-BEF3-2B9C6109A181}"/>
              </a:ext>
            </a:extLst>
          </p:cNvPr>
          <p:cNvCxnSpPr/>
          <p:nvPr/>
        </p:nvCxnSpPr>
        <p:spPr>
          <a:xfrm flipV="1">
            <a:off x="6287740" y="2054942"/>
            <a:ext cx="860321" cy="255639"/>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1" name="Straight Arrow Connector 30">
            <a:extLst>
              <a:ext uri="{FF2B5EF4-FFF2-40B4-BE49-F238E27FC236}">
                <a16:creationId xmlns:a16="http://schemas.microsoft.com/office/drawing/2014/main" id="{34540691-5599-8C32-3CD7-E574118E9E6E}"/>
              </a:ext>
            </a:extLst>
          </p:cNvPr>
          <p:cNvCxnSpPr/>
          <p:nvPr/>
        </p:nvCxnSpPr>
        <p:spPr>
          <a:xfrm>
            <a:off x="4739161" y="1853354"/>
            <a:ext cx="2212245"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3" name="Straight Arrow Connector 32">
            <a:extLst>
              <a:ext uri="{FF2B5EF4-FFF2-40B4-BE49-F238E27FC236}">
                <a16:creationId xmlns:a16="http://schemas.microsoft.com/office/drawing/2014/main" id="{5BF77E47-14B9-DA61-8B87-F22128FB4407}"/>
              </a:ext>
            </a:extLst>
          </p:cNvPr>
          <p:cNvCxnSpPr>
            <a:stCxn id="15" idx="0"/>
          </p:cNvCxnSpPr>
          <p:nvPr/>
        </p:nvCxnSpPr>
        <p:spPr>
          <a:xfrm flipV="1">
            <a:off x="7148061" y="2170732"/>
            <a:ext cx="294958" cy="47384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5" name="Straight Arrow Connector 34">
            <a:extLst>
              <a:ext uri="{FF2B5EF4-FFF2-40B4-BE49-F238E27FC236}">
                <a16:creationId xmlns:a16="http://schemas.microsoft.com/office/drawing/2014/main" id="{1D59E309-5687-D7B6-2BD3-CCA48192113C}"/>
              </a:ext>
            </a:extLst>
          </p:cNvPr>
          <p:cNvCxnSpPr>
            <a:stCxn id="7" idx="0"/>
          </p:cNvCxnSpPr>
          <p:nvPr/>
        </p:nvCxnSpPr>
        <p:spPr>
          <a:xfrm flipH="1" flipV="1">
            <a:off x="8008382" y="2236309"/>
            <a:ext cx="757084" cy="781162"/>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36" name="TextBox 35">
            <a:extLst>
              <a:ext uri="{FF2B5EF4-FFF2-40B4-BE49-F238E27FC236}">
                <a16:creationId xmlns:a16="http://schemas.microsoft.com/office/drawing/2014/main" id="{97366BF4-1501-F3E5-085D-88D18BC183C1}"/>
              </a:ext>
            </a:extLst>
          </p:cNvPr>
          <p:cNvSpPr txBox="1"/>
          <p:nvPr/>
        </p:nvSpPr>
        <p:spPr>
          <a:xfrm>
            <a:off x="7194001" y="1758707"/>
            <a:ext cx="2385846" cy="369332"/>
          </a:xfrm>
          <a:prstGeom prst="rect">
            <a:avLst/>
          </a:prstGeom>
          <a:noFill/>
        </p:spPr>
        <p:txBody>
          <a:bodyPr wrap="none" rtlCol="0">
            <a:spAutoFit/>
          </a:bodyPr>
          <a:lstStyle/>
          <a:p>
            <a:r>
              <a:rPr lang="en-US" dirty="0">
                <a:solidFill>
                  <a:schemeClr val="accent6">
                    <a:lumMod val="40000"/>
                    <a:lumOff val="60000"/>
                  </a:schemeClr>
                </a:solidFill>
              </a:rPr>
              <a:t>Reinforcement learning</a:t>
            </a:r>
          </a:p>
        </p:txBody>
      </p:sp>
    </p:spTree>
    <p:extLst>
      <p:ext uri="{BB962C8B-B14F-4D97-AF65-F5344CB8AC3E}">
        <p14:creationId xmlns:p14="http://schemas.microsoft.com/office/powerpoint/2010/main" val="1963705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B84C929-EA24-96B0-9CA7-1A9126EAEB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9836" y="2319816"/>
            <a:ext cx="7638764" cy="2606470"/>
          </a:xfrm>
          <a:prstGeom prst="rect">
            <a:avLst/>
          </a:prstGeom>
        </p:spPr>
      </p:pic>
      <p:sp>
        <p:nvSpPr>
          <p:cNvPr id="8" name="TextBox 7">
            <a:extLst>
              <a:ext uri="{FF2B5EF4-FFF2-40B4-BE49-F238E27FC236}">
                <a16:creationId xmlns:a16="http://schemas.microsoft.com/office/drawing/2014/main" id="{36C69283-1FAA-B279-AC9D-B9765F5331E1}"/>
              </a:ext>
            </a:extLst>
          </p:cNvPr>
          <p:cNvSpPr txBox="1"/>
          <p:nvPr/>
        </p:nvSpPr>
        <p:spPr>
          <a:xfrm>
            <a:off x="6973527" y="157316"/>
            <a:ext cx="5218473" cy="2000548"/>
          </a:xfrm>
          <a:prstGeom prst="rect">
            <a:avLst/>
          </a:prstGeom>
          <a:noFill/>
        </p:spPr>
        <p:txBody>
          <a:bodyPr wrap="square" rtlCol="0">
            <a:spAutoFit/>
          </a:bodyPr>
          <a:lstStyle/>
          <a:p>
            <a:r>
              <a:rPr lang="en-US" sz="2800" b="1" dirty="0">
                <a:solidFill>
                  <a:schemeClr val="accent4">
                    <a:lumMod val="20000"/>
                    <a:lumOff val="80000"/>
                  </a:schemeClr>
                </a:solidFill>
              </a:rPr>
              <a:t>Overfitting</a:t>
            </a:r>
            <a:r>
              <a:rPr lang="en-US" sz="2400" dirty="0">
                <a:solidFill>
                  <a:schemeClr val="accent4">
                    <a:lumMod val="20000"/>
                    <a:lumOff val="80000"/>
                  </a:schemeClr>
                </a:solidFill>
              </a:rPr>
              <a:t> happens when a model learns the training data too closely, including noise and unimportant details, so it performs very well on training data but poorly on new unseen data.</a:t>
            </a:r>
            <a:endParaRPr lang="en-US" sz="2400" b="1" dirty="0">
              <a:solidFill>
                <a:schemeClr val="accent4">
                  <a:lumMod val="20000"/>
                  <a:lumOff val="80000"/>
                </a:schemeClr>
              </a:solidFill>
            </a:endParaRPr>
          </a:p>
        </p:txBody>
      </p:sp>
      <p:sp>
        <p:nvSpPr>
          <p:cNvPr id="9" name="TextBox 8">
            <a:extLst>
              <a:ext uri="{FF2B5EF4-FFF2-40B4-BE49-F238E27FC236}">
                <a16:creationId xmlns:a16="http://schemas.microsoft.com/office/drawing/2014/main" id="{794B70A5-E74F-0CDF-4B13-BB29ED6358DF}"/>
              </a:ext>
            </a:extLst>
          </p:cNvPr>
          <p:cNvSpPr txBox="1"/>
          <p:nvPr/>
        </p:nvSpPr>
        <p:spPr>
          <a:xfrm>
            <a:off x="533400" y="2157864"/>
            <a:ext cx="3283973" cy="2739211"/>
          </a:xfrm>
          <a:prstGeom prst="rect">
            <a:avLst/>
          </a:prstGeom>
          <a:noFill/>
        </p:spPr>
        <p:txBody>
          <a:bodyPr wrap="square" rtlCol="0">
            <a:spAutoFit/>
          </a:bodyPr>
          <a:lstStyle/>
          <a:p>
            <a:r>
              <a:rPr lang="en-US" sz="2800" b="1" dirty="0">
                <a:solidFill>
                  <a:schemeClr val="accent4">
                    <a:lumMod val="20000"/>
                    <a:lumOff val="80000"/>
                  </a:schemeClr>
                </a:solidFill>
              </a:rPr>
              <a:t>Underfitting</a:t>
            </a:r>
            <a:r>
              <a:rPr lang="en-US" sz="2400" dirty="0">
                <a:solidFill>
                  <a:schemeClr val="accent4">
                    <a:lumMod val="20000"/>
                    <a:lumOff val="80000"/>
                  </a:schemeClr>
                </a:solidFill>
              </a:rPr>
              <a:t> happens when a model is too simple to learn the real patterns in the data, so it performs poorly on both training data and test data.</a:t>
            </a:r>
          </a:p>
        </p:txBody>
      </p:sp>
    </p:spTree>
    <p:extLst>
      <p:ext uri="{BB962C8B-B14F-4D97-AF65-F5344CB8AC3E}">
        <p14:creationId xmlns:p14="http://schemas.microsoft.com/office/powerpoint/2010/main" val="2779348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D6780-2C3B-2A70-1C99-2C89F8EB83ED}"/>
              </a:ext>
            </a:extLst>
          </p:cNvPr>
          <p:cNvSpPr>
            <a:spLocks noGrp="1"/>
          </p:cNvSpPr>
          <p:nvPr>
            <p:ph type="title"/>
          </p:nvPr>
        </p:nvSpPr>
        <p:spPr/>
        <p:txBody>
          <a:bodyPr/>
          <a:lstStyle/>
          <a:p>
            <a:r>
              <a:rPr lang="en-US" b="1" i="1" dirty="0">
                <a:solidFill>
                  <a:schemeClr val="accent4">
                    <a:lumMod val="20000"/>
                    <a:lumOff val="80000"/>
                  </a:schemeClr>
                </a:solidFill>
              </a:rPr>
              <a:t>What Types of Medical Data Can AI Use?</a:t>
            </a:r>
            <a:br>
              <a:rPr lang="en-US" b="1" i="1" dirty="0">
                <a:solidFill>
                  <a:schemeClr val="accent4">
                    <a:lumMod val="20000"/>
                    <a:lumOff val="80000"/>
                  </a:schemeClr>
                </a:solidFill>
              </a:rPr>
            </a:br>
            <a:endParaRPr lang="en-US" i="1" dirty="0">
              <a:solidFill>
                <a:schemeClr val="accent4">
                  <a:lumMod val="20000"/>
                  <a:lumOff val="80000"/>
                </a:schemeClr>
              </a:solidFill>
            </a:endParaRPr>
          </a:p>
        </p:txBody>
      </p:sp>
      <p:sp>
        <p:nvSpPr>
          <p:cNvPr id="3" name="Content Placeholder 2">
            <a:extLst>
              <a:ext uri="{FF2B5EF4-FFF2-40B4-BE49-F238E27FC236}">
                <a16:creationId xmlns:a16="http://schemas.microsoft.com/office/drawing/2014/main" id="{F22A8B0A-B207-FEB1-37F7-D88B571266FD}"/>
              </a:ext>
            </a:extLst>
          </p:cNvPr>
          <p:cNvSpPr>
            <a:spLocks noGrp="1"/>
          </p:cNvSpPr>
          <p:nvPr>
            <p:ph idx="1"/>
          </p:nvPr>
        </p:nvSpPr>
        <p:spPr>
          <a:xfrm>
            <a:off x="1172497" y="1499138"/>
            <a:ext cx="10515600" cy="4351338"/>
          </a:xfrm>
        </p:spPr>
        <p:txBody>
          <a:bodyPr>
            <a:normAutofit/>
          </a:bodyPr>
          <a:lstStyle/>
          <a:p>
            <a:r>
              <a:rPr lang="en-US" sz="3200" dirty="0">
                <a:solidFill>
                  <a:schemeClr val="accent4">
                    <a:lumMod val="20000"/>
                    <a:lumOff val="80000"/>
                  </a:schemeClr>
                </a:solidFill>
              </a:rPr>
              <a:t>Patient records and history</a:t>
            </a:r>
          </a:p>
          <a:p>
            <a:r>
              <a:rPr lang="en-US" sz="3200" dirty="0">
                <a:solidFill>
                  <a:schemeClr val="accent4">
                    <a:lumMod val="20000"/>
                    <a:lumOff val="80000"/>
                  </a:schemeClr>
                </a:solidFill>
              </a:rPr>
              <a:t>Lab and diagnostic test results</a:t>
            </a:r>
          </a:p>
          <a:p>
            <a:r>
              <a:rPr lang="en-US" sz="3200" dirty="0">
                <a:solidFill>
                  <a:schemeClr val="accent4">
                    <a:lumMod val="20000"/>
                    <a:lumOff val="80000"/>
                  </a:schemeClr>
                </a:solidFill>
              </a:rPr>
              <a:t>Medical imaging</a:t>
            </a:r>
          </a:p>
          <a:p>
            <a:r>
              <a:rPr lang="en-US" sz="3200" dirty="0">
                <a:solidFill>
                  <a:schemeClr val="accent4">
                    <a:lumMod val="20000"/>
                    <a:lumOff val="80000"/>
                  </a:schemeClr>
                </a:solidFill>
              </a:rPr>
              <a:t>Clinical notes and reports</a:t>
            </a:r>
          </a:p>
          <a:p>
            <a:r>
              <a:rPr lang="en-US" sz="3200" dirty="0">
                <a:solidFill>
                  <a:schemeClr val="accent4">
                    <a:lumMod val="20000"/>
                    <a:lumOff val="80000"/>
                  </a:schemeClr>
                </a:solidFill>
              </a:rPr>
              <a:t>Vital signs and wearable data</a:t>
            </a:r>
          </a:p>
          <a:p>
            <a:r>
              <a:rPr lang="en-US" sz="3200" dirty="0">
                <a:solidFill>
                  <a:schemeClr val="accent4">
                    <a:lumMod val="20000"/>
                    <a:lumOff val="80000"/>
                  </a:schemeClr>
                </a:solidFill>
              </a:rPr>
              <a:t>Genetic information</a:t>
            </a:r>
          </a:p>
        </p:txBody>
      </p:sp>
      <p:sp>
        <p:nvSpPr>
          <p:cNvPr id="4" name="TextBox 3">
            <a:extLst>
              <a:ext uri="{FF2B5EF4-FFF2-40B4-BE49-F238E27FC236}">
                <a16:creationId xmlns:a16="http://schemas.microsoft.com/office/drawing/2014/main" id="{27F2EC9E-4732-247D-FE41-45B1276F0986}"/>
              </a:ext>
            </a:extLst>
          </p:cNvPr>
          <p:cNvSpPr txBox="1"/>
          <p:nvPr/>
        </p:nvSpPr>
        <p:spPr>
          <a:xfrm>
            <a:off x="1288026" y="5004919"/>
            <a:ext cx="7790545" cy="707886"/>
          </a:xfrm>
          <a:prstGeom prst="rect">
            <a:avLst/>
          </a:prstGeom>
          <a:noFill/>
        </p:spPr>
        <p:txBody>
          <a:bodyPr wrap="square" rtlCol="0">
            <a:spAutoFit/>
          </a:bodyPr>
          <a:lstStyle/>
          <a:p>
            <a:r>
              <a:rPr lang="en-US" sz="2000" dirty="0">
                <a:solidFill>
                  <a:schemeClr val="accent5">
                    <a:lumMod val="40000"/>
                    <a:lumOff val="60000"/>
                  </a:schemeClr>
                </a:solidFill>
              </a:rPr>
              <a:t>AI combines structured and unstructured medical data to detect patterns, support diagnosis, and improve treatment decisions.</a:t>
            </a:r>
          </a:p>
        </p:txBody>
      </p:sp>
    </p:spTree>
    <p:extLst>
      <p:ext uri="{BB962C8B-B14F-4D97-AF65-F5344CB8AC3E}">
        <p14:creationId xmlns:p14="http://schemas.microsoft.com/office/powerpoint/2010/main" val="3942020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10C0B6-8B13-9475-6B96-16F4ABD96A7F}"/>
              </a:ext>
            </a:extLst>
          </p:cNvPr>
          <p:cNvPicPr>
            <a:picLocks noChangeAspect="1"/>
          </p:cNvPicPr>
          <p:nvPr/>
        </p:nvPicPr>
        <p:blipFill>
          <a:blip r:embed="rId2"/>
          <a:stretch>
            <a:fillRect/>
          </a:stretch>
        </p:blipFill>
        <p:spPr>
          <a:xfrm>
            <a:off x="5203347" y="1"/>
            <a:ext cx="4540421" cy="3360022"/>
          </a:xfrm>
          <a:prstGeom prst="rect">
            <a:avLst/>
          </a:prstGeom>
        </p:spPr>
      </p:pic>
      <p:sp>
        <p:nvSpPr>
          <p:cNvPr id="6" name="TextBox 5">
            <a:extLst>
              <a:ext uri="{FF2B5EF4-FFF2-40B4-BE49-F238E27FC236}">
                <a16:creationId xmlns:a16="http://schemas.microsoft.com/office/drawing/2014/main" id="{CE26E4A9-693D-A32E-3354-1B6A048F0501}"/>
              </a:ext>
            </a:extLst>
          </p:cNvPr>
          <p:cNvSpPr txBox="1"/>
          <p:nvPr/>
        </p:nvSpPr>
        <p:spPr>
          <a:xfrm>
            <a:off x="776748" y="363793"/>
            <a:ext cx="3979983" cy="1384995"/>
          </a:xfrm>
          <a:prstGeom prst="rect">
            <a:avLst/>
          </a:prstGeom>
          <a:noFill/>
        </p:spPr>
        <p:txBody>
          <a:bodyPr wrap="square" rtlCol="0">
            <a:spAutoFit/>
          </a:bodyPr>
          <a:lstStyle/>
          <a:p>
            <a:r>
              <a:rPr lang="en-US" sz="2400" b="1" dirty="0">
                <a:solidFill>
                  <a:schemeClr val="accent4">
                    <a:lumMod val="20000"/>
                    <a:lumOff val="80000"/>
                  </a:schemeClr>
                </a:solidFill>
              </a:rPr>
              <a:t>Scalable Vector Graphics (SVG): v</a:t>
            </a:r>
            <a:r>
              <a:rPr lang="en-US" b="1" dirty="0">
                <a:solidFill>
                  <a:schemeClr val="accent4">
                    <a:lumMod val="20000"/>
                    <a:lumOff val="80000"/>
                  </a:schemeClr>
                </a:solidFill>
              </a:rPr>
              <a:t>ector files store images via </a:t>
            </a:r>
            <a:r>
              <a:rPr lang="en-US" b="1" dirty="0">
                <a:solidFill>
                  <a:schemeClr val="accent5">
                    <a:lumMod val="60000"/>
                    <a:lumOff val="40000"/>
                  </a:schemeClr>
                </a:solidFill>
              </a:rPr>
              <a:t>mathematical formulas </a:t>
            </a:r>
            <a:r>
              <a:rPr lang="en-US" b="1" dirty="0">
                <a:solidFill>
                  <a:schemeClr val="accent4">
                    <a:lumMod val="20000"/>
                    <a:lumOff val="80000"/>
                  </a:schemeClr>
                </a:solidFill>
              </a:rPr>
              <a:t>based on points and lines on a grid</a:t>
            </a:r>
          </a:p>
        </p:txBody>
      </p:sp>
      <p:sp>
        <p:nvSpPr>
          <p:cNvPr id="7" name="TextBox 6">
            <a:extLst>
              <a:ext uri="{FF2B5EF4-FFF2-40B4-BE49-F238E27FC236}">
                <a16:creationId xmlns:a16="http://schemas.microsoft.com/office/drawing/2014/main" id="{9ABC8840-A1A1-98EF-10B7-FFDF315C3F9A}"/>
              </a:ext>
            </a:extLst>
          </p:cNvPr>
          <p:cNvSpPr txBox="1"/>
          <p:nvPr/>
        </p:nvSpPr>
        <p:spPr>
          <a:xfrm>
            <a:off x="776748" y="4416715"/>
            <a:ext cx="4540421" cy="1384995"/>
          </a:xfrm>
          <a:prstGeom prst="rect">
            <a:avLst/>
          </a:prstGeom>
          <a:noFill/>
        </p:spPr>
        <p:txBody>
          <a:bodyPr wrap="square" rtlCol="0">
            <a:spAutoFit/>
          </a:bodyPr>
          <a:lstStyle/>
          <a:p>
            <a:r>
              <a:rPr lang="en-US" sz="2400" b="1" i="1" dirty="0">
                <a:solidFill>
                  <a:schemeClr val="accent4">
                    <a:lumMod val="20000"/>
                    <a:lumOff val="80000"/>
                  </a:schemeClr>
                </a:solidFill>
              </a:rPr>
              <a:t>Pixel based images(JPEG, PNG ,…): </a:t>
            </a:r>
            <a:r>
              <a:rPr lang="en-US" sz="2000" dirty="0">
                <a:solidFill>
                  <a:schemeClr val="accent4">
                    <a:lumMod val="20000"/>
                    <a:lumOff val="80000"/>
                  </a:schemeClr>
                </a:solidFill>
              </a:rPr>
              <a:t>Pixels arranged in a grid to form an image. Each pixel holds </a:t>
            </a:r>
            <a:r>
              <a:rPr lang="en-US" sz="2000" b="1" dirty="0">
                <a:solidFill>
                  <a:schemeClr val="accent5">
                    <a:lumMod val="60000"/>
                    <a:lumOff val="40000"/>
                  </a:schemeClr>
                </a:solidFill>
              </a:rPr>
              <a:t>color</a:t>
            </a:r>
            <a:r>
              <a:rPr lang="en-US" sz="2000" dirty="0">
                <a:solidFill>
                  <a:schemeClr val="accent4">
                    <a:lumMod val="20000"/>
                    <a:lumOff val="80000"/>
                  </a:schemeClr>
                </a:solidFill>
              </a:rPr>
              <a:t> and </a:t>
            </a:r>
            <a:r>
              <a:rPr lang="en-US" sz="2000" b="1" dirty="0">
                <a:solidFill>
                  <a:schemeClr val="accent5">
                    <a:lumMod val="60000"/>
                    <a:lumOff val="40000"/>
                  </a:schemeClr>
                </a:solidFill>
              </a:rPr>
              <a:t>position</a:t>
            </a:r>
            <a:r>
              <a:rPr lang="en-US" sz="2000" dirty="0">
                <a:solidFill>
                  <a:schemeClr val="accent4">
                    <a:lumMod val="20000"/>
                    <a:lumOff val="80000"/>
                  </a:schemeClr>
                </a:solidFill>
              </a:rPr>
              <a:t> information</a:t>
            </a:r>
          </a:p>
        </p:txBody>
      </p:sp>
      <p:pic>
        <p:nvPicPr>
          <p:cNvPr id="9" name="Picture 8">
            <a:extLst>
              <a:ext uri="{FF2B5EF4-FFF2-40B4-BE49-F238E27FC236}">
                <a16:creationId xmlns:a16="http://schemas.microsoft.com/office/drawing/2014/main" id="{744E4944-D31E-44FC-CA7B-9678B230CAEA}"/>
              </a:ext>
            </a:extLst>
          </p:cNvPr>
          <p:cNvPicPr>
            <a:picLocks noChangeAspect="1"/>
          </p:cNvPicPr>
          <p:nvPr/>
        </p:nvPicPr>
        <p:blipFill>
          <a:blip r:embed="rId3"/>
          <a:stretch>
            <a:fillRect/>
          </a:stretch>
        </p:blipFill>
        <p:spPr>
          <a:xfrm>
            <a:off x="5496232" y="3754387"/>
            <a:ext cx="6293874" cy="1639720"/>
          </a:xfrm>
          <a:prstGeom prst="rect">
            <a:avLst/>
          </a:prstGeom>
        </p:spPr>
      </p:pic>
      <p:pic>
        <p:nvPicPr>
          <p:cNvPr id="11" name="Picture 10">
            <a:extLst>
              <a:ext uri="{FF2B5EF4-FFF2-40B4-BE49-F238E27FC236}">
                <a16:creationId xmlns:a16="http://schemas.microsoft.com/office/drawing/2014/main" id="{3CECE3DF-CA00-319E-13FD-85D1F5EA8A11}"/>
              </a:ext>
            </a:extLst>
          </p:cNvPr>
          <p:cNvPicPr>
            <a:picLocks noChangeAspect="1"/>
          </p:cNvPicPr>
          <p:nvPr/>
        </p:nvPicPr>
        <p:blipFill>
          <a:blip r:embed="rId4"/>
          <a:stretch>
            <a:fillRect/>
          </a:stretch>
        </p:blipFill>
        <p:spPr>
          <a:xfrm>
            <a:off x="5496232" y="5394107"/>
            <a:ext cx="2409825" cy="638175"/>
          </a:xfrm>
          <a:prstGeom prst="rect">
            <a:avLst/>
          </a:prstGeom>
        </p:spPr>
      </p:pic>
    </p:spTree>
    <p:extLst>
      <p:ext uri="{BB962C8B-B14F-4D97-AF65-F5344CB8AC3E}">
        <p14:creationId xmlns:p14="http://schemas.microsoft.com/office/powerpoint/2010/main" val="1956088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B42DED4-CA74-3F9B-725C-6C5E449233FF}"/>
              </a:ext>
            </a:extLst>
          </p:cNvPr>
          <p:cNvSpPr txBox="1"/>
          <p:nvPr/>
        </p:nvSpPr>
        <p:spPr>
          <a:xfrm>
            <a:off x="731085" y="326891"/>
            <a:ext cx="4109883" cy="954107"/>
          </a:xfrm>
          <a:prstGeom prst="rect">
            <a:avLst/>
          </a:prstGeom>
          <a:noFill/>
        </p:spPr>
        <p:txBody>
          <a:bodyPr wrap="square" rtlCol="0">
            <a:spAutoFit/>
          </a:bodyPr>
          <a:lstStyle/>
          <a:p>
            <a:r>
              <a:rPr lang="en-US" sz="2800" dirty="0">
                <a:solidFill>
                  <a:schemeClr val="accent4">
                    <a:lumMod val="40000"/>
                    <a:lumOff val="60000"/>
                  </a:schemeClr>
                </a:solidFill>
              </a:rPr>
              <a:t>Computers see an image as a </a:t>
            </a:r>
            <a:r>
              <a:rPr lang="en-US" sz="2800" b="1" dirty="0">
                <a:solidFill>
                  <a:schemeClr val="accent4">
                    <a:lumMod val="40000"/>
                    <a:lumOff val="60000"/>
                  </a:schemeClr>
                </a:solidFill>
              </a:rPr>
              <a:t>grid of pixels</a:t>
            </a:r>
            <a:r>
              <a:rPr lang="en-US" sz="2800" dirty="0">
                <a:solidFill>
                  <a:schemeClr val="accent4">
                    <a:lumMod val="40000"/>
                    <a:lumOff val="60000"/>
                  </a:schemeClr>
                </a:solidFill>
              </a:rPr>
              <a:t>.</a:t>
            </a:r>
          </a:p>
        </p:txBody>
      </p:sp>
      <p:sp>
        <p:nvSpPr>
          <p:cNvPr id="7" name="TextBox 6">
            <a:extLst>
              <a:ext uri="{FF2B5EF4-FFF2-40B4-BE49-F238E27FC236}">
                <a16:creationId xmlns:a16="http://schemas.microsoft.com/office/drawing/2014/main" id="{5620694F-12C0-6A94-8E44-5782B594A9C3}"/>
              </a:ext>
            </a:extLst>
          </p:cNvPr>
          <p:cNvSpPr txBox="1"/>
          <p:nvPr/>
        </p:nvSpPr>
        <p:spPr>
          <a:xfrm>
            <a:off x="1032387" y="1303571"/>
            <a:ext cx="6392263" cy="1323439"/>
          </a:xfrm>
          <a:prstGeom prst="rect">
            <a:avLst/>
          </a:prstGeom>
          <a:noFill/>
        </p:spPr>
        <p:txBody>
          <a:bodyPr wrap="none" rtlCol="0">
            <a:spAutoFit/>
          </a:bodyPr>
          <a:lstStyle/>
          <a:p>
            <a:r>
              <a:rPr lang="en-US" sz="2000" dirty="0">
                <a:solidFill>
                  <a:schemeClr val="accent4">
                    <a:lumMod val="20000"/>
                    <a:lumOff val="80000"/>
                  </a:schemeClr>
                </a:solidFill>
              </a:rPr>
              <a:t>Each pixel has:</a:t>
            </a:r>
          </a:p>
          <a:p>
            <a:pPr marL="285750" indent="-285750">
              <a:buFont typeface="Arial" panose="020B0604020202020204" pitchFamily="34" charset="0"/>
              <a:buChar char="•"/>
            </a:pPr>
            <a:r>
              <a:rPr lang="en-US" sz="2000" dirty="0">
                <a:solidFill>
                  <a:schemeClr val="accent4">
                    <a:lumMod val="20000"/>
                    <a:lumOff val="80000"/>
                  </a:schemeClr>
                </a:solidFill>
              </a:rPr>
              <a:t>a </a:t>
            </a:r>
            <a:r>
              <a:rPr lang="en-US" sz="2000" b="1" dirty="0">
                <a:solidFill>
                  <a:schemeClr val="accent4">
                    <a:lumMod val="20000"/>
                    <a:lumOff val="80000"/>
                  </a:schemeClr>
                </a:solidFill>
              </a:rPr>
              <a:t>position</a:t>
            </a:r>
            <a:r>
              <a:rPr lang="en-US" sz="2000" dirty="0">
                <a:solidFill>
                  <a:schemeClr val="accent4">
                    <a:lumMod val="20000"/>
                    <a:lumOff val="80000"/>
                  </a:schemeClr>
                </a:solidFill>
              </a:rPr>
              <a:t> in the image, such as row and column</a:t>
            </a:r>
          </a:p>
          <a:p>
            <a:pPr marL="285750" indent="-285750">
              <a:buFont typeface="Arial" panose="020B0604020202020204" pitchFamily="34" charset="0"/>
              <a:buChar char="•"/>
            </a:pPr>
            <a:r>
              <a:rPr lang="en-US" sz="2000" b="1" dirty="0">
                <a:solidFill>
                  <a:schemeClr val="accent4">
                    <a:lumMod val="20000"/>
                    <a:lumOff val="80000"/>
                  </a:schemeClr>
                </a:solidFill>
              </a:rPr>
              <a:t>color values</a:t>
            </a:r>
          </a:p>
          <a:p>
            <a:pPr marL="285750" indent="-285750">
              <a:buFont typeface="Arial" panose="020B0604020202020204" pitchFamily="34" charset="0"/>
              <a:buChar char="•"/>
            </a:pPr>
            <a:r>
              <a:rPr lang="en-US" sz="2000" b="1" dirty="0">
                <a:solidFill>
                  <a:schemeClr val="accent4">
                    <a:lumMod val="20000"/>
                    <a:lumOff val="80000"/>
                  </a:schemeClr>
                </a:solidFill>
              </a:rPr>
              <a:t>(if colored) </a:t>
            </a:r>
            <a:r>
              <a:rPr lang="en-US" sz="2000" dirty="0">
                <a:solidFill>
                  <a:schemeClr val="accent4">
                    <a:lumMod val="20000"/>
                    <a:lumOff val="80000"/>
                  </a:schemeClr>
                </a:solidFill>
              </a:rPr>
              <a:t>usually </a:t>
            </a:r>
            <a:r>
              <a:rPr lang="en-US" sz="2000" b="1" dirty="0">
                <a:solidFill>
                  <a:schemeClr val="accent4">
                    <a:lumMod val="20000"/>
                    <a:lumOff val="80000"/>
                  </a:schemeClr>
                </a:solidFill>
              </a:rPr>
              <a:t>3 channels</a:t>
            </a:r>
            <a:r>
              <a:rPr lang="en-US" sz="2000" dirty="0">
                <a:solidFill>
                  <a:schemeClr val="accent4">
                    <a:lumMod val="20000"/>
                    <a:lumOff val="80000"/>
                  </a:schemeClr>
                </a:solidFill>
              </a:rPr>
              <a:t>: </a:t>
            </a:r>
            <a:r>
              <a:rPr lang="en-US" sz="2000" b="1" dirty="0">
                <a:solidFill>
                  <a:schemeClr val="accent4">
                    <a:lumMod val="20000"/>
                    <a:lumOff val="80000"/>
                  </a:schemeClr>
                </a:solidFill>
              </a:rPr>
              <a:t>R, G, B</a:t>
            </a:r>
            <a:r>
              <a:rPr lang="en-US" sz="2000" dirty="0">
                <a:solidFill>
                  <a:schemeClr val="accent4">
                    <a:lumMod val="20000"/>
                    <a:lumOff val="80000"/>
                  </a:schemeClr>
                </a:solidFill>
              </a:rPr>
              <a:t> (Red, Green, Blue)</a:t>
            </a:r>
          </a:p>
        </p:txBody>
      </p:sp>
      <p:sp>
        <p:nvSpPr>
          <p:cNvPr id="8" name="TextBox 7">
            <a:extLst>
              <a:ext uri="{FF2B5EF4-FFF2-40B4-BE49-F238E27FC236}">
                <a16:creationId xmlns:a16="http://schemas.microsoft.com/office/drawing/2014/main" id="{27C56498-7CD4-9A2F-F266-D724C5CA6C23}"/>
              </a:ext>
            </a:extLst>
          </p:cNvPr>
          <p:cNvSpPr txBox="1"/>
          <p:nvPr/>
        </p:nvSpPr>
        <p:spPr>
          <a:xfrm>
            <a:off x="1170135" y="2696885"/>
            <a:ext cx="3565913" cy="677108"/>
          </a:xfrm>
          <a:prstGeom prst="rect">
            <a:avLst/>
          </a:prstGeom>
          <a:noFill/>
        </p:spPr>
        <p:txBody>
          <a:bodyPr wrap="none" rtlCol="0">
            <a:spAutoFit/>
          </a:bodyPr>
          <a:lstStyle/>
          <a:p>
            <a:r>
              <a:rPr lang="en-US" sz="2000" dirty="0">
                <a:solidFill>
                  <a:schemeClr val="accent5">
                    <a:lumMod val="20000"/>
                    <a:lumOff val="80000"/>
                  </a:schemeClr>
                </a:solidFill>
              </a:rPr>
              <a:t>Pixel at (x=10, y=20) = [255, 0, 0]</a:t>
            </a:r>
          </a:p>
          <a:p>
            <a:endParaRPr lang="en-US" dirty="0"/>
          </a:p>
        </p:txBody>
      </p:sp>
      <p:sp>
        <p:nvSpPr>
          <p:cNvPr id="9" name="TextBox 8">
            <a:extLst>
              <a:ext uri="{FF2B5EF4-FFF2-40B4-BE49-F238E27FC236}">
                <a16:creationId xmlns:a16="http://schemas.microsoft.com/office/drawing/2014/main" id="{FDF7984C-3A62-0829-7D47-EC9CF57A9AF2}"/>
              </a:ext>
            </a:extLst>
          </p:cNvPr>
          <p:cNvSpPr txBox="1"/>
          <p:nvPr/>
        </p:nvSpPr>
        <p:spPr>
          <a:xfrm>
            <a:off x="3689354" y="3029717"/>
            <a:ext cx="849913" cy="461665"/>
          </a:xfrm>
          <a:prstGeom prst="rect">
            <a:avLst/>
          </a:prstGeom>
          <a:noFill/>
        </p:spPr>
        <p:txBody>
          <a:bodyPr wrap="none" rtlCol="0">
            <a:spAutoFit/>
          </a:bodyPr>
          <a:lstStyle/>
          <a:p>
            <a:r>
              <a:rPr lang="en-US" sz="2400" dirty="0">
                <a:solidFill>
                  <a:schemeClr val="accent5">
                    <a:lumMod val="20000"/>
                    <a:lumOff val="80000"/>
                  </a:schemeClr>
                </a:solidFill>
              </a:rPr>
              <a:t>R G B</a:t>
            </a:r>
            <a:endParaRPr lang="en-US" sz="1600" dirty="0">
              <a:solidFill>
                <a:schemeClr val="accent5">
                  <a:lumMod val="20000"/>
                  <a:lumOff val="80000"/>
                </a:schemeClr>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F49C543-1C89-BAB1-043C-A4EB998F386F}"/>
                  </a:ext>
                </a:extLst>
              </p:cNvPr>
              <p:cNvSpPr txBox="1"/>
              <p:nvPr/>
            </p:nvSpPr>
            <p:spPr>
              <a:xfrm>
                <a:off x="4228518" y="3874242"/>
                <a:ext cx="6243376" cy="2215991"/>
              </a:xfrm>
              <a:prstGeom prst="rect">
                <a:avLst/>
              </a:prstGeom>
              <a:noFill/>
            </p:spPr>
            <p:txBody>
              <a:bodyPr wrap="none" rtlCol="0">
                <a:spAutoFit/>
              </a:bodyPr>
              <a:lstStyle/>
              <a:p>
                <a:r>
                  <a:rPr lang="en-US" sz="2000" dirty="0">
                    <a:solidFill>
                      <a:schemeClr val="accent5">
                        <a:lumMod val="20000"/>
                        <a:lumOff val="80000"/>
                      </a:schemeClr>
                    </a:solidFill>
                  </a:rPr>
                  <a:t>A digital color image is represented as a </a:t>
                </a:r>
                <a:r>
                  <a:rPr lang="en-US" sz="2000" b="1" dirty="0">
                    <a:solidFill>
                      <a:schemeClr val="accent5">
                        <a:lumMod val="20000"/>
                        <a:lumOff val="80000"/>
                      </a:schemeClr>
                    </a:solidFill>
                  </a:rPr>
                  <a:t>3D array (tensor)</a:t>
                </a:r>
                <a:r>
                  <a:rPr lang="en-US" sz="2000" dirty="0">
                    <a:solidFill>
                      <a:schemeClr val="accent5">
                        <a:lumMod val="20000"/>
                        <a:lumOff val="80000"/>
                      </a:schemeClr>
                    </a:solidFill>
                  </a:rPr>
                  <a:t>:</a:t>
                </a:r>
              </a:p>
              <a:p>
                <a:pPr/>
                <a14:m>
                  <m:oMathPara xmlns:m="http://schemas.openxmlformats.org/officeDocument/2006/math">
                    <m:oMathParaPr>
                      <m:jc m:val="centerGroup"/>
                    </m:oMathParaPr>
                    <m:oMath xmlns:m="http://schemas.openxmlformats.org/officeDocument/2006/math">
                      <m:r>
                        <m:rPr>
                          <m:nor/>
                        </m:rPr>
                        <a:rPr lang="en-US" sz="2000" b="0">
                          <a:solidFill>
                            <a:schemeClr val="accent5">
                              <a:lumMod val="20000"/>
                              <a:lumOff val="80000"/>
                            </a:schemeClr>
                          </a:solidFill>
                        </a:rPr>
                        <m:t>Image</m:t>
                      </m:r>
                      <m:r>
                        <a:rPr lang="en-US" sz="2000">
                          <a:solidFill>
                            <a:schemeClr val="accent5">
                              <a:lumMod val="20000"/>
                              <a:lumOff val="80000"/>
                            </a:schemeClr>
                          </a:solidFill>
                          <a:latin typeface="Cambria Math" panose="02040503050406030204" pitchFamily="18" charset="0"/>
                        </a:rPr>
                        <m:t>∈</m:t>
                      </m:r>
                      <m:sSup>
                        <m:sSupPr>
                          <m:ctrlPr>
                            <a:rPr lang="fa-IR" sz="2000" i="1">
                              <a:solidFill>
                                <a:schemeClr val="accent5">
                                  <a:lumMod val="20000"/>
                                  <a:lumOff val="80000"/>
                                </a:schemeClr>
                              </a:solidFill>
                              <a:latin typeface="Cambria Math" panose="02040503050406030204" pitchFamily="18" charset="0"/>
                            </a:rPr>
                          </m:ctrlPr>
                        </m:sSupPr>
                        <m:e>
                          <m:r>
                            <a:rPr lang="fa-IR" sz="2000">
                              <a:solidFill>
                                <a:schemeClr val="accent5">
                                  <a:lumMod val="20000"/>
                                  <a:lumOff val="80000"/>
                                </a:schemeClr>
                              </a:solidFill>
                              <a:latin typeface="Cambria Math" panose="02040503050406030204" pitchFamily="18" charset="0"/>
                            </a:rPr>
                            <m:t>ℝ</m:t>
                          </m:r>
                        </m:e>
                        <m:sup>
                          <m:r>
                            <a:rPr lang="fa-IR" sz="2000" i="1">
                              <a:solidFill>
                                <a:schemeClr val="accent5">
                                  <a:lumMod val="20000"/>
                                  <a:lumOff val="80000"/>
                                </a:schemeClr>
                              </a:solidFill>
                              <a:latin typeface="Cambria Math" panose="02040503050406030204" pitchFamily="18" charset="0"/>
                            </a:rPr>
                            <m:t>𝐻</m:t>
                          </m:r>
                          <m:r>
                            <a:rPr lang="fa-IR" sz="2000">
                              <a:solidFill>
                                <a:schemeClr val="accent5">
                                  <a:lumMod val="20000"/>
                                  <a:lumOff val="80000"/>
                                </a:schemeClr>
                              </a:solidFill>
                              <a:latin typeface="Cambria Math" panose="02040503050406030204" pitchFamily="18" charset="0"/>
                            </a:rPr>
                            <m:t>×</m:t>
                          </m:r>
                          <m:r>
                            <a:rPr lang="fa-IR" sz="2000" i="1">
                              <a:solidFill>
                                <a:schemeClr val="accent5">
                                  <a:lumMod val="20000"/>
                                  <a:lumOff val="80000"/>
                                </a:schemeClr>
                              </a:solidFill>
                              <a:latin typeface="Cambria Math" panose="02040503050406030204" pitchFamily="18" charset="0"/>
                            </a:rPr>
                            <m:t>𝑊</m:t>
                          </m:r>
                          <m:r>
                            <a:rPr lang="fa-IR" sz="2000">
                              <a:solidFill>
                                <a:schemeClr val="accent5">
                                  <a:lumMod val="20000"/>
                                  <a:lumOff val="80000"/>
                                </a:schemeClr>
                              </a:solidFill>
                              <a:latin typeface="Cambria Math" panose="02040503050406030204" pitchFamily="18" charset="0"/>
                            </a:rPr>
                            <m:t>×</m:t>
                          </m:r>
                          <m:r>
                            <a:rPr lang="fa-IR" sz="2000">
                              <a:solidFill>
                                <a:schemeClr val="accent5">
                                  <a:lumMod val="20000"/>
                                  <a:lumOff val="80000"/>
                                </a:schemeClr>
                              </a:solidFill>
                              <a:latin typeface="Cambria Math" panose="02040503050406030204" pitchFamily="18" charset="0"/>
                            </a:rPr>
                            <m:t>3</m:t>
                          </m:r>
                        </m:sup>
                      </m:sSup>
                    </m:oMath>
                  </m:oMathPara>
                </a14:m>
                <a:endParaRPr lang="fa-IR" sz="2000" dirty="0">
                  <a:solidFill>
                    <a:schemeClr val="accent5">
                      <a:lumMod val="20000"/>
                      <a:lumOff val="80000"/>
                    </a:schemeClr>
                  </a:solidFill>
                </a:endParaRPr>
              </a:p>
              <a:p>
                <a:r>
                  <a:rPr lang="en-US" sz="2000" dirty="0">
                    <a:solidFill>
                      <a:schemeClr val="accent5">
                        <a:lumMod val="20000"/>
                        <a:lumOff val="80000"/>
                      </a:schemeClr>
                    </a:solidFill>
                  </a:rPr>
                  <a:t>Where:</a:t>
                </a:r>
              </a:p>
              <a:p>
                <a14:m>
                  <m:oMath xmlns:m="http://schemas.openxmlformats.org/officeDocument/2006/math">
                    <m:r>
                      <a:rPr lang="en-US" sz="2000" i="1">
                        <a:solidFill>
                          <a:schemeClr val="accent5">
                            <a:lumMod val="20000"/>
                            <a:lumOff val="80000"/>
                          </a:schemeClr>
                        </a:solidFill>
                        <a:latin typeface="Cambria Math" panose="02040503050406030204" pitchFamily="18" charset="0"/>
                      </a:rPr>
                      <m:t>𝐻</m:t>
                    </m:r>
                  </m:oMath>
                </a14:m>
                <a:r>
                  <a:rPr lang="en-US" sz="2000" dirty="0">
                    <a:solidFill>
                      <a:schemeClr val="accent5">
                        <a:lumMod val="20000"/>
                        <a:lumOff val="80000"/>
                      </a:schemeClr>
                    </a:solidFill>
                  </a:rPr>
                  <a:t>= height</a:t>
                </a:r>
              </a:p>
              <a:p>
                <a14:m>
                  <m:oMath xmlns:m="http://schemas.openxmlformats.org/officeDocument/2006/math">
                    <m:r>
                      <a:rPr lang="en-US" sz="2000" i="1">
                        <a:solidFill>
                          <a:schemeClr val="accent5">
                            <a:lumMod val="20000"/>
                            <a:lumOff val="80000"/>
                          </a:schemeClr>
                        </a:solidFill>
                        <a:latin typeface="Cambria Math" panose="02040503050406030204" pitchFamily="18" charset="0"/>
                      </a:rPr>
                      <m:t>𝑊</m:t>
                    </m:r>
                  </m:oMath>
                </a14:m>
                <a:r>
                  <a:rPr lang="en-US" sz="2000" dirty="0">
                    <a:solidFill>
                      <a:schemeClr val="accent5">
                        <a:lumMod val="20000"/>
                        <a:lumOff val="80000"/>
                      </a:schemeClr>
                    </a:solidFill>
                  </a:rPr>
                  <a:t>= width</a:t>
                </a:r>
              </a:p>
              <a:p>
                <a14:m>
                  <m:oMath xmlns:m="http://schemas.openxmlformats.org/officeDocument/2006/math">
                    <m:r>
                      <a:rPr lang="en-US" sz="2000">
                        <a:solidFill>
                          <a:schemeClr val="accent5">
                            <a:lumMod val="20000"/>
                            <a:lumOff val="80000"/>
                          </a:schemeClr>
                        </a:solidFill>
                        <a:latin typeface="Cambria Math" panose="02040503050406030204" pitchFamily="18" charset="0"/>
                      </a:rPr>
                      <m:t>3</m:t>
                    </m:r>
                  </m:oMath>
                </a14:m>
                <a:r>
                  <a:rPr lang="en-US" sz="2000" dirty="0">
                    <a:solidFill>
                      <a:schemeClr val="accent5">
                        <a:lumMod val="20000"/>
                        <a:lumOff val="80000"/>
                      </a:schemeClr>
                    </a:solidFill>
                  </a:rPr>
                  <a:t>= RGB channels</a:t>
                </a:r>
              </a:p>
              <a:p>
                <a:endParaRPr lang="en-US" dirty="0"/>
              </a:p>
            </p:txBody>
          </p:sp>
        </mc:Choice>
        <mc:Fallback xmlns="">
          <p:sp>
            <p:nvSpPr>
              <p:cNvPr id="10" name="TextBox 9">
                <a:extLst>
                  <a:ext uri="{FF2B5EF4-FFF2-40B4-BE49-F238E27FC236}">
                    <a16:creationId xmlns:a16="http://schemas.microsoft.com/office/drawing/2014/main" id="{3F49C543-1C89-BAB1-043C-A4EB998F386F}"/>
                  </a:ext>
                </a:extLst>
              </p:cNvPr>
              <p:cNvSpPr txBox="1">
                <a:spLocks noRot="1" noChangeAspect="1" noMove="1" noResize="1" noEditPoints="1" noAdjustHandles="1" noChangeArrowheads="1" noChangeShapeType="1" noTextEdit="1"/>
              </p:cNvSpPr>
              <p:nvPr/>
            </p:nvSpPr>
            <p:spPr>
              <a:xfrm>
                <a:off x="4228518" y="3874242"/>
                <a:ext cx="6243376" cy="2215991"/>
              </a:xfrm>
              <a:prstGeom prst="rect">
                <a:avLst/>
              </a:prstGeom>
              <a:blipFill>
                <a:blip r:embed="rId2"/>
                <a:stretch>
                  <a:fillRect l="-1074" t="-1653" r="-195"/>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D51111C2-940B-5E54-5964-3507D955BF24}"/>
              </a:ext>
            </a:extLst>
          </p:cNvPr>
          <p:cNvSpPr/>
          <p:nvPr/>
        </p:nvSpPr>
        <p:spPr>
          <a:xfrm>
            <a:off x="4736048" y="2627010"/>
            <a:ext cx="914400" cy="9144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F0F45BF-FFBC-899D-C014-456C600C6DE6}"/>
              </a:ext>
            </a:extLst>
          </p:cNvPr>
          <p:cNvPicPr>
            <a:picLocks noChangeAspect="1"/>
          </p:cNvPicPr>
          <p:nvPr/>
        </p:nvPicPr>
        <p:blipFill>
          <a:blip r:embed="rId3"/>
          <a:stretch>
            <a:fillRect/>
          </a:stretch>
        </p:blipFill>
        <p:spPr>
          <a:xfrm>
            <a:off x="1032387" y="3124459"/>
            <a:ext cx="2460186" cy="1748302"/>
          </a:xfrm>
          <a:prstGeom prst="rect">
            <a:avLst/>
          </a:prstGeom>
        </p:spPr>
      </p:pic>
      <p:sp>
        <p:nvSpPr>
          <p:cNvPr id="14" name="TextBox 13">
            <a:extLst>
              <a:ext uri="{FF2B5EF4-FFF2-40B4-BE49-F238E27FC236}">
                <a16:creationId xmlns:a16="http://schemas.microsoft.com/office/drawing/2014/main" id="{164F962A-DB17-078E-EA56-2114734441BA}"/>
              </a:ext>
            </a:extLst>
          </p:cNvPr>
          <p:cNvSpPr txBox="1"/>
          <p:nvPr/>
        </p:nvSpPr>
        <p:spPr>
          <a:xfrm>
            <a:off x="6692296" y="4872761"/>
            <a:ext cx="3405434" cy="1261884"/>
          </a:xfrm>
          <a:prstGeom prst="rect">
            <a:avLst/>
          </a:prstGeom>
          <a:noFill/>
        </p:spPr>
        <p:txBody>
          <a:bodyPr wrap="square" rtlCol="0">
            <a:spAutoFit/>
          </a:bodyPr>
          <a:lstStyle/>
          <a:p>
            <a:r>
              <a:rPr lang="en-US" sz="2400" dirty="0">
                <a:solidFill>
                  <a:schemeClr val="accent6">
                    <a:lumMod val="60000"/>
                    <a:lumOff val="40000"/>
                  </a:schemeClr>
                </a:solidFill>
              </a:rPr>
              <a:t>*Calculations for each color image are  </a:t>
            </a:r>
            <a:r>
              <a:rPr lang="en-US" sz="2800" b="1" u="sng" dirty="0">
                <a:solidFill>
                  <a:schemeClr val="accent6">
                    <a:lumMod val="60000"/>
                    <a:lumOff val="40000"/>
                  </a:schemeClr>
                </a:solidFill>
              </a:rPr>
              <a:t>5 </a:t>
            </a:r>
            <a:r>
              <a:rPr lang="en-US" sz="2400" dirty="0">
                <a:solidFill>
                  <a:schemeClr val="accent6">
                    <a:lumMod val="60000"/>
                    <a:lumOff val="40000"/>
                  </a:schemeClr>
                </a:solidFill>
              </a:rPr>
              <a:t>dimensional equations</a:t>
            </a:r>
          </a:p>
        </p:txBody>
      </p:sp>
      <p:sp>
        <p:nvSpPr>
          <p:cNvPr id="15" name="TextBox 14">
            <a:extLst>
              <a:ext uri="{FF2B5EF4-FFF2-40B4-BE49-F238E27FC236}">
                <a16:creationId xmlns:a16="http://schemas.microsoft.com/office/drawing/2014/main" id="{0ADEB0E9-B235-3ABA-B7D6-CDBB17C182D9}"/>
              </a:ext>
            </a:extLst>
          </p:cNvPr>
          <p:cNvSpPr txBox="1"/>
          <p:nvPr/>
        </p:nvSpPr>
        <p:spPr>
          <a:xfrm>
            <a:off x="10268912" y="1995295"/>
            <a:ext cx="3405434" cy="4370427"/>
          </a:xfrm>
          <a:prstGeom prst="rect">
            <a:avLst/>
          </a:prstGeom>
          <a:noFill/>
        </p:spPr>
        <p:txBody>
          <a:bodyPr wrap="square" rtlCol="0">
            <a:spAutoFit/>
          </a:bodyPr>
          <a:lstStyle/>
          <a:p>
            <a:r>
              <a:rPr lang="en-US" sz="2000" b="1" dirty="0">
                <a:solidFill>
                  <a:schemeClr val="accent6">
                    <a:lumMod val="60000"/>
                    <a:lumOff val="40000"/>
                  </a:schemeClr>
                </a:solidFill>
              </a:rPr>
              <a:t>[</a:t>
            </a:r>
          </a:p>
          <a:p>
            <a:r>
              <a:rPr lang="en-US" sz="2000" b="1" dirty="0">
                <a:solidFill>
                  <a:schemeClr val="accent6">
                    <a:lumMod val="60000"/>
                    <a:lumOff val="40000"/>
                  </a:schemeClr>
                </a:solidFill>
              </a:rPr>
              <a:t>  [0, 0, 0],</a:t>
            </a:r>
          </a:p>
          <a:p>
            <a:r>
              <a:rPr lang="en-US" sz="2000" b="1" dirty="0">
                <a:solidFill>
                  <a:schemeClr val="accent6">
                    <a:lumMod val="60000"/>
                    <a:lumOff val="40000"/>
                  </a:schemeClr>
                </a:solidFill>
              </a:rPr>
              <a:t>  [255, 0, 0],</a:t>
            </a:r>
          </a:p>
          <a:p>
            <a:r>
              <a:rPr lang="en-US" sz="2000" b="1" dirty="0">
                <a:solidFill>
                  <a:schemeClr val="accent6">
                    <a:lumMod val="60000"/>
                    <a:lumOff val="40000"/>
                  </a:schemeClr>
                </a:solidFill>
              </a:rPr>
              <a:t>  [0, 255, 0],</a:t>
            </a:r>
          </a:p>
          <a:p>
            <a:r>
              <a:rPr lang="en-US" sz="2000" b="1" dirty="0">
                <a:solidFill>
                  <a:schemeClr val="accent6">
                    <a:lumMod val="60000"/>
                    <a:lumOff val="40000"/>
                  </a:schemeClr>
                </a:solidFill>
              </a:rPr>
              <a:t>  [0, 0, 255],</a:t>
            </a:r>
          </a:p>
          <a:p>
            <a:r>
              <a:rPr lang="en-US" sz="2000" b="1" dirty="0">
                <a:solidFill>
                  <a:schemeClr val="accent6">
                    <a:lumMod val="60000"/>
                    <a:lumOff val="40000"/>
                  </a:schemeClr>
                </a:solidFill>
              </a:rPr>
              <a:t>  [255, 255, 255],</a:t>
            </a:r>
          </a:p>
          <a:p>
            <a:r>
              <a:rPr lang="en-US" sz="2000" b="1" dirty="0">
                <a:solidFill>
                  <a:schemeClr val="accent6">
                    <a:lumMod val="60000"/>
                    <a:lumOff val="40000"/>
                  </a:schemeClr>
                </a:solidFill>
              </a:rPr>
              <a:t>  [128, 128, 128],</a:t>
            </a:r>
          </a:p>
          <a:p>
            <a:r>
              <a:rPr lang="en-US" sz="2000" b="1" dirty="0">
                <a:solidFill>
                  <a:schemeClr val="accent6">
                    <a:lumMod val="60000"/>
                    <a:lumOff val="40000"/>
                  </a:schemeClr>
                </a:solidFill>
              </a:rPr>
              <a:t>  [255, 255, 0],</a:t>
            </a:r>
          </a:p>
          <a:p>
            <a:r>
              <a:rPr lang="en-US" sz="2000" b="1" dirty="0">
                <a:solidFill>
                  <a:schemeClr val="accent6">
                    <a:lumMod val="60000"/>
                    <a:lumOff val="40000"/>
                  </a:schemeClr>
                </a:solidFill>
              </a:rPr>
              <a:t>  [0, 255, 255],</a:t>
            </a:r>
          </a:p>
          <a:p>
            <a:r>
              <a:rPr lang="en-US" sz="2000" b="1" dirty="0">
                <a:solidFill>
                  <a:schemeClr val="accent6">
                    <a:lumMod val="60000"/>
                    <a:lumOff val="40000"/>
                  </a:schemeClr>
                </a:solidFill>
              </a:rPr>
              <a:t>  [255, 0, 255],</a:t>
            </a:r>
          </a:p>
          <a:p>
            <a:r>
              <a:rPr lang="en-US" sz="2000" b="1" dirty="0">
                <a:solidFill>
                  <a:schemeClr val="accent6">
                    <a:lumMod val="60000"/>
                    <a:lumOff val="40000"/>
                  </a:schemeClr>
                </a:solidFill>
              </a:rPr>
              <a:t>  [100, 50, 200],</a:t>
            </a:r>
          </a:p>
          <a:p>
            <a:r>
              <a:rPr lang="en-US" sz="2000" b="1" dirty="0">
                <a:solidFill>
                  <a:schemeClr val="accent6">
                    <a:lumMod val="60000"/>
                    <a:lumOff val="40000"/>
                  </a:schemeClr>
                </a:solidFill>
              </a:rPr>
              <a:t>…</a:t>
            </a:r>
          </a:p>
          <a:p>
            <a:r>
              <a:rPr lang="en-US" sz="2000" b="1" dirty="0">
                <a:solidFill>
                  <a:schemeClr val="accent6">
                    <a:lumMod val="60000"/>
                    <a:lumOff val="40000"/>
                  </a:schemeClr>
                </a:solidFill>
              </a:rPr>
              <a:t>]</a:t>
            </a:r>
          </a:p>
          <a:p>
            <a:endParaRPr lang="en-US" dirty="0"/>
          </a:p>
        </p:txBody>
      </p:sp>
    </p:spTree>
    <p:extLst>
      <p:ext uri="{BB962C8B-B14F-4D97-AF65-F5344CB8AC3E}">
        <p14:creationId xmlns:p14="http://schemas.microsoft.com/office/powerpoint/2010/main" val="1591417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46FAA1-9A1C-0F02-2B6D-6914EFFECCA2}"/>
              </a:ext>
            </a:extLst>
          </p:cNvPr>
          <p:cNvSpPr/>
          <p:nvPr/>
        </p:nvSpPr>
        <p:spPr>
          <a:xfrm>
            <a:off x="1376517" y="275743"/>
            <a:ext cx="914400" cy="9144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2D3ED37-B296-08A5-A6B3-520D2C60A749}"/>
              </a:ext>
            </a:extLst>
          </p:cNvPr>
          <p:cNvPicPr>
            <a:picLocks noChangeAspect="1"/>
          </p:cNvPicPr>
          <p:nvPr/>
        </p:nvPicPr>
        <p:blipFill>
          <a:blip r:embed="rId2"/>
          <a:stretch>
            <a:fillRect/>
          </a:stretch>
        </p:blipFill>
        <p:spPr>
          <a:xfrm>
            <a:off x="824046" y="1476045"/>
            <a:ext cx="1809533" cy="1222023"/>
          </a:xfrm>
          <a:prstGeom prst="rect">
            <a:avLst/>
          </a:prstGeom>
        </p:spPr>
      </p:pic>
      <p:sp>
        <p:nvSpPr>
          <p:cNvPr id="7" name="Rectangle 6">
            <a:extLst>
              <a:ext uri="{FF2B5EF4-FFF2-40B4-BE49-F238E27FC236}">
                <a16:creationId xmlns:a16="http://schemas.microsoft.com/office/drawing/2014/main" id="{27DB28A1-7B75-2759-6BFB-B87699A7D3B0}"/>
              </a:ext>
            </a:extLst>
          </p:cNvPr>
          <p:cNvSpPr/>
          <p:nvPr/>
        </p:nvSpPr>
        <p:spPr>
          <a:xfrm>
            <a:off x="8701548" y="275743"/>
            <a:ext cx="914400" cy="914400"/>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50CFD8D-DAE6-AB8E-718C-A59511D586CB}"/>
              </a:ext>
            </a:extLst>
          </p:cNvPr>
          <p:cNvPicPr>
            <a:picLocks noChangeAspect="1"/>
          </p:cNvPicPr>
          <p:nvPr/>
        </p:nvPicPr>
        <p:blipFill>
          <a:blip r:embed="rId3"/>
          <a:stretch>
            <a:fillRect/>
          </a:stretch>
        </p:blipFill>
        <p:spPr>
          <a:xfrm>
            <a:off x="8404122" y="1518715"/>
            <a:ext cx="1725561" cy="1252907"/>
          </a:xfrm>
          <a:prstGeom prst="rect">
            <a:avLst/>
          </a:prstGeom>
        </p:spPr>
      </p:pic>
      <p:sp>
        <p:nvSpPr>
          <p:cNvPr id="10" name="Rectangle 9">
            <a:extLst>
              <a:ext uri="{FF2B5EF4-FFF2-40B4-BE49-F238E27FC236}">
                <a16:creationId xmlns:a16="http://schemas.microsoft.com/office/drawing/2014/main" id="{8E2A299B-909F-E564-7FB4-F90CDD15D282}"/>
              </a:ext>
            </a:extLst>
          </p:cNvPr>
          <p:cNvSpPr/>
          <p:nvPr/>
        </p:nvSpPr>
        <p:spPr>
          <a:xfrm>
            <a:off x="3913239" y="275743"/>
            <a:ext cx="953729" cy="914400"/>
          </a:xfrm>
          <a:prstGeom prst="rect">
            <a:avLst/>
          </a:prstGeom>
          <a:solidFill>
            <a:srgbClr val="5A5A5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65FB9AD-167D-3FCE-D8B7-3FD6C81912AB}"/>
              </a:ext>
            </a:extLst>
          </p:cNvPr>
          <p:cNvSpPr/>
          <p:nvPr/>
        </p:nvSpPr>
        <p:spPr>
          <a:xfrm>
            <a:off x="6327058" y="275743"/>
            <a:ext cx="914400" cy="914400"/>
          </a:xfrm>
          <a:prstGeom prst="rect">
            <a:avLst/>
          </a:prstGeom>
          <a:solidFill>
            <a:srgbClr val="96969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5B41B6DF-E121-8F82-98CC-C3982A4BF52E}"/>
              </a:ext>
            </a:extLst>
          </p:cNvPr>
          <p:cNvPicPr>
            <a:picLocks noChangeAspect="1"/>
          </p:cNvPicPr>
          <p:nvPr/>
        </p:nvPicPr>
        <p:blipFill>
          <a:blip r:embed="rId4"/>
          <a:stretch>
            <a:fillRect/>
          </a:stretch>
        </p:blipFill>
        <p:spPr>
          <a:xfrm>
            <a:off x="3494435" y="1501624"/>
            <a:ext cx="1653683" cy="1196444"/>
          </a:xfrm>
          <a:prstGeom prst="rect">
            <a:avLst/>
          </a:prstGeom>
        </p:spPr>
      </p:pic>
      <p:pic>
        <p:nvPicPr>
          <p:cNvPr id="17" name="Picture 16">
            <a:extLst>
              <a:ext uri="{FF2B5EF4-FFF2-40B4-BE49-F238E27FC236}">
                <a16:creationId xmlns:a16="http://schemas.microsoft.com/office/drawing/2014/main" id="{76F27ABA-8DEE-7658-6588-3F285D55A3F7}"/>
              </a:ext>
            </a:extLst>
          </p:cNvPr>
          <p:cNvPicPr>
            <a:picLocks noChangeAspect="1"/>
          </p:cNvPicPr>
          <p:nvPr/>
        </p:nvPicPr>
        <p:blipFill>
          <a:blip r:embed="rId5"/>
          <a:stretch>
            <a:fillRect/>
          </a:stretch>
        </p:blipFill>
        <p:spPr>
          <a:xfrm>
            <a:off x="6096000" y="1537075"/>
            <a:ext cx="1661304" cy="1234547"/>
          </a:xfrm>
          <a:prstGeom prst="rect">
            <a:avLst/>
          </a:prstGeom>
        </p:spPr>
      </p:pic>
      <p:sp>
        <p:nvSpPr>
          <p:cNvPr id="19" name="TextBox 18">
            <a:extLst>
              <a:ext uri="{FF2B5EF4-FFF2-40B4-BE49-F238E27FC236}">
                <a16:creationId xmlns:a16="http://schemas.microsoft.com/office/drawing/2014/main" id="{AA7F6574-E45B-E012-3623-234224EA4005}"/>
              </a:ext>
            </a:extLst>
          </p:cNvPr>
          <p:cNvSpPr txBox="1"/>
          <p:nvPr/>
        </p:nvSpPr>
        <p:spPr>
          <a:xfrm>
            <a:off x="476865" y="3473349"/>
            <a:ext cx="6872747" cy="1938992"/>
          </a:xfrm>
          <a:prstGeom prst="rect">
            <a:avLst/>
          </a:prstGeom>
          <a:noFill/>
        </p:spPr>
        <p:txBody>
          <a:bodyPr wrap="square">
            <a:spAutoFit/>
          </a:bodyPr>
          <a:lstStyle/>
          <a:p>
            <a:r>
              <a:rPr lang="en-US" sz="2000" dirty="0">
                <a:solidFill>
                  <a:schemeClr val="accent5">
                    <a:lumMod val="40000"/>
                    <a:lumOff val="60000"/>
                  </a:schemeClr>
                </a:solidFill>
              </a:rPr>
              <a:t>A digital B&amp;W image is represented as a 3D array (tensor):</a:t>
            </a:r>
          </a:p>
          <a:p>
            <a:r>
              <a:rPr lang="en-US" sz="2000" dirty="0">
                <a:solidFill>
                  <a:schemeClr val="accent5">
                    <a:lumMod val="40000"/>
                    <a:lumOff val="60000"/>
                  </a:schemeClr>
                </a:solidFill>
              </a:rPr>
              <a:t>                           "</a:t>
            </a:r>
            <a:r>
              <a:rPr lang="en-US" sz="2000" dirty="0" err="1">
                <a:solidFill>
                  <a:schemeClr val="accent5">
                    <a:lumMod val="40000"/>
                    <a:lumOff val="60000"/>
                  </a:schemeClr>
                </a:solidFill>
              </a:rPr>
              <a:t>Image"∈ℝ</a:t>
            </a:r>
            <a:r>
              <a:rPr lang="en-US" sz="2000" dirty="0">
                <a:solidFill>
                  <a:schemeClr val="accent5">
                    <a:lumMod val="40000"/>
                    <a:lumOff val="60000"/>
                  </a:schemeClr>
                </a:solidFill>
              </a:rPr>
              <a:t>^(𝐻×𝑊×1)</a:t>
            </a:r>
          </a:p>
          <a:p>
            <a:r>
              <a:rPr lang="en-US" sz="2000" dirty="0">
                <a:solidFill>
                  <a:schemeClr val="accent5">
                    <a:lumMod val="40000"/>
                    <a:lumOff val="60000"/>
                  </a:schemeClr>
                </a:solidFill>
              </a:rPr>
              <a:t>Where:</a:t>
            </a:r>
          </a:p>
          <a:p>
            <a:r>
              <a:rPr lang="en-US" sz="2000" dirty="0">
                <a:solidFill>
                  <a:schemeClr val="accent5">
                    <a:lumMod val="40000"/>
                    <a:lumOff val="60000"/>
                  </a:schemeClr>
                </a:solidFill>
              </a:rPr>
              <a:t>𝐻= height</a:t>
            </a:r>
          </a:p>
          <a:p>
            <a:r>
              <a:rPr lang="en-US" sz="2000" dirty="0">
                <a:solidFill>
                  <a:schemeClr val="accent5">
                    <a:lumMod val="40000"/>
                    <a:lumOff val="60000"/>
                  </a:schemeClr>
                </a:solidFill>
              </a:rPr>
              <a:t>𝑊= width</a:t>
            </a:r>
          </a:p>
          <a:p>
            <a:r>
              <a:rPr lang="en-US" sz="2000" dirty="0">
                <a:solidFill>
                  <a:schemeClr val="accent5">
                    <a:lumMod val="40000"/>
                    <a:lumOff val="60000"/>
                  </a:schemeClr>
                </a:solidFill>
              </a:rPr>
              <a:t>1 = B&amp;W </a:t>
            </a:r>
            <a:r>
              <a:rPr lang="en-US" sz="2000" dirty="0" err="1">
                <a:solidFill>
                  <a:schemeClr val="accent5">
                    <a:lumMod val="40000"/>
                    <a:lumOff val="60000"/>
                  </a:schemeClr>
                </a:solidFill>
              </a:rPr>
              <a:t>sacle</a:t>
            </a:r>
            <a:endParaRPr lang="en-US" sz="2000" dirty="0">
              <a:solidFill>
                <a:schemeClr val="accent5">
                  <a:lumMod val="40000"/>
                  <a:lumOff val="60000"/>
                </a:schemeClr>
              </a:solidFill>
            </a:endParaRPr>
          </a:p>
        </p:txBody>
      </p:sp>
      <p:sp>
        <p:nvSpPr>
          <p:cNvPr id="20" name="TextBox 19">
            <a:extLst>
              <a:ext uri="{FF2B5EF4-FFF2-40B4-BE49-F238E27FC236}">
                <a16:creationId xmlns:a16="http://schemas.microsoft.com/office/drawing/2014/main" id="{FBBB6B3A-B25A-9E97-C7A4-31983DB0E2AD}"/>
              </a:ext>
            </a:extLst>
          </p:cNvPr>
          <p:cNvSpPr txBox="1"/>
          <p:nvPr/>
        </p:nvSpPr>
        <p:spPr>
          <a:xfrm>
            <a:off x="4866968" y="4316362"/>
            <a:ext cx="5535561" cy="892552"/>
          </a:xfrm>
          <a:prstGeom prst="rect">
            <a:avLst/>
          </a:prstGeom>
          <a:noFill/>
        </p:spPr>
        <p:txBody>
          <a:bodyPr wrap="square" rtlCol="0">
            <a:spAutoFit/>
          </a:bodyPr>
          <a:lstStyle/>
          <a:p>
            <a:r>
              <a:rPr lang="en-US" sz="2400" dirty="0">
                <a:solidFill>
                  <a:schemeClr val="accent6">
                    <a:lumMod val="60000"/>
                    <a:lumOff val="40000"/>
                  </a:schemeClr>
                </a:solidFill>
              </a:rPr>
              <a:t>*Here we only need to do </a:t>
            </a:r>
            <a:r>
              <a:rPr lang="en-US" sz="2800" b="1" u="sng" dirty="0">
                <a:solidFill>
                  <a:schemeClr val="accent6">
                    <a:lumMod val="60000"/>
                    <a:lumOff val="40000"/>
                  </a:schemeClr>
                </a:solidFill>
              </a:rPr>
              <a:t>3</a:t>
            </a:r>
            <a:r>
              <a:rPr lang="en-US" sz="2400" dirty="0">
                <a:solidFill>
                  <a:schemeClr val="accent6">
                    <a:lumMod val="60000"/>
                    <a:lumOff val="40000"/>
                  </a:schemeClr>
                </a:solidFill>
              </a:rPr>
              <a:t> dimensional Linear Algebra calculations </a:t>
            </a:r>
          </a:p>
        </p:txBody>
      </p:sp>
      <p:sp>
        <p:nvSpPr>
          <p:cNvPr id="22" name="TextBox 21">
            <a:extLst>
              <a:ext uri="{FF2B5EF4-FFF2-40B4-BE49-F238E27FC236}">
                <a16:creationId xmlns:a16="http://schemas.microsoft.com/office/drawing/2014/main" id="{FE80ED78-B314-88D0-F0B9-EFBDE2CD0DA7}"/>
              </a:ext>
            </a:extLst>
          </p:cNvPr>
          <p:cNvSpPr txBox="1"/>
          <p:nvPr/>
        </p:nvSpPr>
        <p:spPr>
          <a:xfrm>
            <a:off x="4301612" y="5590262"/>
            <a:ext cx="6096000" cy="461665"/>
          </a:xfrm>
          <a:prstGeom prst="rect">
            <a:avLst/>
          </a:prstGeom>
          <a:noFill/>
        </p:spPr>
        <p:txBody>
          <a:bodyPr wrap="square">
            <a:spAutoFit/>
          </a:bodyPr>
          <a:lstStyle/>
          <a:p>
            <a:r>
              <a:rPr lang="en-US" sz="2400" dirty="0">
                <a:solidFill>
                  <a:schemeClr val="accent6">
                    <a:lumMod val="60000"/>
                    <a:lumOff val="40000"/>
                  </a:schemeClr>
                </a:solidFill>
              </a:rPr>
              <a:t>[0, 34, 87, 120, 255, 200, 15, 90, 180, 60, …]</a:t>
            </a:r>
          </a:p>
        </p:txBody>
      </p:sp>
    </p:spTree>
    <p:extLst>
      <p:ext uri="{BB962C8B-B14F-4D97-AF65-F5344CB8AC3E}">
        <p14:creationId xmlns:p14="http://schemas.microsoft.com/office/powerpoint/2010/main" val="3178769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F3154-245F-CD28-EC82-354ED9893310}"/>
              </a:ext>
            </a:extLst>
          </p:cNvPr>
          <p:cNvSpPr>
            <a:spLocks noGrp="1"/>
          </p:cNvSpPr>
          <p:nvPr>
            <p:ph type="title"/>
          </p:nvPr>
        </p:nvSpPr>
        <p:spPr/>
        <p:txBody>
          <a:bodyPr>
            <a:normAutofit fontScale="90000"/>
          </a:bodyPr>
          <a:lstStyle/>
          <a:p>
            <a:r>
              <a:rPr lang="en-US" b="1" dirty="0">
                <a:solidFill>
                  <a:schemeClr val="accent4">
                    <a:lumMod val="60000"/>
                    <a:lumOff val="40000"/>
                  </a:schemeClr>
                </a:solidFill>
              </a:rPr>
              <a:t>Basic Mathematics Behind Machine Learning</a:t>
            </a:r>
            <a:br>
              <a:rPr lang="en-US" b="1" dirty="0">
                <a:solidFill>
                  <a:schemeClr val="accent4">
                    <a:lumMod val="60000"/>
                    <a:lumOff val="40000"/>
                  </a:schemeClr>
                </a:solidFill>
              </a:rPr>
            </a:br>
            <a:endParaRPr lang="en-US" dirty="0">
              <a:solidFill>
                <a:schemeClr val="accent4">
                  <a:lumMod val="60000"/>
                  <a:lumOff val="40000"/>
                </a:schemeClr>
              </a:solidFill>
            </a:endParaRPr>
          </a:p>
        </p:txBody>
      </p:sp>
      <p:pic>
        <p:nvPicPr>
          <p:cNvPr id="6" name="Picture 5">
            <a:extLst>
              <a:ext uri="{FF2B5EF4-FFF2-40B4-BE49-F238E27FC236}">
                <a16:creationId xmlns:a16="http://schemas.microsoft.com/office/drawing/2014/main" id="{37EC5727-88B6-B6AA-0697-A0FA282A6AC4}"/>
              </a:ext>
            </a:extLst>
          </p:cNvPr>
          <p:cNvPicPr>
            <a:picLocks noChangeAspect="1"/>
          </p:cNvPicPr>
          <p:nvPr/>
        </p:nvPicPr>
        <p:blipFill>
          <a:blip r:embed="rId2"/>
          <a:stretch>
            <a:fillRect/>
          </a:stretch>
        </p:blipFill>
        <p:spPr>
          <a:xfrm>
            <a:off x="7203347" y="3972108"/>
            <a:ext cx="4813659" cy="2310789"/>
          </a:xfrm>
          <a:prstGeom prst="rect">
            <a:avLst/>
          </a:prstGeom>
        </p:spPr>
      </p:pic>
      <p:pic>
        <p:nvPicPr>
          <p:cNvPr id="8" name="Picture 7">
            <a:extLst>
              <a:ext uri="{FF2B5EF4-FFF2-40B4-BE49-F238E27FC236}">
                <a16:creationId xmlns:a16="http://schemas.microsoft.com/office/drawing/2014/main" id="{9A2CC228-3707-D34C-19B2-CABB17948341}"/>
              </a:ext>
            </a:extLst>
          </p:cNvPr>
          <p:cNvPicPr>
            <a:picLocks noChangeAspect="1"/>
          </p:cNvPicPr>
          <p:nvPr/>
        </p:nvPicPr>
        <p:blipFill>
          <a:blip r:embed="rId3"/>
          <a:stretch>
            <a:fillRect/>
          </a:stretch>
        </p:blipFill>
        <p:spPr>
          <a:xfrm>
            <a:off x="7477020" y="1518407"/>
            <a:ext cx="4266311" cy="2399800"/>
          </a:xfrm>
          <a:prstGeom prst="rect">
            <a:avLst/>
          </a:prstGeom>
        </p:spPr>
      </p:pic>
      <p:sp>
        <p:nvSpPr>
          <p:cNvPr id="3" name="TextBox 2">
            <a:extLst>
              <a:ext uri="{FF2B5EF4-FFF2-40B4-BE49-F238E27FC236}">
                <a16:creationId xmlns:a16="http://schemas.microsoft.com/office/drawing/2014/main" id="{DB744631-5588-1316-08FD-0A4CFC4099C5}"/>
              </a:ext>
            </a:extLst>
          </p:cNvPr>
          <p:cNvSpPr txBox="1"/>
          <p:nvPr/>
        </p:nvSpPr>
        <p:spPr>
          <a:xfrm>
            <a:off x="497351" y="2954669"/>
            <a:ext cx="2305439" cy="461665"/>
          </a:xfrm>
          <a:prstGeom prst="rect">
            <a:avLst/>
          </a:prstGeom>
          <a:noFill/>
        </p:spPr>
        <p:txBody>
          <a:bodyPr wrap="none" rtlCol="0">
            <a:spAutoFit/>
          </a:bodyPr>
          <a:lstStyle/>
          <a:p>
            <a:r>
              <a:rPr lang="en-US" sz="2400" dirty="0">
                <a:solidFill>
                  <a:schemeClr val="accent4">
                    <a:lumMod val="20000"/>
                    <a:lumOff val="80000"/>
                  </a:schemeClr>
                </a:solidFill>
              </a:rPr>
              <a:t>MSE=n1​∑(y−y^​)2</a:t>
            </a:r>
          </a:p>
        </p:txBody>
      </p:sp>
      <p:sp>
        <p:nvSpPr>
          <p:cNvPr id="5" name="TextBox 4">
            <a:extLst>
              <a:ext uri="{FF2B5EF4-FFF2-40B4-BE49-F238E27FC236}">
                <a16:creationId xmlns:a16="http://schemas.microsoft.com/office/drawing/2014/main" id="{119D4DF6-1EFE-BB9A-67D2-25B693864D51}"/>
              </a:ext>
            </a:extLst>
          </p:cNvPr>
          <p:cNvSpPr txBox="1"/>
          <p:nvPr/>
        </p:nvSpPr>
        <p:spPr>
          <a:xfrm>
            <a:off x="221315" y="1846513"/>
            <a:ext cx="5874685" cy="461665"/>
          </a:xfrm>
          <a:prstGeom prst="rect">
            <a:avLst/>
          </a:prstGeom>
          <a:noFill/>
        </p:spPr>
        <p:txBody>
          <a:bodyPr wrap="none" rtlCol="0">
            <a:spAutoFit/>
          </a:bodyPr>
          <a:lstStyle/>
          <a:p>
            <a:r>
              <a:rPr lang="en-US" sz="2400" b="1" dirty="0">
                <a:solidFill>
                  <a:schemeClr val="accent5">
                    <a:lumMod val="40000"/>
                    <a:lumOff val="60000"/>
                  </a:schemeClr>
                </a:solidFill>
              </a:rPr>
              <a:t>machine learning learns by minimizing error</a:t>
            </a:r>
            <a:r>
              <a:rPr lang="en-US" sz="2400" dirty="0">
                <a:solidFill>
                  <a:schemeClr val="accent5">
                    <a:lumMod val="40000"/>
                    <a:lumOff val="60000"/>
                  </a:schemeClr>
                </a:solidFill>
              </a:rPr>
              <a:t>.</a:t>
            </a:r>
          </a:p>
        </p:txBody>
      </p:sp>
      <p:sp>
        <p:nvSpPr>
          <p:cNvPr id="7" name="TextBox 6">
            <a:extLst>
              <a:ext uri="{FF2B5EF4-FFF2-40B4-BE49-F238E27FC236}">
                <a16:creationId xmlns:a16="http://schemas.microsoft.com/office/drawing/2014/main" id="{43F6C27E-EAA9-AE64-5953-AFC3F113E6C1}"/>
              </a:ext>
            </a:extLst>
          </p:cNvPr>
          <p:cNvSpPr txBox="1"/>
          <p:nvPr/>
        </p:nvSpPr>
        <p:spPr>
          <a:xfrm>
            <a:off x="221315" y="2464003"/>
            <a:ext cx="2116285" cy="461665"/>
          </a:xfrm>
          <a:prstGeom prst="rect">
            <a:avLst/>
          </a:prstGeom>
          <a:noFill/>
        </p:spPr>
        <p:txBody>
          <a:bodyPr wrap="none" rtlCol="0">
            <a:spAutoFit/>
          </a:bodyPr>
          <a:lstStyle/>
          <a:p>
            <a:r>
              <a:rPr lang="en-US" sz="2400" b="1" dirty="0">
                <a:solidFill>
                  <a:schemeClr val="accent4">
                    <a:lumMod val="40000"/>
                    <a:lumOff val="60000"/>
                  </a:schemeClr>
                </a:solidFill>
              </a:rPr>
              <a:t>Loss Functions:</a:t>
            </a:r>
            <a:endParaRPr lang="en-US" sz="2400" dirty="0">
              <a:solidFill>
                <a:schemeClr val="accent4">
                  <a:lumMod val="40000"/>
                  <a:lumOff val="60000"/>
                </a:schemeClr>
              </a:solidFill>
            </a:endParaRPr>
          </a:p>
        </p:txBody>
      </p:sp>
      <p:sp>
        <p:nvSpPr>
          <p:cNvPr id="10" name="TextBox 9">
            <a:extLst>
              <a:ext uri="{FF2B5EF4-FFF2-40B4-BE49-F238E27FC236}">
                <a16:creationId xmlns:a16="http://schemas.microsoft.com/office/drawing/2014/main" id="{238205F5-43D7-5D2D-BE73-C38BE19C7C2B}"/>
              </a:ext>
            </a:extLst>
          </p:cNvPr>
          <p:cNvSpPr txBox="1"/>
          <p:nvPr/>
        </p:nvSpPr>
        <p:spPr>
          <a:xfrm>
            <a:off x="448669" y="3441667"/>
            <a:ext cx="6094602" cy="461665"/>
          </a:xfrm>
          <a:prstGeom prst="rect">
            <a:avLst/>
          </a:prstGeom>
          <a:noFill/>
        </p:spPr>
        <p:txBody>
          <a:bodyPr wrap="square">
            <a:spAutoFit/>
          </a:bodyPr>
          <a:lstStyle/>
          <a:p>
            <a:r>
              <a:rPr lang="es-ES" sz="2400" dirty="0">
                <a:solidFill>
                  <a:schemeClr val="accent4">
                    <a:lumMod val="20000"/>
                    <a:lumOff val="80000"/>
                  </a:schemeClr>
                </a:solidFill>
              </a:rPr>
              <a:t>L=−[</a:t>
            </a:r>
            <a:r>
              <a:rPr lang="es-ES" sz="2400" dirty="0" err="1">
                <a:solidFill>
                  <a:schemeClr val="accent4">
                    <a:lumMod val="20000"/>
                    <a:lumOff val="80000"/>
                  </a:schemeClr>
                </a:solidFill>
              </a:rPr>
              <a:t>ylog</a:t>
            </a:r>
            <a:r>
              <a:rPr lang="es-ES" sz="2400" dirty="0">
                <a:solidFill>
                  <a:schemeClr val="accent4">
                    <a:lumMod val="20000"/>
                    <a:lumOff val="80000"/>
                  </a:schemeClr>
                </a:solidFill>
              </a:rPr>
              <a:t>(y^​) + (1−y)log(1−y^​)]</a:t>
            </a:r>
            <a:endParaRPr lang="en-US" sz="2400" dirty="0">
              <a:solidFill>
                <a:schemeClr val="accent4">
                  <a:lumMod val="20000"/>
                  <a:lumOff val="80000"/>
                </a:schemeClr>
              </a:solidFill>
            </a:endParaRPr>
          </a:p>
        </p:txBody>
      </p:sp>
      <p:sp>
        <p:nvSpPr>
          <p:cNvPr id="12" name="TextBox 11">
            <a:extLst>
              <a:ext uri="{FF2B5EF4-FFF2-40B4-BE49-F238E27FC236}">
                <a16:creationId xmlns:a16="http://schemas.microsoft.com/office/drawing/2014/main" id="{15D303C0-1BC8-B6AF-D65B-807F9B354A88}"/>
              </a:ext>
            </a:extLst>
          </p:cNvPr>
          <p:cNvSpPr txBox="1"/>
          <p:nvPr/>
        </p:nvSpPr>
        <p:spPr>
          <a:xfrm>
            <a:off x="838200" y="4549823"/>
            <a:ext cx="6094602" cy="369332"/>
          </a:xfrm>
          <a:prstGeom prst="rect">
            <a:avLst/>
          </a:prstGeom>
          <a:noFill/>
        </p:spPr>
        <p:txBody>
          <a:bodyPr wrap="square">
            <a:spAutoFit/>
          </a:bodyPr>
          <a:lstStyle/>
          <a:p>
            <a:r>
              <a:rPr lang="en-US" dirty="0">
                <a:solidFill>
                  <a:schemeClr val="accent6">
                    <a:lumMod val="40000"/>
                    <a:lumOff val="60000"/>
                  </a:schemeClr>
                </a:solidFill>
              </a:rPr>
              <a:t>Loss function: measures prediction error</a:t>
            </a:r>
          </a:p>
        </p:txBody>
      </p:sp>
      <p:sp>
        <p:nvSpPr>
          <p:cNvPr id="14" name="TextBox 13">
            <a:extLst>
              <a:ext uri="{FF2B5EF4-FFF2-40B4-BE49-F238E27FC236}">
                <a16:creationId xmlns:a16="http://schemas.microsoft.com/office/drawing/2014/main" id="{388398E8-DC78-0273-1241-A79DBE0F04C0}"/>
              </a:ext>
            </a:extLst>
          </p:cNvPr>
          <p:cNvSpPr txBox="1"/>
          <p:nvPr/>
        </p:nvSpPr>
        <p:spPr>
          <a:xfrm>
            <a:off x="838200" y="4075754"/>
            <a:ext cx="6094602" cy="369332"/>
          </a:xfrm>
          <a:prstGeom prst="rect">
            <a:avLst/>
          </a:prstGeom>
          <a:noFill/>
        </p:spPr>
        <p:txBody>
          <a:bodyPr wrap="square">
            <a:spAutoFit/>
          </a:bodyPr>
          <a:lstStyle/>
          <a:p>
            <a:r>
              <a:rPr lang="en-US" dirty="0">
                <a:solidFill>
                  <a:schemeClr val="accent6">
                    <a:lumMod val="40000"/>
                    <a:lumOff val="60000"/>
                  </a:schemeClr>
                </a:solidFill>
              </a:rPr>
              <a:t>Training objective: minimize the loss</a:t>
            </a:r>
          </a:p>
        </p:txBody>
      </p:sp>
      <p:sp>
        <p:nvSpPr>
          <p:cNvPr id="16" name="TextBox 15">
            <a:extLst>
              <a:ext uri="{FF2B5EF4-FFF2-40B4-BE49-F238E27FC236}">
                <a16:creationId xmlns:a16="http://schemas.microsoft.com/office/drawing/2014/main" id="{9CD53185-EC1F-2E22-B36F-7497F08B21DC}"/>
              </a:ext>
            </a:extLst>
          </p:cNvPr>
          <p:cNvSpPr txBox="1"/>
          <p:nvPr/>
        </p:nvSpPr>
        <p:spPr>
          <a:xfrm>
            <a:off x="838200" y="4986840"/>
            <a:ext cx="6094602" cy="369332"/>
          </a:xfrm>
          <a:prstGeom prst="rect">
            <a:avLst/>
          </a:prstGeom>
          <a:noFill/>
        </p:spPr>
        <p:txBody>
          <a:bodyPr wrap="square">
            <a:spAutoFit/>
          </a:bodyPr>
          <a:lstStyle/>
          <a:p>
            <a:r>
              <a:rPr lang="en-US" dirty="0">
                <a:solidFill>
                  <a:schemeClr val="accent6">
                    <a:lumMod val="40000"/>
                    <a:lumOff val="60000"/>
                  </a:schemeClr>
                </a:solidFill>
              </a:rPr>
              <a:t>Gradient descent: moves parameters toward lower loss</a:t>
            </a:r>
          </a:p>
        </p:txBody>
      </p:sp>
    </p:spTree>
    <p:extLst>
      <p:ext uri="{BB962C8B-B14F-4D97-AF65-F5344CB8AC3E}">
        <p14:creationId xmlns:p14="http://schemas.microsoft.com/office/powerpoint/2010/main" val="3490518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A17D9-352C-FEE9-91FD-D77A8F778798}"/>
              </a:ext>
            </a:extLst>
          </p:cNvPr>
          <p:cNvSpPr>
            <a:spLocks noGrp="1"/>
          </p:cNvSpPr>
          <p:nvPr>
            <p:ph type="title"/>
          </p:nvPr>
        </p:nvSpPr>
        <p:spPr/>
        <p:txBody>
          <a:bodyPr>
            <a:normAutofit/>
          </a:bodyPr>
          <a:lstStyle/>
          <a:p>
            <a:r>
              <a:rPr lang="en-US" b="1" dirty="0">
                <a:solidFill>
                  <a:schemeClr val="accent4">
                    <a:lumMod val="60000"/>
                    <a:lumOff val="40000"/>
                  </a:schemeClr>
                </a:solidFill>
              </a:rPr>
              <a:t>How AI Understands and Processes Medical Images</a:t>
            </a:r>
            <a:endParaRPr lang="en-US" dirty="0">
              <a:solidFill>
                <a:schemeClr val="accent4">
                  <a:lumMod val="60000"/>
                  <a:lumOff val="40000"/>
                </a:schemeClr>
              </a:solidFill>
            </a:endParaRPr>
          </a:p>
        </p:txBody>
      </p:sp>
      <p:sp>
        <p:nvSpPr>
          <p:cNvPr id="4" name="TextBox 3">
            <a:extLst>
              <a:ext uri="{FF2B5EF4-FFF2-40B4-BE49-F238E27FC236}">
                <a16:creationId xmlns:a16="http://schemas.microsoft.com/office/drawing/2014/main" id="{FDDFBE75-0951-B403-7158-5E0577027D70}"/>
              </a:ext>
            </a:extLst>
          </p:cNvPr>
          <p:cNvSpPr txBox="1"/>
          <p:nvPr/>
        </p:nvSpPr>
        <p:spPr>
          <a:xfrm>
            <a:off x="931179" y="1837188"/>
            <a:ext cx="5287409" cy="461665"/>
          </a:xfrm>
          <a:prstGeom prst="rect">
            <a:avLst/>
          </a:prstGeom>
          <a:noFill/>
        </p:spPr>
        <p:txBody>
          <a:bodyPr wrap="none" rtlCol="0">
            <a:spAutoFit/>
          </a:bodyPr>
          <a:lstStyle/>
          <a:p>
            <a:r>
              <a:rPr lang="en-US" sz="2400" dirty="0">
                <a:solidFill>
                  <a:schemeClr val="accent5">
                    <a:lumMod val="20000"/>
                    <a:lumOff val="80000"/>
                  </a:schemeClr>
                </a:solidFill>
              </a:rPr>
              <a:t>AI sees an image as a </a:t>
            </a:r>
            <a:r>
              <a:rPr lang="en-US" sz="2400" b="1" dirty="0">
                <a:solidFill>
                  <a:schemeClr val="accent5">
                    <a:lumMod val="20000"/>
                    <a:lumOff val="80000"/>
                  </a:schemeClr>
                </a:solidFill>
              </a:rPr>
              <a:t>matrix of numbers</a:t>
            </a:r>
            <a:r>
              <a:rPr lang="en-US" sz="2400" dirty="0">
                <a:solidFill>
                  <a:schemeClr val="accent5">
                    <a:lumMod val="20000"/>
                    <a:lumOff val="80000"/>
                  </a:schemeClr>
                </a:solidFill>
              </a:rPr>
              <a:t>.</a:t>
            </a:r>
          </a:p>
        </p:txBody>
      </p:sp>
      <p:sp>
        <p:nvSpPr>
          <p:cNvPr id="6" name="TextBox 5">
            <a:extLst>
              <a:ext uri="{FF2B5EF4-FFF2-40B4-BE49-F238E27FC236}">
                <a16:creationId xmlns:a16="http://schemas.microsoft.com/office/drawing/2014/main" id="{66BB9D1B-BF44-4D5E-32AA-A43A1D8EC67E}"/>
              </a:ext>
            </a:extLst>
          </p:cNvPr>
          <p:cNvSpPr txBox="1"/>
          <p:nvPr/>
        </p:nvSpPr>
        <p:spPr>
          <a:xfrm>
            <a:off x="838200" y="2690336"/>
            <a:ext cx="6094602" cy="1200329"/>
          </a:xfrm>
          <a:prstGeom prst="rect">
            <a:avLst/>
          </a:prstGeom>
          <a:noFill/>
        </p:spPr>
        <p:txBody>
          <a:bodyPr wrap="square">
            <a:spAutoFit/>
          </a:bodyPr>
          <a:lstStyle/>
          <a:p>
            <a:r>
              <a:rPr lang="en-US" sz="2400" b="1" dirty="0">
                <a:solidFill>
                  <a:schemeClr val="accent5">
                    <a:lumMod val="40000"/>
                    <a:lumOff val="60000"/>
                  </a:schemeClr>
                </a:solidFill>
              </a:rPr>
              <a:t>It learns by detecting important patterns such as edges, shapes, textures, lesions, and anatomical structures.</a:t>
            </a:r>
          </a:p>
        </p:txBody>
      </p:sp>
      <p:sp>
        <p:nvSpPr>
          <p:cNvPr id="8" name="TextBox 7">
            <a:extLst>
              <a:ext uri="{FF2B5EF4-FFF2-40B4-BE49-F238E27FC236}">
                <a16:creationId xmlns:a16="http://schemas.microsoft.com/office/drawing/2014/main" id="{9E1BB52B-E261-14EB-1696-00AAB88957FE}"/>
              </a:ext>
            </a:extLst>
          </p:cNvPr>
          <p:cNvSpPr txBox="1"/>
          <p:nvPr/>
        </p:nvSpPr>
        <p:spPr>
          <a:xfrm>
            <a:off x="823136" y="3890665"/>
            <a:ext cx="6998110" cy="1200329"/>
          </a:xfrm>
          <a:prstGeom prst="rect">
            <a:avLst/>
          </a:prstGeom>
          <a:noFill/>
        </p:spPr>
        <p:txBody>
          <a:bodyPr wrap="square">
            <a:spAutoFit/>
          </a:bodyPr>
          <a:lstStyle/>
          <a:p>
            <a:endParaRPr lang="en-US" sz="2400" dirty="0">
              <a:solidFill>
                <a:schemeClr val="accent5">
                  <a:lumMod val="40000"/>
                  <a:lumOff val="60000"/>
                </a:schemeClr>
              </a:solidFill>
            </a:endParaRPr>
          </a:p>
          <a:p>
            <a:r>
              <a:rPr lang="en-US" sz="2400" dirty="0">
                <a:solidFill>
                  <a:schemeClr val="accent5">
                    <a:lumMod val="60000"/>
                    <a:lumOff val="40000"/>
                  </a:schemeClr>
                </a:solidFill>
              </a:rPr>
              <a:t>This process reduces the data dimensionality while preserving clinically important information.</a:t>
            </a:r>
          </a:p>
        </p:txBody>
      </p:sp>
    </p:spTree>
    <p:extLst>
      <p:ext uri="{BB962C8B-B14F-4D97-AF65-F5344CB8AC3E}">
        <p14:creationId xmlns:p14="http://schemas.microsoft.com/office/powerpoint/2010/main" val="1022938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7DCAA4E-E411-A9A3-85A5-6C2BAE429678}"/>
              </a:ext>
            </a:extLst>
          </p:cNvPr>
          <p:cNvSpPr txBox="1"/>
          <p:nvPr/>
        </p:nvSpPr>
        <p:spPr>
          <a:xfrm>
            <a:off x="438325" y="1382147"/>
            <a:ext cx="8554674" cy="830997"/>
          </a:xfrm>
          <a:prstGeom prst="rect">
            <a:avLst/>
          </a:prstGeom>
          <a:noFill/>
        </p:spPr>
        <p:txBody>
          <a:bodyPr wrap="square">
            <a:spAutoFit/>
          </a:bodyPr>
          <a:lstStyle/>
          <a:p>
            <a:r>
              <a:rPr lang="en-US" sz="2400" dirty="0">
                <a:solidFill>
                  <a:schemeClr val="accent4">
                    <a:lumMod val="40000"/>
                    <a:lumOff val="60000"/>
                  </a:schemeClr>
                </a:solidFill>
              </a:rPr>
              <a:t>Deep learning models, especially CNNs, process them through convolution, pooling, and hierarchical feature extraction.</a:t>
            </a:r>
          </a:p>
        </p:txBody>
      </p:sp>
      <p:sp>
        <p:nvSpPr>
          <p:cNvPr id="7" name="TextBox 6">
            <a:extLst>
              <a:ext uri="{FF2B5EF4-FFF2-40B4-BE49-F238E27FC236}">
                <a16:creationId xmlns:a16="http://schemas.microsoft.com/office/drawing/2014/main" id="{2B1A1AFD-ABAF-083F-330B-2982A004F9DF}"/>
              </a:ext>
            </a:extLst>
          </p:cNvPr>
          <p:cNvSpPr txBox="1"/>
          <p:nvPr/>
        </p:nvSpPr>
        <p:spPr>
          <a:xfrm>
            <a:off x="369114" y="427840"/>
            <a:ext cx="9580229" cy="769441"/>
          </a:xfrm>
          <a:prstGeom prst="rect">
            <a:avLst/>
          </a:prstGeom>
          <a:noFill/>
        </p:spPr>
        <p:txBody>
          <a:bodyPr wrap="square">
            <a:spAutoFit/>
          </a:bodyPr>
          <a:lstStyle/>
          <a:p>
            <a:r>
              <a:rPr lang="en-US" sz="4400" dirty="0">
                <a:solidFill>
                  <a:schemeClr val="accent4">
                    <a:lumMod val="60000"/>
                    <a:lumOff val="40000"/>
                  </a:schemeClr>
                </a:solidFill>
              </a:rPr>
              <a:t>Convolutional Neural Networks (CNNs):</a:t>
            </a:r>
          </a:p>
        </p:txBody>
      </p:sp>
      <p:sp>
        <p:nvSpPr>
          <p:cNvPr id="9" name="TextBox 8">
            <a:extLst>
              <a:ext uri="{FF2B5EF4-FFF2-40B4-BE49-F238E27FC236}">
                <a16:creationId xmlns:a16="http://schemas.microsoft.com/office/drawing/2014/main" id="{94122BC2-A615-0A36-0F8E-95C0BE8E40F4}"/>
              </a:ext>
            </a:extLst>
          </p:cNvPr>
          <p:cNvSpPr txBox="1"/>
          <p:nvPr/>
        </p:nvSpPr>
        <p:spPr>
          <a:xfrm>
            <a:off x="361774" y="2446400"/>
            <a:ext cx="7422160" cy="1200329"/>
          </a:xfrm>
          <a:prstGeom prst="rect">
            <a:avLst/>
          </a:prstGeom>
          <a:noFill/>
        </p:spPr>
        <p:txBody>
          <a:bodyPr wrap="square">
            <a:spAutoFit/>
          </a:bodyPr>
          <a:lstStyle/>
          <a:p>
            <a:r>
              <a:rPr lang="en-US" sz="2400" dirty="0">
                <a:solidFill>
                  <a:schemeClr val="accent5">
                    <a:lumMod val="40000"/>
                    <a:lumOff val="60000"/>
                  </a:schemeClr>
                </a:solidFill>
              </a:rPr>
              <a:t>CNNs are a family of models that were originally inspired by how the visual cortex of the human</a:t>
            </a:r>
          </a:p>
          <a:p>
            <a:r>
              <a:rPr lang="en-US" sz="2400" dirty="0">
                <a:solidFill>
                  <a:schemeClr val="accent5">
                    <a:lumMod val="40000"/>
                    <a:lumOff val="60000"/>
                  </a:schemeClr>
                </a:solidFill>
              </a:rPr>
              <a:t>brain works when recognizing objects.</a:t>
            </a:r>
          </a:p>
        </p:txBody>
      </p:sp>
      <p:pic>
        <p:nvPicPr>
          <p:cNvPr id="11" name="Picture 10">
            <a:extLst>
              <a:ext uri="{FF2B5EF4-FFF2-40B4-BE49-F238E27FC236}">
                <a16:creationId xmlns:a16="http://schemas.microsoft.com/office/drawing/2014/main" id="{5FA2532D-8FD0-3C29-9724-97EE07F62B43}"/>
              </a:ext>
            </a:extLst>
          </p:cNvPr>
          <p:cNvPicPr>
            <a:picLocks noChangeAspect="1"/>
          </p:cNvPicPr>
          <p:nvPr/>
        </p:nvPicPr>
        <p:blipFill>
          <a:blip r:embed="rId2"/>
          <a:stretch>
            <a:fillRect/>
          </a:stretch>
        </p:blipFill>
        <p:spPr>
          <a:xfrm>
            <a:off x="119543" y="3879986"/>
            <a:ext cx="6477000" cy="2362200"/>
          </a:xfrm>
          <a:prstGeom prst="rect">
            <a:avLst/>
          </a:prstGeom>
        </p:spPr>
      </p:pic>
      <p:pic>
        <p:nvPicPr>
          <p:cNvPr id="13" name="Picture 12">
            <a:extLst>
              <a:ext uri="{FF2B5EF4-FFF2-40B4-BE49-F238E27FC236}">
                <a16:creationId xmlns:a16="http://schemas.microsoft.com/office/drawing/2014/main" id="{5950B3E4-A9EC-907A-D047-24FEB1358333}"/>
              </a:ext>
            </a:extLst>
          </p:cNvPr>
          <p:cNvPicPr>
            <a:picLocks noChangeAspect="1"/>
          </p:cNvPicPr>
          <p:nvPr/>
        </p:nvPicPr>
        <p:blipFill>
          <a:blip r:embed="rId3"/>
          <a:stretch>
            <a:fillRect/>
          </a:stretch>
        </p:blipFill>
        <p:spPr>
          <a:xfrm>
            <a:off x="6685028" y="2968523"/>
            <a:ext cx="5506972" cy="3673474"/>
          </a:xfrm>
          <a:prstGeom prst="rect">
            <a:avLst/>
          </a:prstGeom>
        </p:spPr>
      </p:pic>
    </p:spTree>
    <p:extLst>
      <p:ext uri="{BB962C8B-B14F-4D97-AF65-F5344CB8AC3E}">
        <p14:creationId xmlns:p14="http://schemas.microsoft.com/office/powerpoint/2010/main" val="25421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A2D8A0-C0B5-FE54-6425-767E1D72CE8B}"/>
              </a:ext>
            </a:extLst>
          </p:cNvPr>
          <p:cNvSpPr txBox="1"/>
          <p:nvPr/>
        </p:nvSpPr>
        <p:spPr>
          <a:xfrm>
            <a:off x="404769" y="603898"/>
            <a:ext cx="6094602" cy="461665"/>
          </a:xfrm>
          <a:prstGeom prst="rect">
            <a:avLst/>
          </a:prstGeom>
          <a:noFill/>
        </p:spPr>
        <p:txBody>
          <a:bodyPr wrap="square">
            <a:spAutoFit/>
          </a:bodyPr>
          <a:lstStyle/>
          <a:p>
            <a:r>
              <a:rPr lang="en-US" sz="2400" dirty="0">
                <a:solidFill>
                  <a:schemeClr val="accent4">
                    <a:lumMod val="40000"/>
                    <a:lumOff val="60000"/>
                  </a:schemeClr>
                </a:solidFill>
              </a:rPr>
              <a:t>Discrete convolution:</a:t>
            </a:r>
          </a:p>
        </p:txBody>
      </p:sp>
      <p:pic>
        <p:nvPicPr>
          <p:cNvPr id="7" name="Picture 6">
            <a:extLst>
              <a:ext uri="{FF2B5EF4-FFF2-40B4-BE49-F238E27FC236}">
                <a16:creationId xmlns:a16="http://schemas.microsoft.com/office/drawing/2014/main" id="{B69E5FE4-31B7-D037-E90E-F15E9466017B}"/>
              </a:ext>
            </a:extLst>
          </p:cNvPr>
          <p:cNvPicPr>
            <a:picLocks noChangeAspect="1"/>
          </p:cNvPicPr>
          <p:nvPr/>
        </p:nvPicPr>
        <p:blipFill>
          <a:blip r:embed="rId2"/>
          <a:stretch>
            <a:fillRect/>
          </a:stretch>
        </p:blipFill>
        <p:spPr>
          <a:xfrm>
            <a:off x="3452070" y="477542"/>
            <a:ext cx="3400425" cy="714375"/>
          </a:xfrm>
          <a:prstGeom prst="rect">
            <a:avLst/>
          </a:prstGeom>
        </p:spPr>
      </p:pic>
      <p:pic>
        <p:nvPicPr>
          <p:cNvPr id="11" name="Picture 10">
            <a:extLst>
              <a:ext uri="{FF2B5EF4-FFF2-40B4-BE49-F238E27FC236}">
                <a16:creationId xmlns:a16="http://schemas.microsoft.com/office/drawing/2014/main" id="{C1DB6134-FE03-6159-BD2D-FB5D6317BE31}"/>
              </a:ext>
            </a:extLst>
          </p:cNvPr>
          <p:cNvPicPr>
            <a:picLocks noChangeAspect="1"/>
          </p:cNvPicPr>
          <p:nvPr/>
        </p:nvPicPr>
        <p:blipFill>
          <a:blip r:embed="rId3"/>
          <a:stretch>
            <a:fillRect/>
          </a:stretch>
        </p:blipFill>
        <p:spPr>
          <a:xfrm>
            <a:off x="692092" y="1728251"/>
            <a:ext cx="7905750" cy="3209925"/>
          </a:xfrm>
          <a:prstGeom prst="rect">
            <a:avLst/>
          </a:prstGeom>
        </p:spPr>
      </p:pic>
      <p:sp>
        <p:nvSpPr>
          <p:cNvPr id="13" name="TextBox 12">
            <a:extLst>
              <a:ext uri="{FF2B5EF4-FFF2-40B4-BE49-F238E27FC236}">
                <a16:creationId xmlns:a16="http://schemas.microsoft.com/office/drawing/2014/main" id="{E3D5C7BC-76FF-B6B6-1A89-048F847B2E58}"/>
              </a:ext>
            </a:extLst>
          </p:cNvPr>
          <p:cNvSpPr txBox="1"/>
          <p:nvPr/>
        </p:nvSpPr>
        <p:spPr>
          <a:xfrm>
            <a:off x="908108" y="5105178"/>
            <a:ext cx="6094602" cy="369332"/>
          </a:xfrm>
          <a:prstGeom prst="rect">
            <a:avLst/>
          </a:prstGeom>
          <a:noFill/>
        </p:spPr>
        <p:txBody>
          <a:bodyPr wrap="square">
            <a:spAutoFit/>
          </a:bodyPr>
          <a:lstStyle/>
          <a:p>
            <a:r>
              <a:rPr lang="en-US" dirty="0">
                <a:solidFill>
                  <a:schemeClr val="accent6">
                    <a:lumMod val="60000"/>
                    <a:lumOff val="40000"/>
                  </a:schemeClr>
                </a:solidFill>
              </a:rPr>
              <a:t>Computing the sum of the element-wise product</a:t>
            </a:r>
          </a:p>
        </p:txBody>
      </p:sp>
      <p:sp>
        <p:nvSpPr>
          <p:cNvPr id="15" name="TextBox 14">
            <a:extLst>
              <a:ext uri="{FF2B5EF4-FFF2-40B4-BE49-F238E27FC236}">
                <a16:creationId xmlns:a16="http://schemas.microsoft.com/office/drawing/2014/main" id="{2A4226ED-495A-F2B8-725B-EA8DB8428942}"/>
              </a:ext>
            </a:extLst>
          </p:cNvPr>
          <p:cNvSpPr txBox="1"/>
          <p:nvPr/>
        </p:nvSpPr>
        <p:spPr>
          <a:xfrm>
            <a:off x="7072059" y="697585"/>
            <a:ext cx="6094602" cy="400110"/>
          </a:xfrm>
          <a:prstGeom prst="rect">
            <a:avLst/>
          </a:prstGeom>
          <a:noFill/>
        </p:spPr>
        <p:txBody>
          <a:bodyPr wrap="square">
            <a:spAutoFit/>
          </a:bodyPr>
          <a:lstStyle/>
          <a:p>
            <a:r>
              <a:rPr lang="en-US" sz="2000" dirty="0">
                <a:solidFill>
                  <a:schemeClr val="accent5">
                    <a:lumMod val="60000"/>
                    <a:lumOff val="40000"/>
                  </a:schemeClr>
                </a:solidFill>
              </a:rPr>
              <a:t>3*3 W kernel matrix</a:t>
            </a:r>
          </a:p>
        </p:txBody>
      </p:sp>
      <p:pic>
        <p:nvPicPr>
          <p:cNvPr id="17" name="Picture 16">
            <a:extLst>
              <a:ext uri="{FF2B5EF4-FFF2-40B4-BE49-F238E27FC236}">
                <a16:creationId xmlns:a16="http://schemas.microsoft.com/office/drawing/2014/main" id="{55E920F8-F5B1-C684-341E-06DBD173DE23}"/>
              </a:ext>
            </a:extLst>
          </p:cNvPr>
          <p:cNvPicPr>
            <a:picLocks noChangeAspect="1"/>
          </p:cNvPicPr>
          <p:nvPr/>
        </p:nvPicPr>
        <p:blipFill>
          <a:blip r:embed="rId4"/>
          <a:stretch>
            <a:fillRect/>
          </a:stretch>
        </p:blipFill>
        <p:spPr>
          <a:xfrm>
            <a:off x="9414510" y="435751"/>
            <a:ext cx="1409700" cy="1143000"/>
          </a:xfrm>
          <a:prstGeom prst="rect">
            <a:avLst/>
          </a:prstGeom>
        </p:spPr>
      </p:pic>
      <p:cxnSp>
        <p:nvCxnSpPr>
          <p:cNvPr id="19" name="Straight Arrow Connector 18">
            <a:extLst>
              <a:ext uri="{FF2B5EF4-FFF2-40B4-BE49-F238E27FC236}">
                <a16:creationId xmlns:a16="http://schemas.microsoft.com/office/drawing/2014/main" id="{A0D5FECA-78AB-CE93-55C7-71887A6E3B3F}"/>
              </a:ext>
            </a:extLst>
          </p:cNvPr>
          <p:cNvCxnSpPr/>
          <p:nvPr/>
        </p:nvCxnSpPr>
        <p:spPr>
          <a:xfrm flipV="1">
            <a:off x="7002710" y="1191917"/>
            <a:ext cx="1595132" cy="536334"/>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5DE6F119-08EF-41F9-9963-EF7E2A4DD07A}"/>
              </a:ext>
            </a:extLst>
          </p:cNvPr>
          <p:cNvSpPr txBox="1"/>
          <p:nvPr/>
        </p:nvSpPr>
        <p:spPr>
          <a:xfrm>
            <a:off x="9467044" y="2484249"/>
            <a:ext cx="1666759" cy="1200329"/>
          </a:xfrm>
          <a:prstGeom prst="rect">
            <a:avLst/>
          </a:prstGeom>
          <a:noFill/>
        </p:spPr>
        <p:txBody>
          <a:bodyPr wrap="square" rtlCol="0">
            <a:spAutoFit/>
          </a:bodyPr>
          <a:lstStyle/>
          <a:p>
            <a:r>
              <a:rPr lang="en-US" sz="2400" dirty="0">
                <a:highlight>
                  <a:srgbClr val="FFFFFF"/>
                </a:highlight>
              </a:rPr>
              <a:t>0.0  0.9  0.0</a:t>
            </a:r>
          </a:p>
          <a:p>
            <a:r>
              <a:rPr lang="en-US" sz="2400" dirty="0">
                <a:highlight>
                  <a:srgbClr val="FFFFFF"/>
                </a:highlight>
              </a:rPr>
              <a:t>0.8  0.7  0.8</a:t>
            </a:r>
          </a:p>
          <a:p>
            <a:r>
              <a:rPr lang="en-US" sz="2400" dirty="0">
                <a:highlight>
                  <a:srgbClr val="FFFFFF"/>
                </a:highlight>
              </a:rPr>
              <a:t>0.7  0.6  0.7</a:t>
            </a:r>
          </a:p>
        </p:txBody>
      </p:sp>
      <p:pic>
        <p:nvPicPr>
          <p:cNvPr id="10" name="Picture 9">
            <a:extLst>
              <a:ext uri="{FF2B5EF4-FFF2-40B4-BE49-F238E27FC236}">
                <a16:creationId xmlns:a16="http://schemas.microsoft.com/office/drawing/2014/main" id="{0A5A56DC-DBB8-2686-A13E-1039AA85E8F7}"/>
              </a:ext>
            </a:extLst>
          </p:cNvPr>
          <p:cNvPicPr>
            <a:picLocks noChangeAspect="1"/>
          </p:cNvPicPr>
          <p:nvPr/>
        </p:nvPicPr>
        <p:blipFill>
          <a:blip r:embed="rId5"/>
          <a:srcRect l="-71999" t="-98480" r="140467" b="157866"/>
          <a:stretch>
            <a:fillRect/>
          </a:stretch>
        </p:blipFill>
        <p:spPr>
          <a:xfrm>
            <a:off x="5820697" y="2517058"/>
            <a:ext cx="825909" cy="707923"/>
          </a:xfrm>
          <a:prstGeom prst="rect">
            <a:avLst/>
          </a:prstGeom>
        </p:spPr>
      </p:pic>
      <p:pic>
        <p:nvPicPr>
          <p:cNvPr id="18" name="Picture 17">
            <a:extLst>
              <a:ext uri="{FF2B5EF4-FFF2-40B4-BE49-F238E27FC236}">
                <a16:creationId xmlns:a16="http://schemas.microsoft.com/office/drawing/2014/main" id="{6C5421FC-D5ED-C538-0CD7-54093D28885A}"/>
              </a:ext>
            </a:extLst>
          </p:cNvPr>
          <p:cNvPicPr>
            <a:picLocks noChangeAspect="1"/>
          </p:cNvPicPr>
          <p:nvPr/>
        </p:nvPicPr>
        <p:blipFill>
          <a:blip r:embed="rId5"/>
          <a:srcRect l="37751" r="25883" b="51167"/>
          <a:stretch>
            <a:fillRect/>
          </a:stretch>
        </p:blipFill>
        <p:spPr>
          <a:xfrm>
            <a:off x="9473572" y="4240286"/>
            <a:ext cx="1917290" cy="1713195"/>
          </a:xfrm>
          <a:prstGeom prst="rect">
            <a:avLst/>
          </a:prstGeom>
        </p:spPr>
      </p:pic>
      <p:cxnSp>
        <p:nvCxnSpPr>
          <p:cNvPr id="21" name="Straight Connector 20">
            <a:extLst>
              <a:ext uri="{FF2B5EF4-FFF2-40B4-BE49-F238E27FC236}">
                <a16:creationId xmlns:a16="http://schemas.microsoft.com/office/drawing/2014/main" id="{07DD2552-180D-CC3C-D419-8DA3296773A8}"/>
              </a:ext>
            </a:extLst>
          </p:cNvPr>
          <p:cNvCxnSpPr/>
          <p:nvPr/>
        </p:nvCxnSpPr>
        <p:spPr>
          <a:xfrm>
            <a:off x="9999406" y="2484249"/>
            <a:ext cx="0" cy="1200329"/>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63A72523-1777-1857-4A7C-B01541B76726}"/>
              </a:ext>
            </a:extLst>
          </p:cNvPr>
          <p:cNvCxnSpPr/>
          <p:nvPr/>
        </p:nvCxnSpPr>
        <p:spPr>
          <a:xfrm>
            <a:off x="10559845" y="2517058"/>
            <a:ext cx="0" cy="1071716"/>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FA9D8BC3-924B-A5AA-8EF5-BDC7E55C9A34}"/>
              </a:ext>
            </a:extLst>
          </p:cNvPr>
          <p:cNvCxnSpPr/>
          <p:nvPr/>
        </p:nvCxnSpPr>
        <p:spPr>
          <a:xfrm>
            <a:off x="9547123" y="2871019"/>
            <a:ext cx="1445342" cy="0"/>
          </a:xfrm>
          <a:prstGeom prst="line">
            <a:avLst/>
          </a:prstGeom>
        </p:spPr>
        <p:style>
          <a:lnRef idx="2">
            <a:schemeClr val="dk1"/>
          </a:lnRef>
          <a:fillRef idx="0">
            <a:schemeClr val="dk1"/>
          </a:fillRef>
          <a:effectRef idx="1">
            <a:schemeClr val="dk1"/>
          </a:effectRef>
          <a:fontRef idx="minor">
            <a:schemeClr val="tx1"/>
          </a:fontRef>
        </p:style>
      </p:cxnSp>
      <p:cxnSp>
        <p:nvCxnSpPr>
          <p:cNvPr id="27" name="Straight Connector 26">
            <a:extLst>
              <a:ext uri="{FF2B5EF4-FFF2-40B4-BE49-F238E27FC236}">
                <a16:creationId xmlns:a16="http://schemas.microsoft.com/office/drawing/2014/main" id="{5515E273-F317-D461-D9DF-7C80DD90CCB1}"/>
              </a:ext>
            </a:extLst>
          </p:cNvPr>
          <p:cNvCxnSpPr/>
          <p:nvPr/>
        </p:nvCxnSpPr>
        <p:spPr>
          <a:xfrm>
            <a:off x="9547123" y="3254478"/>
            <a:ext cx="1425678" cy="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p14="http://schemas.microsoft.com/office/powerpoint/2010/main" xmlns:aink="http://schemas.microsoft.com/office/drawing/2016/ink" Requires="p14 aink">
          <p:contentPart p14:bwMode="auto" r:id="rId6">
            <p14:nvContentPartPr>
              <p14:cNvPr id="31" name="Ink 30">
                <a:extLst>
                  <a:ext uri="{FF2B5EF4-FFF2-40B4-BE49-F238E27FC236}">
                    <a16:creationId xmlns:a16="http://schemas.microsoft.com/office/drawing/2014/main" id="{F8763DC1-8A91-2E23-C805-B0FDF462E73E}"/>
                  </a:ext>
                </a:extLst>
              </p14:cNvPr>
              <p14:cNvContentPartPr/>
              <p14:nvPr/>
            </p14:nvContentPartPr>
            <p14:xfrm>
              <a:off x="9764257" y="2546148"/>
              <a:ext cx="1347480" cy="993960"/>
            </p14:xfrm>
          </p:contentPart>
        </mc:Choice>
        <mc:Fallback>
          <p:pic>
            <p:nvPicPr>
              <p:cNvPr id="31" name="Ink 30">
                <a:extLst>
                  <a:ext uri="{FF2B5EF4-FFF2-40B4-BE49-F238E27FC236}">
                    <a16:creationId xmlns:a16="http://schemas.microsoft.com/office/drawing/2014/main" id="{F8763DC1-8A91-2E23-C805-B0FDF462E73E}"/>
                  </a:ext>
                </a:extLst>
              </p:cNvPr>
              <p:cNvPicPr/>
              <p:nvPr/>
            </p:nvPicPr>
            <p:blipFill>
              <a:blip r:embed="rId7"/>
              <a:stretch>
                <a:fillRect/>
              </a:stretch>
            </p:blipFill>
            <p:spPr>
              <a:xfrm>
                <a:off x="9701257" y="2168508"/>
                <a:ext cx="1473120" cy="1749600"/>
              </a:xfrm>
              <a:prstGeom prst="rect">
                <a:avLst/>
              </a:prstGeom>
            </p:spPr>
          </p:pic>
        </mc:Fallback>
      </mc:AlternateContent>
      <p:grpSp>
        <p:nvGrpSpPr>
          <p:cNvPr id="35" name="Group 34">
            <a:extLst>
              <a:ext uri="{FF2B5EF4-FFF2-40B4-BE49-F238E27FC236}">
                <a16:creationId xmlns:a16="http://schemas.microsoft.com/office/drawing/2014/main" id="{AE8B549C-A32B-8BBB-F74C-0770762A2CD4}"/>
              </a:ext>
            </a:extLst>
          </p:cNvPr>
          <p:cNvGrpSpPr/>
          <p:nvPr/>
        </p:nvGrpSpPr>
        <p:grpSpPr>
          <a:xfrm>
            <a:off x="9584977" y="3674028"/>
            <a:ext cx="1566000" cy="1764000"/>
            <a:chOff x="9584977" y="3674028"/>
            <a:chExt cx="1566000" cy="1764000"/>
          </a:xfrm>
        </p:grpSpPr>
        <mc:AlternateContent xmlns:mc="http://schemas.openxmlformats.org/markup-compatibility/2006">
          <mc:Choice xmlns:p14="http://schemas.microsoft.com/office/powerpoint/2010/main" Requires="p14">
            <p:contentPart p14:bwMode="auto" r:id="rId8">
              <p14:nvContentPartPr>
                <p14:cNvPr id="33" name="Ink 32">
                  <a:extLst>
                    <a:ext uri="{FF2B5EF4-FFF2-40B4-BE49-F238E27FC236}">
                      <a16:creationId xmlns:a16="http://schemas.microsoft.com/office/drawing/2014/main" id="{D1339D5F-DD0F-CC9B-8CF6-7606430FBFA8}"/>
                    </a:ext>
                  </a:extLst>
                </p14:cNvPr>
                <p14:cNvContentPartPr/>
                <p14:nvPr/>
              </p14:nvContentPartPr>
              <p14:xfrm>
                <a:off x="9584977" y="4176588"/>
                <a:ext cx="1566000" cy="1261440"/>
              </p14:xfrm>
            </p:contentPart>
          </mc:Choice>
          <mc:Fallback>
            <p:pic>
              <p:nvPicPr>
                <p:cNvPr id="33" name="Ink 32">
                  <a:extLst>
                    <a:ext uri="{FF2B5EF4-FFF2-40B4-BE49-F238E27FC236}">
                      <a16:creationId xmlns:a16="http://schemas.microsoft.com/office/drawing/2014/main" id="{D1339D5F-DD0F-CC9B-8CF6-7606430FBFA8}"/>
                    </a:ext>
                  </a:extLst>
                </p:cNvPr>
                <p:cNvPicPr/>
                <p:nvPr/>
              </p:nvPicPr>
              <p:blipFill>
                <a:blip r:embed="rId9"/>
                <a:stretch>
                  <a:fillRect/>
                </a:stretch>
              </p:blipFill>
              <p:spPr>
                <a:xfrm>
                  <a:off x="9578857" y="4170468"/>
                  <a:ext cx="1578240" cy="12736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4" name="Ink 33">
                  <a:extLst>
                    <a:ext uri="{FF2B5EF4-FFF2-40B4-BE49-F238E27FC236}">
                      <a16:creationId xmlns:a16="http://schemas.microsoft.com/office/drawing/2014/main" id="{8AB92EAB-1C40-A285-1D7D-FF30F4BC60F9}"/>
                    </a:ext>
                  </a:extLst>
                </p14:cNvPr>
                <p14:cNvContentPartPr/>
                <p14:nvPr/>
              </p14:nvContentPartPr>
              <p14:xfrm>
                <a:off x="9621337" y="3674028"/>
                <a:ext cx="253440" cy="524520"/>
              </p14:xfrm>
            </p:contentPart>
          </mc:Choice>
          <mc:Fallback>
            <p:pic>
              <p:nvPicPr>
                <p:cNvPr id="34" name="Ink 33">
                  <a:extLst>
                    <a:ext uri="{FF2B5EF4-FFF2-40B4-BE49-F238E27FC236}">
                      <a16:creationId xmlns:a16="http://schemas.microsoft.com/office/drawing/2014/main" id="{8AB92EAB-1C40-A285-1D7D-FF30F4BC60F9}"/>
                    </a:ext>
                  </a:extLst>
                </p:cNvPr>
                <p:cNvPicPr/>
                <p:nvPr/>
              </p:nvPicPr>
              <p:blipFill>
                <a:blip r:embed="rId11"/>
                <a:stretch>
                  <a:fillRect/>
                </a:stretch>
              </p:blipFill>
              <p:spPr>
                <a:xfrm>
                  <a:off x="9615217" y="3667908"/>
                  <a:ext cx="265680" cy="536760"/>
                </a:xfrm>
                <a:prstGeom prst="rect">
                  <a:avLst/>
                </a:prstGeom>
              </p:spPr>
            </p:pic>
          </mc:Fallback>
        </mc:AlternateContent>
      </p:grpSp>
    </p:spTree>
    <p:extLst>
      <p:ext uri="{BB962C8B-B14F-4D97-AF65-F5344CB8AC3E}">
        <p14:creationId xmlns:p14="http://schemas.microsoft.com/office/powerpoint/2010/main" val="1293485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9E4F1-5A97-DA34-5E0C-B66B095C2947}"/>
              </a:ext>
            </a:extLst>
          </p:cNvPr>
          <p:cNvSpPr>
            <a:spLocks noGrp="1"/>
          </p:cNvSpPr>
          <p:nvPr>
            <p:ph type="title"/>
          </p:nvPr>
        </p:nvSpPr>
        <p:spPr/>
        <p:txBody>
          <a:bodyPr/>
          <a:lstStyle/>
          <a:p>
            <a:r>
              <a:rPr lang="en-US" dirty="0">
                <a:solidFill>
                  <a:schemeClr val="accent4">
                    <a:lumMod val="60000"/>
                    <a:lumOff val="40000"/>
                  </a:schemeClr>
                </a:solidFill>
              </a:rPr>
              <a:t>CNN for Medical Imaging Diagnostic </a:t>
            </a:r>
          </a:p>
        </p:txBody>
      </p:sp>
      <p:pic>
        <p:nvPicPr>
          <p:cNvPr id="5" name="Picture 4">
            <a:extLst>
              <a:ext uri="{FF2B5EF4-FFF2-40B4-BE49-F238E27FC236}">
                <a16:creationId xmlns:a16="http://schemas.microsoft.com/office/drawing/2014/main" id="{39882C92-0924-DB8A-9911-1D99F341CE0D}"/>
              </a:ext>
            </a:extLst>
          </p:cNvPr>
          <p:cNvPicPr>
            <a:picLocks noChangeAspect="1"/>
          </p:cNvPicPr>
          <p:nvPr/>
        </p:nvPicPr>
        <p:blipFill>
          <a:blip r:embed="rId2"/>
          <a:stretch>
            <a:fillRect/>
          </a:stretch>
        </p:blipFill>
        <p:spPr>
          <a:xfrm>
            <a:off x="7866085" y="1733475"/>
            <a:ext cx="3342396" cy="3068572"/>
          </a:xfrm>
          <a:prstGeom prst="rect">
            <a:avLst/>
          </a:prstGeom>
        </p:spPr>
      </p:pic>
      <p:sp>
        <p:nvSpPr>
          <p:cNvPr id="7" name="TextBox 6">
            <a:extLst>
              <a:ext uri="{FF2B5EF4-FFF2-40B4-BE49-F238E27FC236}">
                <a16:creationId xmlns:a16="http://schemas.microsoft.com/office/drawing/2014/main" id="{30BBB16C-CB9D-CCB9-6E8A-CC0F6A2B7D29}"/>
              </a:ext>
            </a:extLst>
          </p:cNvPr>
          <p:cNvSpPr txBox="1"/>
          <p:nvPr/>
        </p:nvSpPr>
        <p:spPr>
          <a:xfrm>
            <a:off x="189421" y="5073500"/>
            <a:ext cx="7699005" cy="1815882"/>
          </a:xfrm>
          <a:prstGeom prst="rect">
            <a:avLst/>
          </a:prstGeom>
          <a:noFill/>
        </p:spPr>
        <p:txBody>
          <a:bodyPr wrap="square">
            <a:spAutoFit/>
          </a:bodyPr>
          <a:lstStyle/>
          <a:p>
            <a:r>
              <a:rPr lang="en-US" sz="2800" i="1" u="sng" dirty="0">
                <a:solidFill>
                  <a:schemeClr val="accent2">
                    <a:lumMod val="60000"/>
                    <a:lumOff val="40000"/>
                  </a:schemeClr>
                </a:solidFill>
                <a:hlinkClick r:id="rId3">
                  <a:extLst>
                    <a:ext uri="{A12FA001-AC4F-418D-AE19-62706E023703}">
                      <ahyp:hlinkClr xmlns:ahyp="http://schemas.microsoft.com/office/drawing/2018/hyperlinkcolor" val="tx"/>
                    </a:ext>
                  </a:extLst>
                </a:hlinkClick>
              </a:rPr>
              <a:t>https://doi.org/10.3390/electronics11111775</a:t>
            </a:r>
            <a:endParaRPr lang="en-US" sz="2800" i="1" u="sng" dirty="0">
              <a:solidFill>
                <a:schemeClr val="accent2">
                  <a:lumMod val="60000"/>
                  <a:lumOff val="40000"/>
                </a:schemeClr>
              </a:solidFill>
            </a:endParaRPr>
          </a:p>
          <a:p>
            <a:r>
              <a:rPr lang="en-US" sz="2800" b="1" dirty="0">
                <a:solidFill>
                  <a:schemeClr val="accent2">
                    <a:lumMod val="60000"/>
                    <a:lumOff val="40000"/>
                  </a:schemeClr>
                </a:solidFill>
              </a:rPr>
              <a:t>CXAI: Explaining Convolutional Neural Networks for Medical Imaging Diagnostic</a:t>
            </a:r>
          </a:p>
          <a:p>
            <a:endParaRPr lang="en-US" sz="2800" i="1" u="sng" dirty="0">
              <a:solidFill>
                <a:schemeClr val="accent2">
                  <a:lumMod val="60000"/>
                  <a:lumOff val="40000"/>
                </a:schemeClr>
              </a:solidFill>
            </a:endParaRPr>
          </a:p>
        </p:txBody>
      </p:sp>
      <p:pic>
        <p:nvPicPr>
          <p:cNvPr id="9" name="Picture 8">
            <a:extLst>
              <a:ext uri="{FF2B5EF4-FFF2-40B4-BE49-F238E27FC236}">
                <a16:creationId xmlns:a16="http://schemas.microsoft.com/office/drawing/2014/main" id="{437ED2D1-CF4B-5200-18A5-80A929335855}"/>
              </a:ext>
            </a:extLst>
          </p:cNvPr>
          <p:cNvPicPr>
            <a:picLocks noChangeAspect="1"/>
          </p:cNvPicPr>
          <p:nvPr/>
        </p:nvPicPr>
        <p:blipFill>
          <a:blip r:embed="rId4"/>
          <a:srcRect l="1278" t="20124" r="87169" b="39326"/>
          <a:stretch>
            <a:fillRect/>
          </a:stretch>
        </p:blipFill>
        <p:spPr>
          <a:xfrm>
            <a:off x="5803023" y="1850079"/>
            <a:ext cx="1651986" cy="2576493"/>
          </a:xfrm>
          <a:prstGeom prst="rect">
            <a:avLst/>
          </a:prstGeom>
        </p:spPr>
      </p:pic>
      <p:sp>
        <p:nvSpPr>
          <p:cNvPr id="10" name="TextBox 9">
            <a:extLst>
              <a:ext uri="{FF2B5EF4-FFF2-40B4-BE49-F238E27FC236}">
                <a16:creationId xmlns:a16="http://schemas.microsoft.com/office/drawing/2014/main" id="{E0FB3288-AA5A-1413-C1FA-289611F430A9}"/>
              </a:ext>
            </a:extLst>
          </p:cNvPr>
          <p:cNvSpPr txBox="1"/>
          <p:nvPr/>
        </p:nvSpPr>
        <p:spPr>
          <a:xfrm rot="10800000" flipV="1">
            <a:off x="364759" y="1690688"/>
            <a:ext cx="5547279" cy="923330"/>
          </a:xfrm>
          <a:prstGeom prst="rect">
            <a:avLst/>
          </a:prstGeom>
          <a:noFill/>
        </p:spPr>
        <p:txBody>
          <a:bodyPr wrap="square" rtlCol="0">
            <a:spAutoFit/>
          </a:bodyPr>
          <a:lstStyle/>
          <a:p>
            <a:r>
              <a:rPr lang="en-US" dirty="0">
                <a:solidFill>
                  <a:schemeClr val="accent6"/>
                </a:solidFill>
              </a:rPr>
              <a:t>This paper is useful because it does not only describe how CNNs classify medical images, but also how we can explain their decisions.</a:t>
            </a:r>
          </a:p>
        </p:txBody>
      </p:sp>
      <p:sp>
        <p:nvSpPr>
          <p:cNvPr id="12" name="TextBox 11">
            <a:extLst>
              <a:ext uri="{FF2B5EF4-FFF2-40B4-BE49-F238E27FC236}">
                <a16:creationId xmlns:a16="http://schemas.microsoft.com/office/drawing/2014/main" id="{AC286592-324D-9AD4-83DC-A5F50E9ED465}"/>
              </a:ext>
            </a:extLst>
          </p:cNvPr>
          <p:cNvSpPr txBox="1"/>
          <p:nvPr/>
        </p:nvSpPr>
        <p:spPr>
          <a:xfrm>
            <a:off x="364759" y="2885472"/>
            <a:ext cx="5296979" cy="671367"/>
          </a:xfrm>
          <a:prstGeom prst="rect">
            <a:avLst/>
          </a:prstGeom>
          <a:noFill/>
        </p:spPr>
        <p:txBody>
          <a:bodyPr wrap="square">
            <a:spAutoFit/>
          </a:bodyPr>
          <a:lstStyle/>
          <a:p>
            <a:r>
              <a:rPr lang="en-US" dirty="0">
                <a:solidFill>
                  <a:schemeClr val="accent5"/>
                </a:solidFill>
              </a:rPr>
              <a:t>making CNN-based medical diagnosis more transparent and clinically trustworthy.</a:t>
            </a:r>
          </a:p>
        </p:txBody>
      </p:sp>
    </p:spTree>
    <p:extLst>
      <p:ext uri="{BB962C8B-B14F-4D97-AF65-F5344CB8AC3E}">
        <p14:creationId xmlns:p14="http://schemas.microsoft.com/office/powerpoint/2010/main" val="2613188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3884E0-FC19-425F-9294-261BEBF2CEF9}"/>
              </a:ext>
            </a:extLst>
          </p:cNvPr>
          <p:cNvPicPr>
            <a:picLocks noChangeAspect="1"/>
          </p:cNvPicPr>
          <p:nvPr/>
        </p:nvPicPr>
        <p:blipFill>
          <a:blip r:embed="rId2"/>
          <a:stretch>
            <a:fillRect/>
          </a:stretch>
        </p:blipFill>
        <p:spPr>
          <a:xfrm>
            <a:off x="14400" y="409589"/>
            <a:ext cx="12177600" cy="5413618"/>
          </a:xfrm>
          <a:prstGeom prst="rect">
            <a:avLst/>
          </a:prstGeom>
        </p:spPr>
      </p:pic>
    </p:spTree>
    <p:extLst>
      <p:ext uri="{BB962C8B-B14F-4D97-AF65-F5344CB8AC3E}">
        <p14:creationId xmlns:p14="http://schemas.microsoft.com/office/powerpoint/2010/main" val="2149536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DE284-AA59-A517-5F5C-86164884218C}"/>
              </a:ext>
            </a:extLst>
          </p:cNvPr>
          <p:cNvSpPr>
            <a:spLocks noGrp="1"/>
          </p:cNvSpPr>
          <p:nvPr>
            <p:ph type="title"/>
          </p:nvPr>
        </p:nvSpPr>
        <p:spPr/>
        <p:txBody>
          <a:bodyPr/>
          <a:lstStyle/>
          <a:p>
            <a:r>
              <a:rPr lang="en-US" b="1" dirty="0">
                <a:solidFill>
                  <a:schemeClr val="accent1">
                    <a:lumMod val="60000"/>
                    <a:lumOff val="40000"/>
                  </a:schemeClr>
                </a:solidFill>
              </a:rPr>
              <a:t>Example Models Used in Medicine</a:t>
            </a:r>
            <a:br>
              <a:rPr lang="en-US" b="1" dirty="0"/>
            </a:br>
            <a:endParaRPr lang="en-US" dirty="0"/>
          </a:p>
        </p:txBody>
      </p:sp>
      <p:sp>
        <p:nvSpPr>
          <p:cNvPr id="3" name="Content Placeholder 2">
            <a:extLst>
              <a:ext uri="{FF2B5EF4-FFF2-40B4-BE49-F238E27FC236}">
                <a16:creationId xmlns:a16="http://schemas.microsoft.com/office/drawing/2014/main" id="{F61F6C06-BBB5-F0D9-7FA0-C584199E3356}"/>
              </a:ext>
            </a:extLst>
          </p:cNvPr>
          <p:cNvSpPr>
            <a:spLocks noGrp="1"/>
          </p:cNvSpPr>
          <p:nvPr>
            <p:ph idx="1"/>
          </p:nvPr>
        </p:nvSpPr>
        <p:spPr/>
        <p:txBody>
          <a:bodyPr/>
          <a:lstStyle/>
          <a:p>
            <a:r>
              <a:rPr lang="en-US" b="1" dirty="0">
                <a:solidFill>
                  <a:schemeClr val="accent1">
                    <a:lumMod val="20000"/>
                    <a:lumOff val="80000"/>
                  </a:schemeClr>
                </a:solidFill>
              </a:rPr>
              <a:t>Convolutional Neural Networks (CNNs)</a:t>
            </a:r>
            <a:r>
              <a:rPr lang="en-US" dirty="0">
                <a:solidFill>
                  <a:schemeClr val="accent1">
                    <a:lumMod val="20000"/>
                    <a:lumOff val="80000"/>
                  </a:schemeClr>
                </a:solidFill>
              </a:rPr>
              <a:t>: used for medical image analysis such as X-rays, CT scans, MRI, and pathology slides</a:t>
            </a:r>
          </a:p>
          <a:p>
            <a:endParaRPr lang="en-US" dirty="0">
              <a:solidFill>
                <a:schemeClr val="accent1">
                  <a:lumMod val="20000"/>
                  <a:lumOff val="80000"/>
                </a:schemeClr>
              </a:solidFill>
            </a:endParaRPr>
          </a:p>
          <a:p>
            <a:r>
              <a:rPr lang="en-US" b="1" dirty="0">
                <a:solidFill>
                  <a:schemeClr val="accent1">
                    <a:lumMod val="20000"/>
                    <a:lumOff val="80000"/>
                  </a:schemeClr>
                </a:solidFill>
              </a:rPr>
              <a:t>Recurrent Neural Networks (RNNs) / LSTMs</a:t>
            </a:r>
            <a:r>
              <a:rPr lang="en-US" dirty="0">
                <a:solidFill>
                  <a:schemeClr val="accent1">
                    <a:lumMod val="20000"/>
                    <a:lumOff val="80000"/>
                  </a:schemeClr>
                </a:solidFill>
              </a:rPr>
              <a:t>: used for time-series medical data such as ECG, EEG, and patient monitoring signals</a:t>
            </a:r>
          </a:p>
          <a:p>
            <a:endParaRPr lang="en-US" dirty="0">
              <a:solidFill>
                <a:schemeClr val="accent1">
                  <a:lumMod val="20000"/>
                  <a:lumOff val="80000"/>
                </a:schemeClr>
              </a:solidFill>
            </a:endParaRPr>
          </a:p>
          <a:p>
            <a:r>
              <a:rPr lang="en-US" b="1" dirty="0">
                <a:solidFill>
                  <a:schemeClr val="accent1">
                    <a:lumMod val="20000"/>
                    <a:lumOff val="80000"/>
                  </a:schemeClr>
                </a:solidFill>
              </a:rPr>
              <a:t>Autoencoders</a:t>
            </a:r>
            <a:r>
              <a:rPr lang="en-US" dirty="0">
                <a:solidFill>
                  <a:schemeClr val="accent1">
                    <a:lumMod val="20000"/>
                    <a:lumOff val="80000"/>
                  </a:schemeClr>
                </a:solidFill>
              </a:rPr>
              <a:t>: used for anomaly detection, feature extraction, and medical data compression</a:t>
            </a:r>
          </a:p>
        </p:txBody>
      </p:sp>
    </p:spTree>
    <p:extLst>
      <p:ext uri="{BB962C8B-B14F-4D97-AF65-F5344CB8AC3E}">
        <p14:creationId xmlns:p14="http://schemas.microsoft.com/office/powerpoint/2010/main" val="462537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5FC93-C317-A232-712E-43749E6C1574}"/>
              </a:ext>
            </a:extLst>
          </p:cNvPr>
          <p:cNvSpPr>
            <a:spLocks noGrp="1"/>
          </p:cNvSpPr>
          <p:nvPr>
            <p:ph type="title"/>
          </p:nvPr>
        </p:nvSpPr>
        <p:spPr/>
        <p:txBody>
          <a:bodyPr/>
          <a:lstStyle/>
          <a:p>
            <a:r>
              <a:rPr lang="en-US" b="1" dirty="0">
                <a:solidFill>
                  <a:schemeClr val="accent4">
                    <a:lumMod val="75000"/>
                  </a:schemeClr>
                </a:solidFill>
              </a:rPr>
              <a:t>How We Evaluate AI in Healthcare:</a:t>
            </a:r>
            <a:br>
              <a:rPr lang="en-US" b="1" dirty="0">
                <a:solidFill>
                  <a:schemeClr val="accent4">
                    <a:lumMod val="60000"/>
                    <a:lumOff val="40000"/>
                  </a:schemeClr>
                </a:solidFill>
              </a:rPr>
            </a:br>
            <a:endParaRPr lang="en-US" dirty="0">
              <a:solidFill>
                <a:schemeClr val="accent4">
                  <a:lumMod val="60000"/>
                  <a:lumOff val="40000"/>
                </a:schemeClr>
              </a:solidFill>
            </a:endParaRPr>
          </a:p>
        </p:txBody>
      </p:sp>
      <p:sp>
        <p:nvSpPr>
          <p:cNvPr id="4" name="TextBox 3">
            <a:extLst>
              <a:ext uri="{FF2B5EF4-FFF2-40B4-BE49-F238E27FC236}">
                <a16:creationId xmlns:a16="http://schemas.microsoft.com/office/drawing/2014/main" id="{DC4E6261-D099-4109-EB10-4C4759F01223}"/>
              </a:ext>
            </a:extLst>
          </p:cNvPr>
          <p:cNvSpPr txBox="1"/>
          <p:nvPr/>
        </p:nvSpPr>
        <p:spPr>
          <a:xfrm>
            <a:off x="838200" y="2370089"/>
            <a:ext cx="5603858" cy="1015663"/>
          </a:xfrm>
          <a:prstGeom prst="rect">
            <a:avLst/>
          </a:prstGeom>
          <a:noFill/>
        </p:spPr>
        <p:txBody>
          <a:bodyPr wrap="square" rtlCol="0">
            <a:spAutoFit/>
          </a:bodyPr>
          <a:lstStyle/>
          <a:p>
            <a:r>
              <a:rPr lang="en-US" sz="2000" dirty="0">
                <a:solidFill>
                  <a:schemeClr val="accent4">
                    <a:lumMod val="40000"/>
                    <a:lumOff val="60000"/>
                  </a:schemeClr>
                </a:solidFill>
              </a:rPr>
              <a:t>We must measure not only accuracy, but also reliability, fairness, clinical usefulness, and performance on real-world data.</a:t>
            </a:r>
          </a:p>
        </p:txBody>
      </p:sp>
      <p:sp>
        <p:nvSpPr>
          <p:cNvPr id="6" name="TextBox 5">
            <a:extLst>
              <a:ext uri="{FF2B5EF4-FFF2-40B4-BE49-F238E27FC236}">
                <a16:creationId xmlns:a16="http://schemas.microsoft.com/office/drawing/2014/main" id="{6664ABAA-4B1E-AEBB-05EC-9069F04C772D}"/>
              </a:ext>
            </a:extLst>
          </p:cNvPr>
          <p:cNvSpPr txBox="1"/>
          <p:nvPr/>
        </p:nvSpPr>
        <p:spPr>
          <a:xfrm>
            <a:off x="838200" y="1280675"/>
            <a:ext cx="6096000" cy="1015663"/>
          </a:xfrm>
          <a:prstGeom prst="rect">
            <a:avLst/>
          </a:prstGeom>
          <a:noFill/>
        </p:spPr>
        <p:txBody>
          <a:bodyPr wrap="square">
            <a:spAutoFit/>
          </a:bodyPr>
          <a:lstStyle/>
          <a:p>
            <a:r>
              <a:rPr lang="en-US" sz="2000" dirty="0">
                <a:solidFill>
                  <a:schemeClr val="accent4">
                    <a:lumMod val="60000"/>
                    <a:lumOff val="40000"/>
                  </a:schemeClr>
                </a:solidFill>
              </a:rPr>
              <a:t>In healthcare, evaluation matters more than in many other fields because mistakes can directly affect diagnosis, treatment, and patient safety.</a:t>
            </a:r>
          </a:p>
        </p:txBody>
      </p:sp>
      <p:sp>
        <p:nvSpPr>
          <p:cNvPr id="7" name="TextBox 6">
            <a:extLst>
              <a:ext uri="{FF2B5EF4-FFF2-40B4-BE49-F238E27FC236}">
                <a16:creationId xmlns:a16="http://schemas.microsoft.com/office/drawing/2014/main" id="{B7C77565-844C-84AF-0066-57E110E5F4CB}"/>
              </a:ext>
            </a:extLst>
          </p:cNvPr>
          <p:cNvSpPr txBox="1"/>
          <p:nvPr/>
        </p:nvSpPr>
        <p:spPr>
          <a:xfrm>
            <a:off x="1231491" y="3629128"/>
            <a:ext cx="3136490" cy="707886"/>
          </a:xfrm>
          <a:prstGeom prst="rect">
            <a:avLst/>
          </a:prstGeom>
          <a:noFill/>
        </p:spPr>
        <p:txBody>
          <a:bodyPr wrap="square" rtlCol="0">
            <a:spAutoFit/>
          </a:bodyPr>
          <a:lstStyle/>
          <a:p>
            <a:r>
              <a:rPr lang="en-US" sz="2000" dirty="0">
                <a:solidFill>
                  <a:schemeClr val="accent4">
                    <a:lumMod val="20000"/>
                    <a:lumOff val="80000"/>
                  </a:schemeClr>
                </a:solidFill>
              </a:rPr>
              <a:t>A strong healthcare AI evaluation usually includes:</a:t>
            </a:r>
          </a:p>
        </p:txBody>
      </p:sp>
      <p:sp>
        <p:nvSpPr>
          <p:cNvPr id="10" name="TextBox 9">
            <a:extLst>
              <a:ext uri="{FF2B5EF4-FFF2-40B4-BE49-F238E27FC236}">
                <a16:creationId xmlns:a16="http://schemas.microsoft.com/office/drawing/2014/main" id="{E9DA26D5-B5E6-3E8C-CFA6-4C1510C508F9}"/>
              </a:ext>
            </a:extLst>
          </p:cNvPr>
          <p:cNvSpPr txBox="1"/>
          <p:nvPr/>
        </p:nvSpPr>
        <p:spPr>
          <a:xfrm>
            <a:off x="1231491" y="4337014"/>
            <a:ext cx="13761118"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accent5">
                    <a:lumMod val="20000"/>
                    <a:lumOff val="80000"/>
                  </a:schemeClr>
                </a:solidFill>
              </a:rPr>
              <a:t>Performance metrics</a:t>
            </a:r>
            <a:r>
              <a:rPr lang="en-US" dirty="0">
                <a:solidFill>
                  <a:schemeClr val="accent5">
                    <a:lumMod val="20000"/>
                    <a:lumOff val="80000"/>
                  </a:schemeClr>
                </a:solidFill>
              </a:rPr>
              <a:t> : accuracy, sensitivity, specificity, precision, recall, F1-score, AUC</a:t>
            </a:r>
            <a:endParaRPr lang="en-US" b="1" dirty="0">
              <a:solidFill>
                <a:schemeClr val="accent5">
                  <a:lumMod val="20000"/>
                  <a:lumOff val="80000"/>
                </a:schemeClr>
              </a:solidFill>
            </a:endParaRPr>
          </a:p>
          <a:p>
            <a:pPr marL="285750" indent="-285750">
              <a:buFont typeface="Arial" panose="020B0604020202020204" pitchFamily="34" charset="0"/>
              <a:buChar char="•"/>
            </a:pPr>
            <a:r>
              <a:rPr lang="en-US" b="1" dirty="0">
                <a:solidFill>
                  <a:schemeClr val="accent5">
                    <a:lumMod val="20000"/>
                    <a:lumOff val="80000"/>
                  </a:schemeClr>
                </a:solidFill>
              </a:rPr>
              <a:t>Clinical relevance</a:t>
            </a:r>
            <a:r>
              <a:rPr lang="en-US" dirty="0">
                <a:solidFill>
                  <a:schemeClr val="accent5">
                    <a:lumMod val="20000"/>
                    <a:lumOff val="80000"/>
                  </a:schemeClr>
                </a:solidFill>
              </a:rPr>
              <a:t>: whether the model helps doctors make better decisions</a:t>
            </a:r>
          </a:p>
          <a:p>
            <a:pPr marL="285750" indent="-285750">
              <a:buFont typeface="Arial" panose="020B0604020202020204" pitchFamily="34" charset="0"/>
              <a:buChar char="•"/>
            </a:pPr>
            <a:r>
              <a:rPr lang="en-US" dirty="0">
                <a:solidFill>
                  <a:schemeClr val="accent5">
                    <a:lumMod val="20000"/>
                    <a:lumOff val="80000"/>
                  </a:schemeClr>
                </a:solidFill>
              </a:rPr>
              <a:t> </a:t>
            </a:r>
            <a:r>
              <a:rPr lang="en-US" b="1" dirty="0">
                <a:solidFill>
                  <a:schemeClr val="accent5">
                    <a:lumMod val="20000"/>
                    <a:lumOff val="80000"/>
                  </a:schemeClr>
                </a:solidFill>
              </a:rPr>
              <a:t>Safety(</a:t>
            </a:r>
            <a:r>
              <a:rPr lang="en-US" dirty="0">
                <a:solidFill>
                  <a:schemeClr val="accent5">
                    <a:lumMod val="20000"/>
                    <a:lumOff val="80000"/>
                  </a:schemeClr>
                </a:solidFill>
              </a:rPr>
              <a:t>whether errors could harm patients</a:t>
            </a:r>
            <a:r>
              <a:rPr lang="en-US" b="1" dirty="0">
                <a:solidFill>
                  <a:schemeClr val="accent5">
                    <a:lumMod val="20000"/>
                    <a:lumOff val="80000"/>
                  </a:schemeClr>
                </a:solidFill>
              </a:rPr>
              <a:t>)</a:t>
            </a:r>
          </a:p>
          <a:p>
            <a:pPr marL="285750" indent="-285750">
              <a:buFont typeface="Arial" panose="020B0604020202020204" pitchFamily="34" charset="0"/>
              <a:buChar char="•"/>
            </a:pPr>
            <a:r>
              <a:rPr lang="en-US" b="1" dirty="0">
                <a:solidFill>
                  <a:schemeClr val="accent5">
                    <a:lumMod val="20000"/>
                    <a:lumOff val="80000"/>
                  </a:schemeClr>
                </a:solidFill>
              </a:rPr>
              <a:t>Fairness</a:t>
            </a:r>
            <a:r>
              <a:rPr lang="en-US" dirty="0">
                <a:solidFill>
                  <a:schemeClr val="accent5">
                    <a:lumMod val="20000"/>
                    <a:lumOff val="80000"/>
                  </a:schemeClr>
                </a:solidFill>
              </a:rPr>
              <a:t>: whether performance is consistent across age, gender, ethnicity, and population groups</a:t>
            </a:r>
          </a:p>
          <a:p>
            <a:pPr marL="285750" indent="-285750">
              <a:buFont typeface="Arial" panose="020B0604020202020204" pitchFamily="34" charset="0"/>
              <a:buChar char="•"/>
            </a:pPr>
            <a:r>
              <a:rPr lang="en-US" b="1" dirty="0">
                <a:solidFill>
                  <a:schemeClr val="accent5">
                    <a:lumMod val="20000"/>
                    <a:lumOff val="80000"/>
                  </a:schemeClr>
                </a:solidFill>
              </a:rPr>
              <a:t>Robustness</a:t>
            </a:r>
            <a:r>
              <a:rPr lang="en-US" dirty="0">
                <a:solidFill>
                  <a:schemeClr val="accent5">
                    <a:lumMod val="20000"/>
                    <a:lumOff val="80000"/>
                  </a:schemeClr>
                </a:solidFill>
              </a:rPr>
              <a:t>: whether the model still works with noisy, incomplete, or different real-world data</a:t>
            </a:r>
          </a:p>
          <a:p>
            <a:pPr marL="285750" indent="-285750">
              <a:buFont typeface="Arial" panose="020B0604020202020204" pitchFamily="34" charset="0"/>
              <a:buChar char="•"/>
            </a:pPr>
            <a:r>
              <a:rPr lang="en-US" b="1" dirty="0">
                <a:solidFill>
                  <a:schemeClr val="accent5">
                    <a:lumMod val="20000"/>
                    <a:lumOff val="80000"/>
                  </a:schemeClr>
                </a:solidFill>
              </a:rPr>
              <a:t>External validation</a:t>
            </a:r>
            <a:r>
              <a:rPr lang="en-US" dirty="0">
                <a:solidFill>
                  <a:schemeClr val="accent5">
                    <a:lumMod val="20000"/>
                    <a:lumOff val="80000"/>
                  </a:schemeClr>
                </a:solidFill>
              </a:rPr>
              <a:t>: whether it performs well on data from other hospitals or populations</a:t>
            </a:r>
          </a:p>
        </p:txBody>
      </p:sp>
    </p:spTree>
    <p:extLst>
      <p:ext uri="{BB962C8B-B14F-4D97-AF65-F5344CB8AC3E}">
        <p14:creationId xmlns:p14="http://schemas.microsoft.com/office/powerpoint/2010/main" val="2014590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BC7D-F3C1-D62B-26F1-D11D540C6DD2}"/>
              </a:ext>
            </a:extLst>
          </p:cNvPr>
          <p:cNvSpPr>
            <a:spLocks noGrp="1"/>
          </p:cNvSpPr>
          <p:nvPr>
            <p:ph type="title"/>
          </p:nvPr>
        </p:nvSpPr>
        <p:spPr>
          <a:xfrm>
            <a:off x="2467897" y="2544762"/>
            <a:ext cx="11481620" cy="1768475"/>
          </a:xfrm>
        </p:spPr>
        <p:txBody>
          <a:bodyPr>
            <a:normAutofit/>
          </a:bodyPr>
          <a:lstStyle/>
          <a:p>
            <a:r>
              <a:rPr lang="en-US" sz="5400" b="1" dirty="0">
                <a:solidFill>
                  <a:schemeClr val="accent4">
                    <a:lumMod val="20000"/>
                    <a:lumOff val="80000"/>
                  </a:schemeClr>
                </a:solidFill>
                <a:effectLst>
                  <a:outerShdw blurRad="38100" dist="38100" dir="2700000" algn="tl">
                    <a:srgbClr val="000000">
                      <a:alpha val="43137"/>
                    </a:srgbClr>
                  </a:outerShdw>
                </a:effectLst>
              </a:rPr>
              <a:t>Let’s look at an example.</a:t>
            </a:r>
          </a:p>
        </p:txBody>
      </p:sp>
    </p:spTree>
    <p:extLst>
      <p:ext uri="{BB962C8B-B14F-4D97-AF65-F5344CB8AC3E}">
        <p14:creationId xmlns:p14="http://schemas.microsoft.com/office/powerpoint/2010/main" val="424294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9BDE6A-3BD7-9235-D0AF-014506929299}"/>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584722" y="-14916"/>
            <a:ext cx="6531845" cy="3074205"/>
          </a:xfrm>
          <a:prstGeom prst="rect">
            <a:avLst/>
          </a:prstGeom>
        </p:spPr>
      </p:pic>
      <p:pic>
        <p:nvPicPr>
          <p:cNvPr id="7" name="Picture 6">
            <a:extLst>
              <a:ext uri="{FF2B5EF4-FFF2-40B4-BE49-F238E27FC236}">
                <a16:creationId xmlns:a16="http://schemas.microsoft.com/office/drawing/2014/main" id="{E06F67AE-27A1-E321-6837-9C009A9F0075}"/>
              </a:ext>
            </a:extLst>
          </p:cNvPr>
          <p:cNvPicPr>
            <a:picLocks noChangeAspect="1"/>
          </p:cNvPicPr>
          <p:nvPr/>
        </p:nvPicPr>
        <p:blipFill>
          <a:blip r:embed="rId3">
            <a:duotone>
              <a:prstClr val="black"/>
              <a:schemeClr val="tx2">
                <a:tint val="45000"/>
                <a:satMod val="400000"/>
              </a:schemeClr>
            </a:duotone>
          </a:blip>
          <a:stretch>
            <a:fillRect/>
          </a:stretch>
        </p:blipFill>
        <p:spPr>
          <a:xfrm>
            <a:off x="10511441" y="3103720"/>
            <a:ext cx="1634306" cy="2446118"/>
          </a:xfrm>
          <a:prstGeom prst="rect">
            <a:avLst/>
          </a:prstGeom>
        </p:spPr>
      </p:pic>
      <p:sp>
        <p:nvSpPr>
          <p:cNvPr id="8" name="TextBox 7">
            <a:extLst>
              <a:ext uri="{FF2B5EF4-FFF2-40B4-BE49-F238E27FC236}">
                <a16:creationId xmlns:a16="http://schemas.microsoft.com/office/drawing/2014/main" id="{C09B601F-8914-45FB-CD2E-978E5E5A5493}"/>
              </a:ext>
            </a:extLst>
          </p:cNvPr>
          <p:cNvSpPr txBox="1"/>
          <p:nvPr/>
        </p:nvSpPr>
        <p:spPr>
          <a:xfrm>
            <a:off x="4859406" y="3116228"/>
            <a:ext cx="6208690" cy="923330"/>
          </a:xfrm>
          <a:prstGeom prst="rect">
            <a:avLst/>
          </a:prstGeom>
          <a:noFill/>
        </p:spPr>
        <p:txBody>
          <a:bodyPr wrap="square" rtlCol="0">
            <a:spAutoFit/>
          </a:bodyPr>
          <a:lstStyle/>
          <a:p>
            <a:r>
              <a:rPr lang="en-US" dirty="0">
                <a:solidFill>
                  <a:schemeClr val="accent4">
                    <a:lumMod val="20000"/>
                    <a:lumOff val="80000"/>
                  </a:schemeClr>
                </a:solidFill>
              </a:rPr>
              <a:t>The dataset consists of several hundred human cell sample records, each of which contains the values of a set of cell characteristics.</a:t>
            </a:r>
          </a:p>
        </p:txBody>
      </p:sp>
      <p:sp>
        <p:nvSpPr>
          <p:cNvPr id="9" name="TextBox 8">
            <a:extLst>
              <a:ext uri="{FF2B5EF4-FFF2-40B4-BE49-F238E27FC236}">
                <a16:creationId xmlns:a16="http://schemas.microsoft.com/office/drawing/2014/main" id="{C06738FF-D613-50CE-6739-627B955E0AF9}"/>
              </a:ext>
            </a:extLst>
          </p:cNvPr>
          <p:cNvSpPr txBox="1"/>
          <p:nvPr/>
        </p:nvSpPr>
        <p:spPr>
          <a:xfrm>
            <a:off x="75433" y="321857"/>
            <a:ext cx="5604387" cy="1200329"/>
          </a:xfrm>
          <a:prstGeom prst="rect">
            <a:avLst/>
          </a:prstGeom>
          <a:noFill/>
        </p:spPr>
        <p:txBody>
          <a:bodyPr wrap="square" rtlCol="0">
            <a:spAutoFit/>
          </a:bodyPr>
          <a:lstStyle/>
          <a:p>
            <a:r>
              <a:rPr lang="en-US" sz="2400" b="1" i="1" dirty="0">
                <a:solidFill>
                  <a:schemeClr val="accent5">
                    <a:lumMod val="40000"/>
                    <a:lumOff val="60000"/>
                  </a:schemeClr>
                </a:solidFill>
              </a:rPr>
              <a:t>Our task is to filter features and make a model to predict whether given sample is Benign or Malignant.</a:t>
            </a:r>
          </a:p>
        </p:txBody>
      </p:sp>
      <p:pic>
        <p:nvPicPr>
          <p:cNvPr id="11" name="Picture 10">
            <a:extLst>
              <a:ext uri="{FF2B5EF4-FFF2-40B4-BE49-F238E27FC236}">
                <a16:creationId xmlns:a16="http://schemas.microsoft.com/office/drawing/2014/main" id="{00C61907-A68A-6CC6-6BEB-BE455608FE4E}"/>
              </a:ext>
            </a:extLst>
          </p:cNvPr>
          <p:cNvPicPr>
            <a:picLocks noChangeAspect="1"/>
          </p:cNvPicPr>
          <p:nvPr/>
        </p:nvPicPr>
        <p:blipFill>
          <a:blip r:embed="rId4">
            <a:duotone>
              <a:prstClr val="black"/>
              <a:schemeClr val="accent2">
                <a:tint val="45000"/>
                <a:satMod val="400000"/>
              </a:schemeClr>
            </a:duotone>
          </a:blip>
          <a:stretch>
            <a:fillRect/>
          </a:stretch>
        </p:blipFill>
        <p:spPr>
          <a:xfrm>
            <a:off x="357138" y="3577893"/>
            <a:ext cx="3609197" cy="2446118"/>
          </a:xfrm>
          <a:prstGeom prst="rect">
            <a:avLst/>
          </a:prstGeom>
        </p:spPr>
      </p:pic>
      <p:sp>
        <p:nvSpPr>
          <p:cNvPr id="12" name="TextBox 11">
            <a:extLst>
              <a:ext uri="{FF2B5EF4-FFF2-40B4-BE49-F238E27FC236}">
                <a16:creationId xmlns:a16="http://schemas.microsoft.com/office/drawing/2014/main" id="{729B3CE8-6A9B-238D-0933-C7EC5A60A5DC}"/>
              </a:ext>
            </a:extLst>
          </p:cNvPr>
          <p:cNvSpPr txBox="1"/>
          <p:nvPr/>
        </p:nvSpPr>
        <p:spPr>
          <a:xfrm>
            <a:off x="191073" y="1772234"/>
            <a:ext cx="4295290" cy="1938992"/>
          </a:xfrm>
          <a:prstGeom prst="rect">
            <a:avLst/>
          </a:prstGeom>
          <a:noFill/>
        </p:spPr>
        <p:txBody>
          <a:bodyPr wrap="square" rtlCol="0">
            <a:spAutoFit/>
          </a:bodyPr>
          <a:lstStyle/>
          <a:p>
            <a:r>
              <a:rPr lang="en-US" sz="2400" dirty="0">
                <a:solidFill>
                  <a:schemeClr val="accent4">
                    <a:lumMod val="20000"/>
                    <a:lumOff val="80000"/>
                  </a:schemeClr>
                </a:solidFill>
              </a:rPr>
              <a:t>We’ll use </a:t>
            </a:r>
            <a:r>
              <a:rPr lang="en-US" sz="2400" b="1" dirty="0">
                <a:solidFill>
                  <a:schemeClr val="accent5">
                    <a:lumMod val="40000"/>
                    <a:lumOff val="60000"/>
                  </a:schemeClr>
                </a:solidFill>
              </a:rPr>
              <a:t>SVM</a:t>
            </a:r>
            <a:r>
              <a:rPr lang="en-US" sz="2400" dirty="0">
                <a:solidFill>
                  <a:schemeClr val="accent4">
                    <a:lumMod val="20000"/>
                    <a:lumOff val="80000"/>
                  </a:schemeClr>
                </a:solidFill>
              </a:rPr>
              <a:t> model</a:t>
            </a:r>
          </a:p>
          <a:p>
            <a:endParaRPr lang="en-US" sz="2400" dirty="0">
              <a:solidFill>
                <a:schemeClr val="accent4">
                  <a:lumMod val="20000"/>
                  <a:lumOff val="80000"/>
                </a:schemeClr>
              </a:solidFill>
            </a:endParaRPr>
          </a:p>
          <a:p>
            <a:r>
              <a:rPr lang="en-US" sz="2400" dirty="0">
                <a:solidFill>
                  <a:schemeClr val="accent4">
                    <a:lumMod val="20000"/>
                    <a:lumOff val="80000"/>
                  </a:schemeClr>
                </a:solidFill>
              </a:rPr>
              <a:t>Our Evaluation technique will be </a:t>
            </a:r>
            <a:r>
              <a:rPr lang="en-US" sz="2400" b="1" dirty="0">
                <a:solidFill>
                  <a:schemeClr val="accent5">
                    <a:lumMod val="40000"/>
                    <a:lumOff val="60000"/>
                  </a:schemeClr>
                </a:solidFill>
              </a:rPr>
              <a:t>Confusion Matrix:</a:t>
            </a:r>
          </a:p>
          <a:p>
            <a:endParaRPr lang="en-US" sz="2400" dirty="0"/>
          </a:p>
        </p:txBody>
      </p:sp>
    </p:spTree>
    <p:extLst>
      <p:ext uri="{BB962C8B-B14F-4D97-AF65-F5344CB8AC3E}">
        <p14:creationId xmlns:p14="http://schemas.microsoft.com/office/powerpoint/2010/main" val="3826853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A84A57A-83DF-A9D8-E7D3-BAC758BD5D7E}"/>
              </a:ext>
            </a:extLst>
          </p:cNvPr>
          <p:cNvSpPr/>
          <p:nvPr/>
        </p:nvSpPr>
        <p:spPr>
          <a:xfrm>
            <a:off x="186814" y="2290099"/>
            <a:ext cx="2900516" cy="144961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B127C88D-6086-40D8-998B-14B08C4019A2}"/>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5761704" y="167149"/>
            <a:ext cx="4925666" cy="4349108"/>
          </a:xfrm>
          <a:prstGeom prst="rect">
            <a:avLst/>
          </a:prstGeom>
        </p:spPr>
      </p:pic>
      <p:sp>
        <p:nvSpPr>
          <p:cNvPr id="9" name="TextBox 8">
            <a:extLst>
              <a:ext uri="{FF2B5EF4-FFF2-40B4-BE49-F238E27FC236}">
                <a16:creationId xmlns:a16="http://schemas.microsoft.com/office/drawing/2014/main" id="{74431F80-9854-9204-6C52-A6557AC0C9F4}"/>
              </a:ext>
            </a:extLst>
          </p:cNvPr>
          <p:cNvSpPr txBox="1"/>
          <p:nvPr/>
        </p:nvSpPr>
        <p:spPr>
          <a:xfrm>
            <a:off x="186813" y="313421"/>
            <a:ext cx="5241563" cy="461665"/>
          </a:xfrm>
          <a:prstGeom prst="rect">
            <a:avLst/>
          </a:prstGeom>
          <a:noFill/>
        </p:spPr>
        <p:txBody>
          <a:bodyPr wrap="none" rtlCol="0">
            <a:spAutoFit/>
          </a:bodyPr>
          <a:lstStyle/>
          <a:p>
            <a:r>
              <a:rPr lang="en-US" sz="2400" dirty="0">
                <a:solidFill>
                  <a:schemeClr val="accent4">
                    <a:lumMod val="20000"/>
                    <a:lumOff val="80000"/>
                  </a:schemeClr>
                </a:solidFill>
              </a:rPr>
              <a:t>Evaluation of our ML model’s prediction:</a:t>
            </a:r>
          </a:p>
        </p:txBody>
      </p:sp>
      <p:sp>
        <p:nvSpPr>
          <p:cNvPr id="15" name="TextBox 14">
            <a:extLst>
              <a:ext uri="{FF2B5EF4-FFF2-40B4-BE49-F238E27FC236}">
                <a16:creationId xmlns:a16="http://schemas.microsoft.com/office/drawing/2014/main" id="{EB92AAC3-2C78-7DE6-CC05-D7372F627830}"/>
              </a:ext>
            </a:extLst>
          </p:cNvPr>
          <p:cNvSpPr txBox="1"/>
          <p:nvPr/>
        </p:nvSpPr>
        <p:spPr>
          <a:xfrm>
            <a:off x="423567" y="843691"/>
            <a:ext cx="4925666" cy="1200329"/>
          </a:xfrm>
          <a:prstGeom prst="rect">
            <a:avLst/>
          </a:prstGeom>
          <a:noFill/>
        </p:spPr>
        <p:txBody>
          <a:bodyPr wrap="square" rtlCol="0">
            <a:spAutoFit/>
          </a:bodyPr>
          <a:lstStyle/>
          <a:p>
            <a:r>
              <a:rPr lang="en-US" sz="2400" dirty="0">
                <a:solidFill>
                  <a:schemeClr val="accent5">
                    <a:lumMod val="20000"/>
                    <a:lumOff val="80000"/>
                  </a:schemeClr>
                </a:solidFill>
              </a:rPr>
              <a:t>“In this case, ‘</a:t>
            </a:r>
            <a:r>
              <a:rPr lang="en-US" sz="2400" b="1" dirty="0">
                <a:solidFill>
                  <a:schemeClr val="accent5">
                    <a:lumMod val="20000"/>
                    <a:lumOff val="80000"/>
                  </a:schemeClr>
                </a:solidFill>
              </a:rPr>
              <a:t>Positive</a:t>
            </a:r>
            <a:r>
              <a:rPr lang="en-US" sz="2400" dirty="0">
                <a:solidFill>
                  <a:schemeClr val="accent5">
                    <a:lumMod val="20000"/>
                    <a:lumOff val="80000"/>
                  </a:schemeClr>
                </a:solidFill>
              </a:rPr>
              <a:t>’ means a </a:t>
            </a:r>
            <a:r>
              <a:rPr lang="en-US" sz="2400" b="1" dirty="0">
                <a:solidFill>
                  <a:schemeClr val="accent5">
                    <a:lumMod val="20000"/>
                    <a:lumOff val="80000"/>
                  </a:schemeClr>
                </a:solidFill>
              </a:rPr>
              <a:t>Malignant</a:t>
            </a:r>
            <a:r>
              <a:rPr lang="en-US" sz="2400" dirty="0">
                <a:solidFill>
                  <a:schemeClr val="accent5">
                    <a:lumMod val="20000"/>
                    <a:lumOff val="80000"/>
                  </a:schemeClr>
                </a:solidFill>
              </a:rPr>
              <a:t> result, which is more clinically important.”</a:t>
            </a:r>
          </a:p>
        </p:txBody>
      </p:sp>
      <p:sp>
        <p:nvSpPr>
          <p:cNvPr id="17" name="TextBox 16">
            <a:extLst>
              <a:ext uri="{FF2B5EF4-FFF2-40B4-BE49-F238E27FC236}">
                <a16:creationId xmlns:a16="http://schemas.microsoft.com/office/drawing/2014/main" id="{3C01154A-D5B9-6B74-B7D5-249CA42E40BD}"/>
              </a:ext>
            </a:extLst>
          </p:cNvPr>
          <p:cNvSpPr txBox="1"/>
          <p:nvPr/>
        </p:nvSpPr>
        <p:spPr>
          <a:xfrm>
            <a:off x="351873" y="2467748"/>
            <a:ext cx="1245406" cy="400110"/>
          </a:xfrm>
          <a:prstGeom prst="rect">
            <a:avLst/>
          </a:prstGeom>
          <a:noFill/>
        </p:spPr>
        <p:txBody>
          <a:bodyPr wrap="none" rtlCol="0">
            <a:spAutoFit/>
          </a:bodyPr>
          <a:lstStyle/>
          <a:p>
            <a:r>
              <a:rPr lang="en-US" sz="2000" dirty="0">
                <a:solidFill>
                  <a:schemeClr val="accent6">
                    <a:lumMod val="60000"/>
                    <a:lumOff val="40000"/>
                  </a:schemeClr>
                </a:solidFill>
              </a:rPr>
              <a:t>Accuracy :</a:t>
            </a:r>
          </a:p>
        </p:txBody>
      </p:sp>
      <p:sp>
        <p:nvSpPr>
          <p:cNvPr id="18" name="TextBox 17">
            <a:extLst>
              <a:ext uri="{FF2B5EF4-FFF2-40B4-BE49-F238E27FC236}">
                <a16:creationId xmlns:a16="http://schemas.microsoft.com/office/drawing/2014/main" id="{BCEDD02F-2C0D-E327-2CF7-C255D68413A6}"/>
              </a:ext>
            </a:extLst>
          </p:cNvPr>
          <p:cNvSpPr txBox="1"/>
          <p:nvPr/>
        </p:nvSpPr>
        <p:spPr>
          <a:xfrm>
            <a:off x="1691148" y="2309929"/>
            <a:ext cx="898003" cy="369332"/>
          </a:xfrm>
          <a:prstGeom prst="rect">
            <a:avLst/>
          </a:prstGeom>
          <a:noFill/>
        </p:spPr>
        <p:txBody>
          <a:bodyPr wrap="none" rtlCol="0">
            <a:spAutoFit/>
          </a:bodyPr>
          <a:lstStyle/>
          <a:p>
            <a:r>
              <a:rPr lang="en-US" dirty="0">
                <a:solidFill>
                  <a:schemeClr val="accent6">
                    <a:lumMod val="60000"/>
                    <a:lumOff val="40000"/>
                  </a:schemeClr>
                </a:solidFill>
              </a:rPr>
              <a:t>TP + TN</a:t>
            </a:r>
          </a:p>
        </p:txBody>
      </p:sp>
      <p:cxnSp>
        <p:nvCxnSpPr>
          <p:cNvPr id="20" name="Straight Connector 19">
            <a:extLst>
              <a:ext uri="{FF2B5EF4-FFF2-40B4-BE49-F238E27FC236}">
                <a16:creationId xmlns:a16="http://schemas.microsoft.com/office/drawing/2014/main" id="{A417C11D-0BDA-EF25-DD4A-FFF2A3F57BF8}"/>
              </a:ext>
            </a:extLst>
          </p:cNvPr>
          <p:cNvCxnSpPr>
            <a:cxnSpLocks/>
          </p:cNvCxnSpPr>
          <p:nvPr/>
        </p:nvCxnSpPr>
        <p:spPr>
          <a:xfrm>
            <a:off x="1691148" y="2667803"/>
            <a:ext cx="1067433" cy="11458"/>
          </a:xfrm>
          <a:prstGeom prst="line">
            <a:avLst/>
          </a:prstGeom>
        </p:spPr>
        <p:style>
          <a:lnRef idx="1">
            <a:schemeClr val="accent6"/>
          </a:lnRef>
          <a:fillRef idx="0">
            <a:schemeClr val="accent6"/>
          </a:fillRef>
          <a:effectRef idx="0">
            <a:schemeClr val="accent6"/>
          </a:effectRef>
          <a:fontRef idx="minor">
            <a:schemeClr val="tx1"/>
          </a:fontRef>
        </p:style>
      </p:cxnSp>
      <p:sp>
        <p:nvSpPr>
          <p:cNvPr id="21" name="TextBox 20">
            <a:extLst>
              <a:ext uri="{FF2B5EF4-FFF2-40B4-BE49-F238E27FC236}">
                <a16:creationId xmlns:a16="http://schemas.microsoft.com/office/drawing/2014/main" id="{F1FD0C9D-EEE2-8C98-54B0-E3FFD048A843}"/>
              </a:ext>
            </a:extLst>
          </p:cNvPr>
          <p:cNvSpPr txBox="1"/>
          <p:nvPr/>
        </p:nvSpPr>
        <p:spPr>
          <a:xfrm>
            <a:off x="1504630" y="2770246"/>
            <a:ext cx="1502334" cy="369332"/>
          </a:xfrm>
          <a:prstGeom prst="rect">
            <a:avLst/>
          </a:prstGeom>
          <a:noFill/>
        </p:spPr>
        <p:txBody>
          <a:bodyPr wrap="none" rtlCol="0">
            <a:spAutoFit/>
          </a:bodyPr>
          <a:lstStyle/>
          <a:p>
            <a:r>
              <a:rPr lang="en-US" dirty="0">
                <a:solidFill>
                  <a:schemeClr val="accent6">
                    <a:lumMod val="60000"/>
                    <a:lumOff val="40000"/>
                  </a:schemeClr>
                </a:solidFill>
              </a:rPr>
              <a:t>TP+TN+FN+FP</a:t>
            </a:r>
          </a:p>
        </p:txBody>
      </p:sp>
      <p:sp>
        <p:nvSpPr>
          <p:cNvPr id="25" name="TextBox 24">
            <a:extLst>
              <a:ext uri="{FF2B5EF4-FFF2-40B4-BE49-F238E27FC236}">
                <a16:creationId xmlns:a16="http://schemas.microsoft.com/office/drawing/2014/main" id="{8CFFD0E8-E8F8-44BE-391E-F31D5DF0C5D7}"/>
              </a:ext>
            </a:extLst>
          </p:cNvPr>
          <p:cNvSpPr txBox="1"/>
          <p:nvPr/>
        </p:nvSpPr>
        <p:spPr>
          <a:xfrm>
            <a:off x="293714" y="3321572"/>
            <a:ext cx="3126944" cy="369332"/>
          </a:xfrm>
          <a:prstGeom prst="rect">
            <a:avLst/>
          </a:prstGeom>
          <a:noFill/>
        </p:spPr>
        <p:txBody>
          <a:bodyPr wrap="square" rtlCol="0">
            <a:spAutoFit/>
          </a:bodyPr>
          <a:lstStyle/>
          <a:p>
            <a:r>
              <a:rPr lang="en-US" dirty="0">
                <a:solidFill>
                  <a:schemeClr val="accent6">
                    <a:lumMod val="60000"/>
                    <a:lumOff val="40000"/>
                  </a:schemeClr>
                </a:solidFill>
              </a:rPr>
              <a:t>=(85+47)/(85+47+5)=96.3%</a:t>
            </a:r>
          </a:p>
        </p:txBody>
      </p:sp>
      <p:sp>
        <p:nvSpPr>
          <p:cNvPr id="28" name="Rectangle 27">
            <a:extLst>
              <a:ext uri="{FF2B5EF4-FFF2-40B4-BE49-F238E27FC236}">
                <a16:creationId xmlns:a16="http://schemas.microsoft.com/office/drawing/2014/main" id="{238B1197-9D82-7A67-CBCE-41358A415D51}"/>
              </a:ext>
            </a:extLst>
          </p:cNvPr>
          <p:cNvSpPr/>
          <p:nvPr/>
        </p:nvSpPr>
        <p:spPr>
          <a:xfrm>
            <a:off x="186813" y="4188542"/>
            <a:ext cx="2900517" cy="144961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F4436EA2-B3EC-8715-C56B-EC45B684D4B3}"/>
              </a:ext>
            </a:extLst>
          </p:cNvPr>
          <p:cNvSpPr txBox="1"/>
          <p:nvPr/>
        </p:nvSpPr>
        <p:spPr>
          <a:xfrm>
            <a:off x="293714" y="4303962"/>
            <a:ext cx="1038874" cy="400110"/>
          </a:xfrm>
          <a:prstGeom prst="rect">
            <a:avLst/>
          </a:prstGeom>
          <a:noFill/>
        </p:spPr>
        <p:txBody>
          <a:bodyPr wrap="none" rtlCol="0">
            <a:spAutoFit/>
          </a:bodyPr>
          <a:lstStyle/>
          <a:p>
            <a:r>
              <a:rPr lang="en-US" sz="2000" dirty="0">
                <a:solidFill>
                  <a:schemeClr val="accent6">
                    <a:lumMod val="60000"/>
                    <a:lumOff val="40000"/>
                  </a:schemeClr>
                </a:solidFill>
              </a:rPr>
              <a:t>Recall :  </a:t>
            </a:r>
            <a:endParaRPr lang="en-US" sz="1600" dirty="0">
              <a:solidFill>
                <a:schemeClr val="accent6">
                  <a:lumMod val="60000"/>
                  <a:lumOff val="40000"/>
                </a:schemeClr>
              </a:solidFill>
            </a:endParaRPr>
          </a:p>
        </p:txBody>
      </p:sp>
      <p:sp>
        <p:nvSpPr>
          <p:cNvPr id="30" name="TextBox 29">
            <a:extLst>
              <a:ext uri="{FF2B5EF4-FFF2-40B4-BE49-F238E27FC236}">
                <a16:creationId xmlns:a16="http://schemas.microsoft.com/office/drawing/2014/main" id="{51030907-0400-ED4B-B3D7-5047ABC7D2A8}"/>
              </a:ext>
            </a:extLst>
          </p:cNvPr>
          <p:cNvSpPr txBox="1"/>
          <p:nvPr/>
        </p:nvSpPr>
        <p:spPr>
          <a:xfrm>
            <a:off x="1389530" y="4160664"/>
            <a:ext cx="415498" cy="369332"/>
          </a:xfrm>
          <a:prstGeom prst="rect">
            <a:avLst/>
          </a:prstGeom>
          <a:noFill/>
        </p:spPr>
        <p:txBody>
          <a:bodyPr wrap="none" rtlCol="0">
            <a:spAutoFit/>
          </a:bodyPr>
          <a:lstStyle/>
          <a:p>
            <a:r>
              <a:rPr lang="en-US" dirty="0">
                <a:solidFill>
                  <a:schemeClr val="accent6">
                    <a:lumMod val="60000"/>
                    <a:lumOff val="40000"/>
                  </a:schemeClr>
                </a:solidFill>
              </a:rPr>
              <a:t>TP</a:t>
            </a:r>
          </a:p>
        </p:txBody>
      </p:sp>
      <p:sp>
        <p:nvSpPr>
          <p:cNvPr id="31" name="TextBox 30">
            <a:extLst>
              <a:ext uri="{FF2B5EF4-FFF2-40B4-BE49-F238E27FC236}">
                <a16:creationId xmlns:a16="http://schemas.microsoft.com/office/drawing/2014/main" id="{19F53A20-BA2B-526A-D01D-786CA5E6F7CA}"/>
              </a:ext>
            </a:extLst>
          </p:cNvPr>
          <p:cNvSpPr txBox="1"/>
          <p:nvPr/>
        </p:nvSpPr>
        <p:spPr>
          <a:xfrm>
            <a:off x="1204382" y="4566246"/>
            <a:ext cx="785793" cy="369332"/>
          </a:xfrm>
          <a:prstGeom prst="rect">
            <a:avLst/>
          </a:prstGeom>
          <a:noFill/>
        </p:spPr>
        <p:txBody>
          <a:bodyPr wrap="none" rtlCol="0">
            <a:spAutoFit/>
          </a:bodyPr>
          <a:lstStyle/>
          <a:p>
            <a:r>
              <a:rPr lang="en-US" dirty="0">
                <a:solidFill>
                  <a:schemeClr val="accent6">
                    <a:lumMod val="60000"/>
                    <a:lumOff val="40000"/>
                  </a:schemeClr>
                </a:solidFill>
              </a:rPr>
              <a:t>TP+FN</a:t>
            </a:r>
          </a:p>
        </p:txBody>
      </p:sp>
      <p:cxnSp>
        <p:nvCxnSpPr>
          <p:cNvPr id="33" name="Straight Connector 32">
            <a:extLst>
              <a:ext uri="{FF2B5EF4-FFF2-40B4-BE49-F238E27FC236}">
                <a16:creationId xmlns:a16="http://schemas.microsoft.com/office/drawing/2014/main" id="{93C634EC-4724-40EC-C1C0-1986F16C54E0}"/>
              </a:ext>
            </a:extLst>
          </p:cNvPr>
          <p:cNvCxnSpPr/>
          <p:nvPr/>
        </p:nvCxnSpPr>
        <p:spPr>
          <a:xfrm>
            <a:off x="1170039" y="4529996"/>
            <a:ext cx="865238" cy="0"/>
          </a:xfrm>
          <a:prstGeom prst="line">
            <a:avLst/>
          </a:prstGeom>
        </p:spPr>
        <p:style>
          <a:lnRef idx="1">
            <a:schemeClr val="accent6"/>
          </a:lnRef>
          <a:fillRef idx="0">
            <a:schemeClr val="accent6"/>
          </a:fillRef>
          <a:effectRef idx="0">
            <a:schemeClr val="accent6"/>
          </a:effectRef>
          <a:fontRef idx="minor">
            <a:schemeClr val="tx1"/>
          </a:fontRef>
        </p:style>
      </p:cxnSp>
      <p:sp>
        <p:nvSpPr>
          <p:cNvPr id="34" name="TextBox 33">
            <a:extLst>
              <a:ext uri="{FF2B5EF4-FFF2-40B4-BE49-F238E27FC236}">
                <a16:creationId xmlns:a16="http://schemas.microsoft.com/office/drawing/2014/main" id="{E76601A8-D997-7C2D-500F-2D8895F22DD2}"/>
              </a:ext>
            </a:extLst>
          </p:cNvPr>
          <p:cNvSpPr txBox="1"/>
          <p:nvPr/>
        </p:nvSpPr>
        <p:spPr>
          <a:xfrm>
            <a:off x="293714" y="5125026"/>
            <a:ext cx="2204450" cy="400110"/>
          </a:xfrm>
          <a:prstGeom prst="rect">
            <a:avLst/>
          </a:prstGeom>
          <a:noFill/>
        </p:spPr>
        <p:txBody>
          <a:bodyPr wrap="none" rtlCol="0">
            <a:spAutoFit/>
          </a:bodyPr>
          <a:lstStyle/>
          <a:p>
            <a:r>
              <a:rPr lang="en-US" sz="2000" dirty="0">
                <a:solidFill>
                  <a:schemeClr val="accent6">
                    <a:lumMod val="60000"/>
                    <a:lumOff val="40000"/>
                  </a:schemeClr>
                </a:solidFill>
              </a:rPr>
              <a:t>=(47)/(47+0)=100%</a:t>
            </a:r>
          </a:p>
        </p:txBody>
      </p:sp>
      <p:sp>
        <p:nvSpPr>
          <p:cNvPr id="2" name="TextBox 1">
            <a:extLst>
              <a:ext uri="{FF2B5EF4-FFF2-40B4-BE49-F238E27FC236}">
                <a16:creationId xmlns:a16="http://schemas.microsoft.com/office/drawing/2014/main" id="{41E9044B-E21A-FB9C-65DE-AE6C03A758B5}"/>
              </a:ext>
            </a:extLst>
          </p:cNvPr>
          <p:cNvSpPr txBox="1"/>
          <p:nvPr/>
        </p:nvSpPr>
        <p:spPr>
          <a:xfrm>
            <a:off x="6904184" y="544253"/>
            <a:ext cx="865238" cy="400110"/>
          </a:xfrm>
          <a:prstGeom prst="rect">
            <a:avLst/>
          </a:prstGeom>
          <a:noFill/>
        </p:spPr>
        <p:txBody>
          <a:bodyPr wrap="square" rtlCol="0">
            <a:spAutoFit/>
          </a:bodyPr>
          <a:lstStyle/>
          <a:p>
            <a:r>
              <a:rPr lang="en-US" sz="2000" b="1" dirty="0">
                <a:solidFill>
                  <a:schemeClr val="accent2">
                    <a:lumMod val="20000"/>
                    <a:lumOff val="80000"/>
                  </a:schemeClr>
                </a:solidFill>
              </a:rPr>
              <a:t>TN</a:t>
            </a:r>
            <a:endParaRPr lang="en-US" b="1" dirty="0">
              <a:solidFill>
                <a:schemeClr val="accent2">
                  <a:lumMod val="20000"/>
                  <a:lumOff val="80000"/>
                </a:schemeClr>
              </a:solidFill>
            </a:endParaRPr>
          </a:p>
        </p:txBody>
      </p:sp>
      <p:sp>
        <p:nvSpPr>
          <p:cNvPr id="3" name="TextBox 2">
            <a:extLst>
              <a:ext uri="{FF2B5EF4-FFF2-40B4-BE49-F238E27FC236}">
                <a16:creationId xmlns:a16="http://schemas.microsoft.com/office/drawing/2014/main" id="{A23C5B3D-0096-8259-410F-49D3AC1892F6}"/>
              </a:ext>
            </a:extLst>
          </p:cNvPr>
          <p:cNvSpPr txBox="1"/>
          <p:nvPr/>
        </p:nvSpPr>
        <p:spPr>
          <a:xfrm>
            <a:off x="6904184" y="2044020"/>
            <a:ext cx="468398" cy="400110"/>
          </a:xfrm>
          <a:prstGeom prst="rect">
            <a:avLst/>
          </a:prstGeom>
          <a:noFill/>
        </p:spPr>
        <p:txBody>
          <a:bodyPr wrap="none" rtlCol="0">
            <a:spAutoFit/>
          </a:bodyPr>
          <a:lstStyle/>
          <a:p>
            <a:r>
              <a:rPr lang="en-US" sz="2000" b="1" dirty="0">
                <a:solidFill>
                  <a:schemeClr val="accent5">
                    <a:lumMod val="50000"/>
                  </a:schemeClr>
                </a:solidFill>
              </a:rPr>
              <a:t>FN</a:t>
            </a:r>
            <a:endParaRPr lang="en-US" b="1" dirty="0">
              <a:solidFill>
                <a:schemeClr val="accent5">
                  <a:lumMod val="50000"/>
                </a:schemeClr>
              </a:solidFill>
            </a:endParaRPr>
          </a:p>
        </p:txBody>
      </p:sp>
      <p:sp>
        <p:nvSpPr>
          <p:cNvPr id="4" name="TextBox 3">
            <a:extLst>
              <a:ext uri="{FF2B5EF4-FFF2-40B4-BE49-F238E27FC236}">
                <a16:creationId xmlns:a16="http://schemas.microsoft.com/office/drawing/2014/main" id="{5656D531-1F5E-64D4-A4C9-EDBFCFEFB6ED}"/>
              </a:ext>
            </a:extLst>
          </p:cNvPr>
          <p:cNvSpPr txBox="1"/>
          <p:nvPr/>
        </p:nvSpPr>
        <p:spPr>
          <a:xfrm>
            <a:off x="8515062" y="2044020"/>
            <a:ext cx="447558" cy="400110"/>
          </a:xfrm>
          <a:prstGeom prst="rect">
            <a:avLst/>
          </a:prstGeom>
          <a:noFill/>
        </p:spPr>
        <p:txBody>
          <a:bodyPr wrap="none" rtlCol="0">
            <a:spAutoFit/>
          </a:bodyPr>
          <a:lstStyle/>
          <a:p>
            <a:r>
              <a:rPr lang="en-US" sz="2000" b="1" dirty="0">
                <a:solidFill>
                  <a:schemeClr val="accent5">
                    <a:lumMod val="75000"/>
                  </a:schemeClr>
                </a:solidFill>
              </a:rPr>
              <a:t>TP</a:t>
            </a:r>
          </a:p>
        </p:txBody>
      </p:sp>
      <p:sp>
        <p:nvSpPr>
          <p:cNvPr id="6" name="TextBox 5">
            <a:extLst>
              <a:ext uri="{FF2B5EF4-FFF2-40B4-BE49-F238E27FC236}">
                <a16:creationId xmlns:a16="http://schemas.microsoft.com/office/drawing/2014/main" id="{74BDB706-5474-5691-2E89-1F57244A6B2D}"/>
              </a:ext>
            </a:extLst>
          </p:cNvPr>
          <p:cNvSpPr txBox="1"/>
          <p:nvPr/>
        </p:nvSpPr>
        <p:spPr>
          <a:xfrm>
            <a:off x="8524680" y="575031"/>
            <a:ext cx="437940" cy="400110"/>
          </a:xfrm>
          <a:prstGeom prst="rect">
            <a:avLst/>
          </a:prstGeom>
          <a:noFill/>
        </p:spPr>
        <p:txBody>
          <a:bodyPr wrap="none" rtlCol="0">
            <a:spAutoFit/>
          </a:bodyPr>
          <a:lstStyle/>
          <a:p>
            <a:r>
              <a:rPr lang="en-US" sz="2000" b="1" dirty="0">
                <a:solidFill>
                  <a:schemeClr val="accent5">
                    <a:lumMod val="75000"/>
                  </a:schemeClr>
                </a:solidFill>
              </a:rPr>
              <a:t>FP</a:t>
            </a:r>
            <a:endParaRPr lang="en-US" b="1" dirty="0">
              <a:solidFill>
                <a:schemeClr val="accent5">
                  <a:lumMod val="75000"/>
                </a:schemeClr>
              </a:solidFill>
            </a:endParaRPr>
          </a:p>
        </p:txBody>
      </p:sp>
    </p:spTree>
    <p:extLst>
      <p:ext uri="{BB962C8B-B14F-4D97-AF65-F5344CB8AC3E}">
        <p14:creationId xmlns:p14="http://schemas.microsoft.com/office/powerpoint/2010/main" val="504919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F2EAB18-93EC-0AB7-CFC5-FF9102AD98BA}"/>
              </a:ext>
            </a:extLst>
          </p:cNvPr>
          <p:cNvSpPr txBox="1"/>
          <p:nvPr/>
        </p:nvSpPr>
        <p:spPr>
          <a:xfrm>
            <a:off x="4237702" y="216310"/>
            <a:ext cx="6895734" cy="584775"/>
          </a:xfrm>
          <a:prstGeom prst="rect">
            <a:avLst/>
          </a:prstGeom>
          <a:noFill/>
        </p:spPr>
        <p:txBody>
          <a:bodyPr wrap="none" rtlCol="0">
            <a:spAutoFit/>
          </a:bodyPr>
          <a:lstStyle/>
          <a:p>
            <a:r>
              <a:rPr lang="en-US" sz="3200" b="1" dirty="0">
                <a:solidFill>
                  <a:schemeClr val="accent2">
                    <a:lumMod val="60000"/>
                    <a:lumOff val="40000"/>
                  </a:schemeClr>
                </a:solidFill>
              </a:rPr>
              <a:t>Now, let’s look at a more practical case.</a:t>
            </a:r>
          </a:p>
        </p:txBody>
      </p:sp>
      <p:sp>
        <p:nvSpPr>
          <p:cNvPr id="10" name="TextBox 9">
            <a:extLst>
              <a:ext uri="{FF2B5EF4-FFF2-40B4-BE49-F238E27FC236}">
                <a16:creationId xmlns:a16="http://schemas.microsoft.com/office/drawing/2014/main" id="{604213AA-478D-401D-4A4F-BA495CF157F9}"/>
              </a:ext>
            </a:extLst>
          </p:cNvPr>
          <p:cNvSpPr txBox="1"/>
          <p:nvPr/>
        </p:nvSpPr>
        <p:spPr>
          <a:xfrm>
            <a:off x="4424516" y="1021618"/>
            <a:ext cx="5474640" cy="461665"/>
          </a:xfrm>
          <a:prstGeom prst="rect">
            <a:avLst/>
          </a:prstGeom>
          <a:noFill/>
        </p:spPr>
        <p:txBody>
          <a:bodyPr wrap="none" rtlCol="0">
            <a:spAutoFit/>
          </a:bodyPr>
          <a:lstStyle/>
          <a:p>
            <a:r>
              <a:rPr lang="en-US" sz="2400" dirty="0">
                <a:solidFill>
                  <a:schemeClr val="accent5">
                    <a:lumMod val="40000"/>
                    <a:lumOff val="60000"/>
                  </a:schemeClr>
                </a:solidFill>
              </a:rPr>
              <a:t>“Assuming the prevalence of cancer is </a:t>
            </a:r>
            <a:r>
              <a:rPr lang="en-US" sz="2400" b="1" dirty="0">
                <a:solidFill>
                  <a:schemeClr val="accent5">
                    <a:lumMod val="40000"/>
                    <a:lumOff val="60000"/>
                  </a:schemeClr>
                </a:solidFill>
              </a:rPr>
              <a:t>1%</a:t>
            </a:r>
            <a:r>
              <a:rPr lang="en-US" sz="2400" dirty="0">
                <a:solidFill>
                  <a:schemeClr val="accent5">
                    <a:lumMod val="40000"/>
                    <a:lumOff val="60000"/>
                  </a:schemeClr>
                </a:solidFill>
              </a:rPr>
              <a:t>”</a:t>
            </a:r>
            <a:endParaRPr lang="en-US" sz="2400" b="1" dirty="0">
              <a:solidFill>
                <a:schemeClr val="accent5">
                  <a:lumMod val="40000"/>
                  <a:lumOff val="60000"/>
                </a:schemeClr>
              </a:solidFill>
            </a:endParaRPr>
          </a:p>
        </p:txBody>
      </p:sp>
      <p:sp>
        <p:nvSpPr>
          <p:cNvPr id="11" name="TextBox 10">
            <a:extLst>
              <a:ext uri="{FF2B5EF4-FFF2-40B4-BE49-F238E27FC236}">
                <a16:creationId xmlns:a16="http://schemas.microsoft.com/office/drawing/2014/main" id="{B2FE0ECE-B1D3-C8F2-9E42-4424A698F386}"/>
              </a:ext>
            </a:extLst>
          </p:cNvPr>
          <p:cNvSpPr txBox="1"/>
          <p:nvPr/>
        </p:nvSpPr>
        <p:spPr>
          <a:xfrm>
            <a:off x="4602259" y="1929163"/>
            <a:ext cx="4650658" cy="1200329"/>
          </a:xfrm>
          <a:prstGeom prst="rect">
            <a:avLst/>
          </a:prstGeom>
          <a:noFill/>
        </p:spPr>
        <p:txBody>
          <a:bodyPr wrap="square" rtlCol="0">
            <a:spAutoFit/>
          </a:bodyPr>
          <a:lstStyle/>
          <a:p>
            <a:r>
              <a:rPr lang="en-US" sz="2400" dirty="0">
                <a:solidFill>
                  <a:schemeClr val="accent4">
                    <a:lumMod val="20000"/>
                    <a:lumOff val="80000"/>
                  </a:schemeClr>
                </a:solidFill>
              </a:rPr>
              <a:t>So, if we build a model with 99% </a:t>
            </a:r>
            <a:r>
              <a:rPr lang="fa-IR" sz="2400" dirty="0">
                <a:solidFill>
                  <a:schemeClr val="accent4">
                    <a:lumMod val="20000"/>
                    <a:lumOff val="80000"/>
                  </a:schemeClr>
                </a:solidFill>
              </a:rPr>
              <a:t> </a:t>
            </a:r>
            <a:r>
              <a:rPr lang="en-US" sz="2400" dirty="0">
                <a:solidFill>
                  <a:schemeClr val="accent4">
                    <a:lumMod val="20000"/>
                    <a:lumOff val="80000"/>
                  </a:schemeClr>
                </a:solidFill>
              </a:rPr>
              <a:t>accuracy, it is basically no better than pure randomness.</a:t>
            </a:r>
          </a:p>
        </p:txBody>
      </p:sp>
      <p:pic>
        <p:nvPicPr>
          <p:cNvPr id="13" name="Picture 12">
            <a:extLst>
              <a:ext uri="{FF2B5EF4-FFF2-40B4-BE49-F238E27FC236}">
                <a16:creationId xmlns:a16="http://schemas.microsoft.com/office/drawing/2014/main" id="{BEC6D760-5E01-573C-6706-0DA6C1A91DB9}"/>
              </a:ext>
            </a:extLst>
          </p:cNvPr>
          <p:cNvPicPr>
            <a:picLocks noChangeAspect="1"/>
          </p:cNvPicPr>
          <p:nvPr/>
        </p:nvPicPr>
        <p:blipFill>
          <a:blip r:embed="rId2"/>
          <a:stretch>
            <a:fillRect/>
          </a:stretch>
        </p:blipFill>
        <p:spPr>
          <a:xfrm>
            <a:off x="47635" y="162854"/>
            <a:ext cx="4190067" cy="3702608"/>
          </a:xfrm>
          <a:prstGeom prst="rect">
            <a:avLst/>
          </a:prstGeom>
        </p:spPr>
      </p:pic>
      <p:sp>
        <p:nvSpPr>
          <p:cNvPr id="14" name="Rectangle 13">
            <a:extLst>
              <a:ext uri="{FF2B5EF4-FFF2-40B4-BE49-F238E27FC236}">
                <a16:creationId xmlns:a16="http://schemas.microsoft.com/office/drawing/2014/main" id="{6AB32DCA-0097-9A54-EFE0-D79417852195}"/>
              </a:ext>
            </a:extLst>
          </p:cNvPr>
          <p:cNvSpPr/>
          <p:nvPr/>
        </p:nvSpPr>
        <p:spPr>
          <a:xfrm>
            <a:off x="1228268" y="624970"/>
            <a:ext cx="914400" cy="914400"/>
          </a:xfrm>
          <a:prstGeom prst="rect">
            <a:avLst/>
          </a:prstGeom>
          <a:solidFill>
            <a:srgbClr val="07318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982</a:t>
            </a:r>
          </a:p>
        </p:txBody>
      </p:sp>
      <p:sp>
        <p:nvSpPr>
          <p:cNvPr id="15" name="Rectangle 14">
            <a:extLst>
              <a:ext uri="{FF2B5EF4-FFF2-40B4-BE49-F238E27FC236}">
                <a16:creationId xmlns:a16="http://schemas.microsoft.com/office/drawing/2014/main" id="{5B1864FE-7A2C-3297-B128-B131C402B4B8}"/>
              </a:ext>
            </a:extLst>
          </p:cNvPr>
          <p:cNvSpPr/>
          <p:nvPr/>
        </p:nvSpPr>
        <p:spPr>
          <a:xfrm>
            <a:off x="2576052" y="1929164"/>
            <a:ext cx="845574" cy="837197"/>
          </a:xfrm>
          <a:prstGeom prst="rect">
            <a:avLst/>
          </a:prstGeom>
          <a:solidFill>
            <a:srgbClr val="4EA5F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10</a:t>
            </a:r>
          </a:p>
        </p:txBody>
      </p:sp>
      <p:sp>
        <p:nvSpPr>
          <p:cNvPr id="16" name="Rectangle 15">
            <a:extLst>
              <a:ext uri="{FF2B5EF4-FFF2-40B4-BE49-F238E27FC236}">
                <a16:creationId xmlns:a16="http://schemas.microsoft.com/office/drawing/2014/main" id="{533855B3-8B96-7152-07F7-C9568ED96983}"/>
              </a:ext>
            </a:extLst>
          </p:cNvPr>
          <p:cNvSpPr/>
          <p:nvPr/>
        </p:nvSpPr>
        <p:spPr>
          <a:xfrm>
            <a:off x="1228268" y="1929163"/>
            <a:ext cx="845574" cy="837197"/>
          </a:xfrm>
          <a:prstGeom prst="rect">
            <a:avLst/>
          </a:prstGeom>
          <a:solidFill>
            <a:srgbClr val="D8F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pic>
        <p:nvPicPr>
          <p:cNvPr id="18" name="Picture 17">
            <a:extLst>
              <a:ext uri="{FF2B5EF4-FFF2-40B4-BE49-F238E27FC236}">
                <a16:creationId xmlns:a16="http://schemas.microsoft.com/office/drawing/2014/main" id="{EE3B4018-D42D-B055-E3A8-D403AB7AF0C5}"/>
              </a:ext>
            </a:extLst>
          </p:cNvPr>
          <p:cNvPicPr>
            <a:picLocks noChangeAspect="1"/>
          </p:cNvPicPr>
          <p:nvPr/>
        </p:nvPicPr>
        <p:blipFill>
          <a:blip r:embed="rId3"/>
          <a:stretch>
            <a:fillRect/>
          </a:stretch>
        </p:blipFill>
        <p:spPr>
          <a:xfrm>
            <a:off x="184369" y="4079043"/>
            <a:ext cx="3237257" cy="1511939"/>
          </a:xfrm>
          <a:prstGeom prst="rect">
            <a:avLst/>
          </a:prstGeom>
        </p:spPr>
      </p:pic>
      <p:pic>
        <p:nvPicPr>
          <p:cNvPr id="20" name="Picture 19">
            <a:extLst>
              <a:ext uri="{FF2B5EF4-FFF2-40B4-BE49-F238E27FC236}">
                <a16:creationId xmlns:a16="http://schemas.microsoft.com/office/drawing/2014/main" id="{355946E7-3A1E-6B98-F4FE-78F14715615A}"/>
              </a:ext>
            </a:extLst>
          </p:cNvPr>
          <p:cNvPicPr>
            <a:picLocks noChangeAspect="1"/>
          </p:cNvPicPr>
          <p:nvPr/>
        </p:nvPicPr>
        <p:blipFill>
          <a:blip r:embed="rId4"/>
          <a:stretch>
            <a:fillRect/>
          </a:stretch>
        </p:blipFill>
        <p:spPr>
          <a:xfrm>
            <a:off x="3181859" y="4066850"/>
            <a:ext cx="2914141" cy="1524132"/>
          </a:xfrm>
          <a:prstGeom prst="rect">
            <a:avLst/>
          </a:prstGeom>
        </p:spPr>
      </p:pic>
      <p:sp>
        <p:nvSpPr>
          <p:cNvPr id="2" name="Rectangle 1">
            <a:extLst>
              <a:ext uri="{FF2B5EF4-FFF2-40B4-BE49-F238E27FC236}">
                <a16:creationId xmlns:a16="http://schemas.microsoft.com/office/drawing/2014/main" id="{5E36B3BE-32B0-169A-04F9-E44501825DCA}"/>
              </a:ext>
            </a:extLst>
          </p:cNvPr>
          <p:cNvSpPr/>
          <p:nvPr/>
        </p:nvSpPr>
        <p:spPr>
          <a:xfrm>
            <a:off x="2507226" y="624970"/>
            <a:ext cx="914400" cy="837197"/>
          </a:xfrm>
          <a:prstGeom prst="rect">
            <a:avLst/>
          </a:prstGeom>
          <a:solidFill>
            <a:srgbClr val="D8F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0</a:t>
            </a:r>
          </a:p>
        </p:txBody>
      </p:sp>
      <p:sp>
        <p:nvSpPr>
          <p:cNvPr id="3" name="TextBox 2">
            <a:extLst>
              <a:ext uri="{FF2B5EF4-FFF2-40B4-BE49-F238E27FC236}">
                <a16:creationId xmlns:a16="http://schemas.microsoft.com/office/drawing/2014/main" id="{AA0C8C9F-6805-A5EC-25F6-04953C1ED189}"/>
              </a:ext>
            </a:extLst>
          </p:cNvPr>
          <p:cNvSpPr txBox="1"/>
          <p:nvPr/>
        </p:nvSpPr>
        <p:spPr>
          <a:xfrm>
            <a:off x="6419116" y="4121030"/>
            <a:ext cx="3509418" cy="707886"/>
          </a:xfrm>
          <a:prstGeom prst="rect">
            <a:avLst/>
          </a:prstGeom>
          <a:noFill/>
        </p:spPr>
        <p:txBody>
          <a:bodyPr wrap="square" rtlCol="0">
            <a:spAutoFit/>
          </a:bodyPr>
          <a:lstStyle/>
          <a:p>
            <a:r>
              <a:rPr lang="en-US" sz="2000" dirty="0">
                <a:solidFill>
                  <a:schemeClr val="accent3">
                    <a:lumMod val="40000"/>
                    <a:lumOff val="60000"/>
                  </a:schemeClr>
                </a:solidFill>
              </a:rPr>
              <a:t>This shows why selecting the right evaluation metric matters.</a:t>
            </a:r>
          </a:p>
        </p:txBody>
      </p:sp>
    </p:spTree>
    <p:extLst>
      <p:ext uri="{BB962C8B-B14F-4D97-AF65-F5344CB8AC3E}">
        <p14:creationId xmlns:p14="http://schemas.microsoft.com/office/powerpoint/2010/main" val="4219613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09879-55BA-7405-9831-08489ED576F5}"/>
              </a:ext>
            </a:extLst>
          </p:cNvPr>
          <p:cNvSpPr>
            <a:spLocks noGrp="1"/>
          </p:cNvSpPr>
          <p:nvPr>
            <p:ph type="title"/>
          </p:nvPr>
        </p:nvSpPr>
        <p:spPr>
          <a:xfrm>
            <a:off x="2113936" y="2833022"/>
            <a:ext cx="8541776" cy="1611159"/>
          </a:xfrm>
        </p:spPr>
        <p:txBody>
          <a:bodyPr>
            <a:normAutofit fontScale="90000"/>
          </a:bodyPr>
          <a:lstStyle/>
          <a:p>
            <a:r>
              <a:rPr lang="en-US" sz="5300" b="1" dirty="0">
                <a:solidFill>
                  <a:schemeClr val="accent4">
                    <a:lumMod val="20000"/>
                    <a:lumOff val="80000"/>
                  </a:schemeClr>
                </a:solidFill>
              </a:rPr>
              <a:t>Applications and Recent Advances of AI in Medicine</a:t>
            </a:r>
            <a:br>
              <a:rPr lang="en-US" b="1" dirty="0"/>
            </a:br>
            <a:endParaRPr lang="en-US" dirty="0"/>
          </a:p>
        </p:txBody>
      </p:sp>
    </p:spTree>
    <p:extLst>
      <p:ext uri="{BB962C8B-B14F-4D97-AF65-F5344CB8AC3E}">
        <p14:creationId xmlns:p14="http://schemas.microsoft.com/office/powerpoint/2010/main" val="25923754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E68ADF0-A0BC-B12D-A9F5-9AD871AFED42}"/>
              </a:ext>
            </a:extLst>
          </p:cNvPr>
          <p:cNvPicPr>
            <a:picLocks noChangeAspect="1"/>
          </p:cNvPicPr>
          <p:nvPr/>
        </p:nvPicPr>
        <p:blipFill>
          <a:blip r:embed="rId2"/>
          <a:stretch>
            <a:fillRect/>
          </a:stretch>
        </p:blipFill>
        <p:spPr>
          <a:xfrm>
            <a:off x="6494687" y="2604188"/>
            <a:ext cx="5697313" cy="3775533"/>
          </a:xfrm>
          <a:prstGeom prst="rect">
            <a:avLst/>
          </a:prstGeom>
        </p:spPr>
      </p:pic>
      <p:sp>
        <p:nvSpPr>
          <p:cNvPr id="2" name="Title 1">
            <a:extLst>
              <a:ext uri="{FF2B5EF4-FFF2-40B4-BE49-F238E27FC236}">
                <a16:creationId xmlns:a16="http://schemas.microsoft.com/office/drawing/2014/main" id="{95EA5B43-E4BC-E444-F31B-711747E551DD}"/>
              </a:ext>
            </a:extLst>
          </p:cNvPr>
          <p:cNvSpPr>
            <a:spLocks noGrp="1"/>
          </p:cNvSpPr>
          <p:nvPr>
            <p:ph type="title"/>
          </p:nvPr>
        </p:nvSpPr>
        <p:spPr/>
        <p:txBody>
          <a:bodyPr/>
          <a:lstStyle/>
          <a:p>
            <a:r>
              <a:rPr lang="en-US" b="1" dirty="0">
                <a:solidFill>
                  <a:schemeClr val="accent4">
                    <a:lumMod val="60000"/>
                    <a:lumOff val="40000"/>
                  </a:schemeClr>
                </a:solidFill>
              </a:rPr>
              <a:t>Breast Cancer Detection in Mammography</a:t>
            </a:r>
            <a:br>
              <a:rPr lang="en-US" b="1" dirty="0">
                <a:solidFill>
                  <a:schemeClr val="accent4">
                    <a:lumMod val="60000"/>
                    <a:lumOff val="40000"/>
                  </a:schemeClr>
                </a:solidFill>
              </a:rPr>
            </a:br>
            <a:endParaRPr lang="en-US" dirty="0">
              <a:solidFill>
                <a:schemeClr val="accent4">
                  <a:lumMod val="60000"/>
                  <a:lumOff val="40000"/>
                </a:schemeClr>
              </a:solidFill>
            </a:endParaRPr>
          </a:p>
        </p:txBody>
      </p:sp>
      <p:sp>
        <p:nvSpPr>
          <p:cNvPr id="8" name="TextBox 7">
            <a:extLst>
              <a:ext uri="{FF2B5EF4-FFF2-40B4-BE49-F238E27FC236}">
                <a16:creationId xmlns:a16="http://schemas.microsoft.com/office/drawing/2014/main" id="{922F735E-6AA7-7D72-C3F5-D9BE23E246CA}"/>
              </a:ext>
            </a:extLst>
          </p:cNvPr>
          <p:cNvSpPr txBox="1"/>
          <p:nvPr/>
        </p:nvSpPr>
        <p:spPr>
          <a:xfrm>
            <a:off x="838200" y="1401081"/>
            <a:ext cx="10606548" cy="830997"/>
          </a:xfrm>
          <a:prstGeom prst="rect">
            <a:avLst/>
          </a:prstGeom>
          <a:noFill/>
        </p:spPr>
        <p:txBody>
          <a:bodyPr wrap="square" rtlCol="0">
            <a:spAutoFit/>
          </a:bodyPr>
          <a:lstStyle/>
          <a:p>
            <a:r>
              <a:rPr lang="en-US" sz="2400" dirty="0">
                <a:solidFill>
                  <a:schemeClr val="accent4">
                    <a:lumMod val="60000"/>
                    <a:lumOff val="40000"/>
                  </a:schemeClr>
                </a:solidFill>
              </a:rPr>
              <a:t>Artificial intelligence (AI) improves the accuracy of mammography screening, but prospective evidence, particularly in a single-read setting, remains limited. </a:t>
            </a:r>
          </a:p>
        </p:txBody>
      </p:sp>
      <p:sp>
        <p:nvSpPr>
          <p:cNvPr id="9" name="TextBox 8">
            <a:extLst>
              <a:ext uri="{FF2B5EF4-FFF2-40B4-BE49-F238E27FC236}">
                <a16:creationId xmlns:a16="http://schemas.microsoft.com/office/drawing/2014/main" id="{6E53A696-CE0C-0992-EB0E-0B9C872E2317}"/>
              </a:ext>
            </a:extLst>
          </p:cNvPr>
          <p:cNvSpPr txBox="1"/>
          <p:nvPr/>
        </p:nvSpPr>
        <p:spPr>
          <a:xfrm>
            <a:off x="686280" y="2589041"/>
            <a:ext cx="5808407" cy="1938992"/>
          </a:xfrm>
          <a:prstGeom prst="rect">
            <a:avLst/>
          </a:prstGeom>
          <a:noFill/>
        </p:spPr>
        <p:txBody>
          <a:bodyPr wrap="square" rtlCol="0">
            <a:spAutoFit/>
          </a:bodyPr>
          <a:lstStyle/>
          <a:p>
            <a:r>
              <a:rPr lang="en-US" sz="2400" dirty="0">
                <a:solidFill>
                  <a:schemeClr val="accent4">
                    <a:lumMod val="40000"/>
                    <a:lumOff val="60000"/>
                  </a:schemeClr>
                </a:solidFill>
              </a:rPr>
              <a:t>This study compares the diagnostic accuracy of breast radiologists with and without AI-based computer-aided detection (AI-CAD) for screening mammograms in a real-world, single-read setting.</a:t>
            </a:r>
          </a:p>
        </p:txBody>
      </p:sp>
      <p:sp>
        <p:nvSpPr>
          <p:cNvPr id="11" name="TextBox 10">
            <a:extLst>
              <a:ext uri="{FF2B5EF4-FFF2-40B4-BE49-F238E27FC236}">
                <a16:creationId xmlns:a16="http://schemas.microsoft.com/office/drawing/2014/main" id="{B00FC880-EE4F-9DD3-CB7B-3CA1540B9EC6}"/>
              </a:ext>
            </a:extLst>
          </p:cNvPr>
          <p:cNvSpPr txBox="1"/>
          <p:nvPr/>
        </p:nvSpPr>
        <p:spPr>
          <a:xfrm>
            <a:off x="686280" y="4884996"/>
            <a:ext cx="5916562" cy="769441"/>
          </a:xfrm>
          <a:prstGeom prst="rect">
            <a:avLst/>
          </a:prstGeom>
          <a:noFill/>
        </p:spPr>
        <p:txBody>
          <a:bodyPr wrap="square">
            <a:spAutoFit/>
          </a:bodyPr>
          <a:lstStyle/>
          <a:p>
            <a:r>
              <a:rPr lang="en-US" sz="2000" b="1" dirty="0">
                <a:solidFill>
                  <a:schemeClr val="accent5">
                    <a:lumMod val="60000"/>
                    <a:lumOff val="40000"/>
                  </a:schemeClr>
                </a:solidFill>
              </a:rPr>
              <a:t>with a focus on cancer detection rates (CDRs) and </a:t>
            </a:r>
            <a:r>
              <a:rPr lang="en-US" sz="2400" b="1" dirty="0">
                <a:solidFill>
                  <a:schemeClr val="accent5">
                    <a:lumMod val="60000"/>
                    <a:lumOff val="40000"/>
                  </a:schemeClr>
                </a:solidFill>
              </a:rPr>
              <a:t>recall rates (RRs)</a:t>
            </a:r>
            <a:r>
              <a:rPr lang="en-US" sz="2000" b="1" dirty="0">
                <a:solidFill>
                  <a:schemeClr val="accent5">
                    <a:lumMod val="60000"/>
                    <a:lumOff val="40000"/>
                  </a:schemeClr>
                </a:solidFill>
              </a:rPr>
              <a:t> of radiologists</a:t>
            </a:r>
          </a:p>
        </p:txBody>
      </p:sp>
    </p:spTree>
    <p:extLst>
      <p:ext uri="{BB962C8B-B14F-4D97-AF65-F5344CB8AC3E}">
        <p14:creationId xmlns:p14="http://schemas.microsoft.com/office/powerpoint/2010/main" val="23932660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E783300-703C-0AF0-3A13-13A586129B00}"/>
              </a:ext>
            </a:extLst>
          </p:cNvPr>
          <p:cNvSpPr txBox="1"/>
          <p:nvPr/>
        </p:nvSpPr>
        <p:spPr>
          <a:xfrm>
            <a:off x="698090" y="614951"/>
            <a:ext cx="8101781" cy="1590150"/>
          </a:xfrm>
          <a:prstGeom prst="rect">
            <a:avLst/>
          </a:prstGeom>
          <a:noFill/>
        </p:spPr>
        <p:txBody>
          <a:bodyPr wrap="square" rtlCol="0">
            <a:spAutoFit/>
          </a:bodyPr>
          <a:lstStyle/>
          <a:p>
            <a:r>
              <a:rPr lang="en-US" sz="2400" dirty="0">
                <a:solidFill>
                  <a:schemeClr val="accent5">
                    <a:lumMod val="40000"/>
                    <a:lumOff val="60000"/>
                  </a:schemeClr>
                </a:solidFill>
              </a:rPr>
              <a:t>The CDR is significantly higher by 13.8% for breast radiologists </a:t>
            </a:r>
            <a:r>
              <a:rPr lang="en-US" sz="2400" b="1" dirty="0">
                <a:solidFill>
                  <a:schemeClr val="accent5">
                    <a:lumMod val="40000"/>
                    <a:lumOff val="60000"/>
                  </a:schemeClr>
                </a:solidFill>
              </a:rPr>
              <a:t>using AI-CAD </a:t>
            </a:r>
            <a:r>
              <a:rPr lang="en-US" sz="2400" b="1" u="sng" dirty="0">
                <a:solidFill>
                  <a:schemeClr val="accent5">
                    <a:lumMod val="40000"/>
                    <a:lumOff val="60000"/>
                  </a:schemeClr>
                </a:solidFill>
              </a:rPr>
              <a:t>(</a:t>
            </a:r>
            <a:r>
              <a:rPr lang="en-US" sz="2400" b="1" i="1" u="sng" dirty="0">
                <a:solidFill>
                  <a:schemeClr val="accent5">
                    <a:lumMod val="40000"/>
                    <a:lumOff val="60000"/>
                  </a:schemeClr>
                </a:solidFill>
              </a:rPr>
              <a:t>n</a:t>
            </a:r>
            <a:r>
              <a:rPr lang="en-US" sz="2400" b="1" u="sng" dirty="0">
                <a:solidFill>
                  <a:schemeClr val="accent5">
                    <a:lumMod val="40000"/>
                    <a:lumOff val="60000"/>
                  </a:schemeClr>
                </a:solidFill>
              </a:rPr>
              <a:t> = 140 [5.70‰]) </a:t>
            </a:r>
            <a:r>
              <a:rPr lang="en-US" sz="2400" dirty="0">
                <a:solidFill>
                  <a:schemeClr val="accent5">
                    <a:lumMod val="40000"/>
                    <a:lumOff val="60000"/>
                  </a:schemeClr>
                </a:solidFill>
              </a:rPr>
              <a:t>compared to those </a:t>
            </a:r>
            <a:r>
              <a:rPr lang="en-US" sz="2400" b="1" dirty="0">
                <a:solidFill>
                  <a:schemeClr val="accent5">
                    <a:lumMod val="40000"/>
                    <a:lumOff val="60000"/>
                  </a:schemeClr>
                </a:solidFill>
              </a:rPr>
              <a:t>without AI </a:t>
            </a:r>
            <a:r>
              <a:rPr lang="en-US" sz="2400" b="1" u="sng" dirty="0">
                <a:solidFill>
                  <a:schemeClr val="accent5">
                    <a:lumMod val="40000"/>
                    <a:lumOff val="60000"/>
                  </a:schemeClr>
                </a:solidFill>
              </a:rPr>
              <a:t>(</a:t>
            </a:r>
            <a:r>
              <a:rPr lang="en-US" sz="2400" b="1" i="1" u="sng" dirty="0">
                <a:solidFill>
                  <a:schemeClr val="accent5">
                    <a:lumMod val="40000"/>
                    <a:lumOff val="60000"/>
                  </a:schemeClr>
                </a:solidFill>
              </a:rPr>
              <a:t>n</a:t>
            </a:r>
            <a:r>
              <a:rPr lang="en-US" sz="2400" b="1" u="sng" dirty="0">
                <a:solidFill>
                  <a:schemeClr val="accent5">
                    <a:lumMod val="40000"/>
                    <a:lumOff val="60000"/>
                  </a:schemeClr>
                </a:solidFill>
              </a:rPr>
              <a:t> = 123 [5.01‰]; </a:t>
            </a:r>
            <a:r>
              <a:rPr lang="en-US" sz="2400" b="1" i="1" u="sng" dirty="0">
                <a:solidFill>
                  <a:schemeClr val="accent5">
                    <a:lumMod val="40000"/>
                    <a:lumOff val="60000"/>
                  </a:schemeClr>
                </a:solidFill>
              </a:rPr>
              <a:t>p</a:t>
            </a:r>
            <a:r>
              <a:rPr lang="en-US" sz="2400" b="1" u="sng" dirty="0">
                <a:solidFill>
                  <a:schemeClr val="accent5">
                    <a:lumMod val="40000"/>
                    <a:lumOff val="60000"/>
                  </a:schemeClr>
                </a:solidFill>
              </a:rPr>
              <a:t> &lt; 0.001</a:t>
            </a:r>
            <a:r>
              <a:rPr lang="en-US" sz="2400" b="1" dirty="0">
                <a:solidFill>
                  <a:schemeClr val="accent5">
                    <a:lumMod val="40000"/>
                    <a:lumOff val="60000"/>
                  </a:schemeClr>
                </a:solidFill>
              </a:rPr>
              <a:t>)</a:t>
            </a:r>
            <a:r>
              <a:rPr lang="en-US" sz="2400" dirty="0">
                <a:solidFill>
                  <a:schemeClr val="accent5">
                    <a:lumMod val="40000"/>
                    <a:lumOff val="60000"/>
                  </a:schemeClr>
                </a:solidFill>
              </a:rPr>
              <a:t>, with no significant difference in RRs (</a:t>
            </a:r>
            <a:r>
              <a:rPr lang="en-US" sz="2400" i="1" dirty="0">
                <a:solidFill>
                  <a:schemeClr val="accent5">
                    <a:lumMod val="40000"/>
                    <a:lumOff val="60000"/>
                  </a:schemeClr>
                </a:solidFill>
              </a:rPr>
              <a:t>p</a:t>
            </a:r>
            <a:r>
              <a:rPr lang="en-US" sz="2400" dirty="0">
                <a:solidFill>
                  <a:schemeClr val="accent5">
                    <a:lumMod val="40000"/>
                    <a:lumOff val="60000"/>
                  </a:schemeClr>
                </a:solidFill>
              </a:rPr>
              <a:t> = 0.564)</a:t>
            </a:r>
          </a:p>
        </p:txBody>
      </p:sp>
      <p:sp>
        <p:nvSpPr>
          <p:cNvPr id="7" name="TextBox 6">
            <a:extLst>
              <a:ext uri="{FF2B5EF4-FFF2-40B4-BE49-F238E27FC236}">
                <a16:creationId xmlns:a16="http://schemas.microsoft.com/office/drawing/2014/main" id="{965DD4C9-02DB-10D2-9B82-81EEAE500582}"/>
              </a:ext>
            </a:extLst>
          </p:cNvPr>
          <p:cNvSpPr txBox="1"/>
          <p:nvPr/>
        </p:nvSpPr>
        <p:spPr>
          <a:xfrm>
            <a:off x="698090" y="2684205"/>
            <a:ext cx="4047551" cy="1938992"/>
          </a:xfrm>
          <a:prstGeom prst="rect">
            <a:avLst/>
          </a:prstGeom>
          <a:noFill/>
        </p:spPr>
        <p:txBody>
          <a:bodyPr wrap="square" rtlCol="0">
            <a:spAutoFit/>
          </a:bodyPr>
          <a:lstStyle/>
          <a:p>
            <a:r>
              <a:rPr lang="en-US" sz="2400" dirty="0">
                <a:solidFill>
                  <a:schemeClr val="accent4">
                    <a:lumMod val="20000"/>
                    <a:lumOff val="80000"/>
                  </a:schemeClr>
                </a:solidFill>
              </a:rPr>
              <a:t>These preliminary results show a significant improvement in CDRs without affecting RRs in a radiologist’s standard single-reading setting </a:t>
            </a:r>
          </a:p>
        </p:txBody>
      </p:sp>
      <p:pic>
        <p:nvPicPr>
          <p:cNvPr id="9" name="Picture 8">
            <a:extLst>
              <a:ext uri="{FF2B5EF4-FFF2-40B4-BE49-F238E27FC236}">
                <a16:creationId xmlns:a16="http://schemas.microsoft.com/office/drawing/2014/main" id="{A6FDB7DA-0707-A51A-143B-7E2D973418FF}"/>
              </a:ext>
            </a:extLst>
          </p:cNvPr>
          <p:cNvPicPr>
            <a:picLocks noChangeAspect="1"/>
          </p:cNvPicPr>
          <p:nvPr/>
        </p:nvPicPr>
        <p:blipFill>
          <a:blip r:embed="rId2"/>
          <a:stretch>
            <a:fillRect/>
          </a:stretch>
        </p:blipFill>
        <p:spPr>
          <a:xfrm>
            <a:off x="5180197" y="2205101"/>
            <a:ext cx="6865547" cy="3912125"/>
          </a:xfrm>
          <a:prstGeom prst="rect">
            <a:avLst/>
          </a:prstGeom>
        </p:spPr>
      </p:pic>
    </p:spTree>
    <p:extLst>
      <p:ext uri="{BB962C8B-B14F-4D97-AF65-F5344CB8AC3E}">
        <p14:creationId xmlns:p14="http://schemas.microsoft.com/office/powerpoint/2010/main" val="35378241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F3288-12B1-F505-F204-38483B326B88}"/>
              </a:ext>
            </a:extLst>
          </p:cNvPr>
          <p:cNvSpPr>
            <a:spLocks noGrp="1"/>
          </p:cNvSpPr>
          <p:nvPr>
            <p:ph type="title"/>
          </p:nvPr>
        </p:nvSpPr>
        <p:spPr/>
        <p:txBody>
          <a:bodyPr/>
          <a:lstStyle/>
          <a:p>
            <a:r>
              <a:rPr lang="en-US" b="1" dirty="0">
                <a:solidFill>
                  <a:schemeClr val="accent4">
                    <a:lumMod val="60000"/>
                    <a:lumOff val="40000"/>
                  </a:schemeClr>
                </a:solidFill>
              </a:rPr>
              <a:t>Diabetic Retinopathy Screening</a:t>
            </a:r>
            <a:br>
              <a:rPr lang="en-US" b="1" dirty="0">
                <a:solidFill>
                  <a:schemeClr val="accent4">
                    <a:lumMod val="60000"/>
                    <a:lumOff val="40000"/>
                  </a:schemeClr>
                </a:solidFill>
              </a:rPr>
            </a:br>
            <a:endParaRPr lang="en-US" dirty="0">
              <a:solidFill>
                <a:schemeClr val="accent4">
                  <a:lumMod val="60000"/>
                  <a:lumOff val="40000"/>
                </a:schemeClr>
              </a:solidFill>
            </a:endParaRPr>
          </a:p>
        </p:txBody>
      </p:sp>
      <p:sp>
        <p:nvSpPr>
          <p:cNvPr id="4" name="TextBox 3">
            <a:extLst>
              <a:ext uri="{FF2B5EF4-FFF2-40B4-BE49-F238E27FC236}">
                <a16:creationId xmlns:a16="http://schemas.microsoft.com/office/drawing/2014/main" id="{E80BA6B3-49FB-6804-A982-1EB955AAF71D}"/>
              </a:ext>
            </a:extLst>
          </p:cNvPr>
          <p:cNvSpPr txBox="1"/>
          <p:nvPr/>
        </p:nvSpPr>
        <p:spPr>
          <a:xfrm>
            <a:off x="838200" y="1275189"/>
            <a:ext cx="10832690" cy="830997"/>
          </a:xfrm>
          <a:prstGeom prst="rect">
            <a:avLst/>
          </a:prstGeom>
          <a:noFill/>
        </p:spPr>
        <p:txBody>
          <a:bodyPr wrap="square" rtlCol="0">
            <a:spAutoFit/>
          </a:bodyPr>
          <a:lstStyle/>
          <a:p>
            <a:r>
              <a:rPr lang="en-US" sz="2400" dirty="0">
                <a:solidFill>
                  <a:schemeClr val="accent4">
                    <a:lumMod val="40000"/>
                    <a:lumOff val="60000"/>
                  </a:schemeClr>
                </a:solidFill>
              </a:rPr>
              <a:t>Diabetic retinopathy (DR) is a leading cause of preventable blindness, and the growing global burden of diabetes is placing increasing pressure on ophthalmic services.</a:t>
            </a:r>
          </a:p>
        </p:txBody>
      </p:sp>
      <p:sp>
        <p:nvSpPr>
          <p:cNvPr id="7" name="TextBox 6">
            <a:extLst>
              <a:ext uri="{FF2B5EF4-FFF2-40B4-BE49-F238E27FC236}">
                <a16:creationId xmlns:a16="http://schemas.microsoft.com/office/drawing/2014/main" id="{961D5F2E-849F-2D90-6B80-3254E5119E2D}"/>
              </a:ext>
            </a:extLst>
          </p:cNvPr>
          <p:cNvSpPr txBox="1"/>
          <p:nvPr/>
        </p:nvSpPr>
        <p:spPr>
          <a:xfrm>
            <a:off x="956187" y="2954112"/>
            <a:ext cx="3370006" cy="1938992"/>
          </a:xfrm>
          <a:prstGeom prst="rect">
            <a:avLst/>
          </a:prstGeom>
          <a:noFill/>
        </p:spPr>
        <p:txBody>
          <a:bodyPr wrap="square" rtlCol="0">
            <a:spAutoFit/>
          </a:bodyPr>
          <a:lstStyle/>
          <a:p>
            <a:r>
              <a:rPr lang="en-US" sz="2000" dirty="0">
                <a:solidFill>
                  <a:schemeClr val="accent5">
                    <a:lumMod val="40000"/>
                    <a:lumOff val="60000"/>
                  </a:schemeClr>
                </a:solidFill>
              </a:rPr>
              <a:t>The AI system achieved an area under the curve of 96.5%, sensitivity of 88.9%, specificity of 98.7%, and high predictive values for referable DR detection.</a:t>
            </a:r>
          </a:p>
        </p:txBody>
      </p:sp>
      <p:pic>
        <p:nvPicPr>
          <p:cNvPr id="9" name="Picture 8">
            <a:extLst>
              <a:ext uri="{FF2B5EF4-FFF2-40B4-BE49-F238E27FC236}">
                <a16:creationId xmlns:a16="http://schemas.microsoft.com/office/drawing/2014/main" id="{1A0FF4D3-0FD8-7F1C-DE8B-E9B928064605}"/>
              </a:ext>
            </a:extLst>
          </p:cNvPr>
          <p:cNvPicPr>
            <a:picLocks noChangeAspect="1"/>
          </p:cNvPicPr>
          <p:nvPr/>
        </p:nvPicPr>
        <p:blipFill>
          <a:blip r:embed="rId2"/>
          <a:srcRect t="-1" r="-131" b="19140"/>
          <a:stretch>
            <a:fillRect/>
          </a:stretch>
        </p:blipFill>
        <p:spPr>
          <a:xfrm>
            <a:off x="4533052" y="2389375"/>
            <a:ext cx="7221034" cy="4103500"/>
          </a:xfrm>
          <a:prstGeom prst="rect">
            <a:avLst/>
          </a:prstGeom>
        </p:spPr>
      </p:pic>
    </p:spTree>
    <p:extLst>
      <p:ext uri="{BB962C8B-B14F-4D97-AF65-F5344CB8AC3E}">
        <p14:creationId xmlns:p14="http://schemas.microsoft.com/office/powerpoint/2010/main" val="14508182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5408BB6-7FEB-43D5-74BA-1E51F3FAF85C}"/>
              </a:ext>
            </a:extLst>
          </p:cNvPr>
          <p:cNvSpPr txBox="1"/>
          <p:nvPr/>
        </p:nvSpPr>
        <p:spPr>
          <a:xfrm>
            <a:off x="315686" y="2487222"/>
            <a:ext cx="5692876" cy="1477328"/>
          </a:xfrm>
          <a:prstGeom prst="rect">
            <a:avLst/>
          </a:prstGeom>
          <a:noFill/>
        </p:spPr>
        <p:txBody>
          <a:bodyPr wrap="square" rtlCol="0">
            <a:spAutoFit/>
          </a:bodyPr>
          <a:lstStyle/>
          <a:p>
            <a:r>
              <a:rPr lang="en-US" dirty="0">
                <a:solidFill>
                  <a:schemeClr val="accent5">
                    <a:lumMod val="40000"/>
                    <a:lumOff val="60000"/>
                  </a:schemeClr>
                </a:solidFill>
              </a:rPr>
              <a:t>images show the same retinal image in black-and-white. The soft attention heat map for each prediction is overlaid in green, indicating the areas of the heat map that the neural-network model is using to make the prediction for the image.</a:t>
            </a:r>
          </a:p>
        </p:txBody>
      </p:sp>
      <p:pic>
        <p:nvPicPr>
          <p:cNvPr id="12" name="Picture 11">
            <a:extLst>
              <a:ext uri="{FF2B5EF4-FFF2-40B4-BE49-F238E27FC236}">
                <a16:creationId xmlns:a16="http://schemas.microsoft.com/office/drawing/2014/main" id="{CAB5BD82-7C89-759D-173E-295E79BBF57E}"/>
              </a:ext>
            </a:extLst>
          </p:cNvPr>
          <p:cNvPicPr>
            <a:picLocks noChangeAspect="1"/>
          </p:cNvPicPr>
          <p:nvPr/>
        </p:nvPicPr>
        <p:blipFill>
          <a:blip r:embed="rId2"/>
          <a:stretch>
            <a:fillRect/>
          </a:stretch>
        </p:blipFill>
        <p:spPr>
          <a:xfrm>
            <a:off x="5780033" y="3767460"/>
            <a:ext cx="6411967" cy="2685902"/>
          </a:xfrm>
          <a:prstGeom prst="rect">
            <a:avLst/>
          </a:prstGeom>
        </p:spPr>
      </p:pic>
      <p:pic>
        <p:nvPicPr>
          <p:cNvPr id="14" name="Picture 13">
            <a:extLst>
              <a:ext uri="{FF2B5EF4-FFF2-40B4-BE49-F238E27FC236}">
                <a16:creationId xmlns:a16="http://schemas.microsoft.com/office/drawing/2014/main" id="{0D93C007-C56C-0238-028F-C311E407B1F5}"/>
              </a:ext>
            </a:extLst>
          </p:cNvPr>
          <p:cNvPicPr>
            <a:picLocks noChangeAspect="1"/>
          </p:cNvPicPr>
          <p:nvPr/>
        </p:nvPicPr>
        <p:blipFill>
          <a:blip r:embed="rId3"/>
          <a:stretch>
            <a:fillRect/>
          </a:stretch>
        </p:blipFill>
        <p:spPr>
          <a:xfrm>
            <a:off x="8195490" y="1206984"/>
            <a:ext cx="3996510" cy="2560476"/>
          </a:xfrm>
          <a:prstGeom prst="rect">
            <a:avLst/>
          </a:prstGeom>
        </p:spPr>
      </p:pic>
      <p:pic>
        <p:nvPicPr>
          <p:cNvPr id="16" name="Picture 15">
            <a:extLst>
              <a:ext uri="{FF2B5EF4-FFF2-40B4-BE49-F238E27FC236}">
                <a16:creationId xmlns:a16="http://schemas.microsoft.com/office/drawing/2014/main" id="{D8EEFA0E-988F-9B08-102B-4678BEE5A654}"/>
              </a:ext>
            </a:extLst>
          </p:cNvPr>
          <p:cNvPicPr>
            <a:picLocks noChangeAspect="1"/>
          </p:cNvPicPr>
          <p:nvPr/>
        </p:nvPicPr>
        <p:blipFill>
          <a:blip r:embed="rId4"/>
          <a:stretch>
            <a:fillRect/>
          </a:stretch>
        </p:blipFill>
        <p:spPr>
          <a:xfrm>
            <a:off x="3601844" y="3767460"/>
            <a:ext cx="1960018" cy="2196111"/>
          </a:xfrm>
          <a:prstGeom prst="rect">
            <a:avLst/>
          </a:prstGeom>
        </p:spPr>
      </p:pic>
      <p:sp>
        <p:nvSpPr>
          <p:cNvPr id="17" name="TextBox 16">
            <a:extLst>
              <a:ext uri="{FF2B5EF4-FFF2-40B4-BE49-F238E27FC236}">
                <a16:creationId xmlns:a16="http://schemas.microsoft.com/office/drawing/2014/main" id="{3FAA5D40-E297-D671-A49E-DC0C8E0C99F2}"/>
              </a:ext>
            </a:extLst>
          </p:cNvPr>
          <p:cNvSpPr txBox="1"/>
          <p:nvPr/>
        </p:nvSpPr>
        <p:spPr>
          <a:xfrm>
            <a:off x="180422" y="0"/>
            <a:ext cx="10762881" cy="2246769"/>
          </a:xfrm>
          <a:prstGeom prst="rect">
            <a:avLst/>
          </a:prstGeom>
          <a:noFill/>
        </p:spPr>
        <p:txBody>
          <a:bodyPr wrap="square" rtlCol="0">
            <a:spAutoFit/>
          </a:bodyPr>
          <a:lstStyle/>
          <a:p>
            <a:r>
              <a:rPr lang="en-US" sz="2800" dirty="0">
                <a:solidFill>
                  <a:schemeClr val="accent4">
                    <a:lumMod val="20000"/>
                    <a:lumOff val="80000"/>
                  </a:schemeClr>
                </a:solidFill>
              </a:rPr>
              <a:t>The best-known, FDA-approved, AI-based medical devices in the field of ophthalmology are </a:t>
            </a:r>
            <a:r>
              <a:rPr lang="en-US" sz="2800" dirty="0" err="1">
                <a:solidFill>
                  <a:schemeClr val="accent4">
                    <a:lumMod val="20000"/>
                    <a:lumOff val="80000"/>
                  </a:schemeClr>
                </a:solidFill>
              </a:rPr>
              <a:t>IDx</a:t>
            </a:r>
            <a:r>
              <a:rPr lang="en-US" sz="2800" dirty="0">
                <a:solidFill>
                  <a:schemeClr val="accent4">
                    <a:lumMod val="20000"/>
                    <a:lumOff val="80000"/>
                  </a:schemeClr>
                </a:solidFill>
              </a:rPr>
              <a:t>-DR (2018), the first software to provide screening decisions that do not have to be interpreted by a </a:t>
            </a:r>
          </a:p>
          <a:p>
            <a:r>
              <a:rPr lang="en-US" sz="2800" dirty="0">
                <a:solidFill>
                  <a:schemeClr val="accent4">
                    <a:lumMod val="20000"/>
                    <a:lumOff val="80000"/>
                  </a:schemeClr>
                </a:solidFill>
              </a:rPr>
              <a:t>clinician, and </a:t>
            </a:r>
            <a:r>
              <a:rPr lang="en-US" sz="2800" dirty="0" err="1">
                <a:solidFill>
                  <a:schemeClr val="accent4">
                    <a:lumMod val="20000"/>
                    <a:lumOff val="80000"/>
                  </a:schemeClr>
                </a:solidFill>
              </a:rPr>
              <a:t>Eyenuk</a:t>
            </a:r>
            <a:r>
              <a:rPr lang="en-US" sz="2800" dirty="0">
                <a:solidFill>
                  <a:schemeClr val="accent4">
                    <a:lumMod val="20000"/>
                    <a:lumOff val="80000"/>
                  </a:schemeClr>
                </a:solidFill>
              </a:rPr>
              <a:t> (2020), which, like </a:t>
            </a:r>
            <a:r>
              <a:rPr lang="en-US" sz="2800" dirty="0" err="1">
                <a:solidFill>
                  <a:schemeClr val="accent4">
                    <a:lumMod val="20000"/>
                    <a:lumOff val="80000"/>
                  </a:schemeClr>
                </a:solidFill>
              </a:rPr>
              <a:t>IDx</a:t>
            </a:r>
            <a:r>
              <a:rPr lang="en-US" sz="2800" dirty="0">
                <a:solidFill>
                  <a:schemeClr val="accent4">
                    <a:lumMod val="20000"/>
                    <a:lumOff val="80000"/>
                  </a:schemeClr>
                </a:solidFill>
              </a:rPr>
              <a:t>-DR,</a:t>
            </a:r>
          </a:p>
          <a:p>
            <a:r>
              <a:rPr lang="en-US" sz="2800" dirty="0">
                <a:solidFill>
                  <a:schemeClr val="accent4">
                    <a:lumMod val="20000"/>
                    <a:lumOff val="80000"/>
                  </a:schemeClr>
                </a:solidFill>
              </a:rPr>
              <a:t> screens </a:t>
            </a:r>
            <a:r>
              <a:rPr lang="en-US" sz="2800" dirty="0" err="1">
                <a:solidFill>
                  <a:schemeClr val="accent4">
                    <a:lumMod val="20000"/>
                    <a:lumOff val="80000"/>
                  </a:schemeClr>
                </a:solidFill>
              </a:rPr>
              <a:t>fordiabetic</a:t>
            </a:r>
            <a:r>
              <a:rPr lang="en-US" sz="2800" dirty="0">
                <a:solidFill>
                  <a:schemeClr val="accent4">
                    <a:lumMod val="20000"/>
                    <a:lumOff val="80000"/>
                  </a:schemeClr>
                </a:solidFill>
              </a:rPr>
              <a:t> retinopathy.</a:t>
            </a:r>
          </a:p>
        </p:txBody>
      </p:sp>
    </p:spTree>
    <p:extLst>
      <p:ext uri="{BB962C8B-B14F-4D97-AF65-F5344CB8AC3E}">
        <p14:creationId xmlns:p14="http://schemas.microsoft.com/office/powerpoint/2010/main" val="40627293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67500-705F-5558-9EF6-1E859491EFC2}"/>
              </a:ext>
            </a:extLst>
          </p:cNvPr>
          <p:cNvSpPr>
            <a:spLocks noGrp="1"/>
          </p:cNvSpPr>
          <p:nvPr>
            <p:ph type="title"/>
          </p:nvPr>
        </p:nvSpPr>
        <p:spPr/>
        <p:txBody>
          <a:bodyPr/>
          <a:lstStyle/>
          <a:p>
            <a:r>
              <a:rPr lang="en-US" b="1" dirty="0">
                <a:solidFill>
                  <a:schemeClr val="accent4">
                    <a:lumMod val="60000"/>
                    <a:lumOff val="40000"/>
                  </a:schemeClr>
                </a:solidFill>
              </a:rPr>
              <a:t>Drug Discovery and Protein Structure</a:t>
            </a:r>
            <a:br>
              <a:rPr lang="en-US" b="1" dirty="0">
                <a:solidFill>
                  <a:schemeClr val="accent4">
                    <a:lumMod val="60000"/>
                    <a:lumOff val="40000"/>
                  </a:schemeClr>
                </a:solidFill>
              </a:rPr>
            </a:br>
            <a:endParaRPr lang="en-US" dirty="0">
              <a:solidFill>
                <a:schemeClr val="accent4">
                  <a:lumMod val="60000"/>
                  <a:lumOff val="40000"/>
                </a:schemeClr>
              </a:solidFill>
            </a:endParaRPr>
          </a:p>
        </p:txBody>
      </p:sp>
      <p:sp>
        <p:nvSpPr>
          <p:cNvPr id="4" name="TextBox 3">
            <a:extLst>
              <a:ext uri="{FF2B5EF4-FFF2-40B4-BE49-F238E27FC236}">
                <a16:creationId xmlns:a16="http://schemas.microsoft.com/office/drawing/2014/main" id="{DE4B021B-E37D-5958-5AD6-EE821A3908A1}"/>
              </a:ext>
            </a:extLst>
          </p:cNvPr>
          <p:cNvSpPr txBox="1"/>
          <p:nvPr/>
        </p:nvSpPr>
        <p:spPr>
          <a:xfrm>
            <a:off x="838200" y="1367522"/>
            <a:ext cx="7204587" cy="1569660"/>
          </a:xfrm>
          <a:prstGeom prst="rect">
            <a:avLst/>
          </a:prstGeom>
          <a:noFill/>
        </p:spPr>
        <p:txBody>
          <a:bodyPr wrap="square" rtlCol="0">
            <a:spAutoFit/>
          </a:bodyPr>
          <a:lstStyle/>
          <a:p>
            <a:r>
              <a:rPr lang="en-US" sz="2400" dirty="0">
                <a:solidFill>
                  <a:schemeClr val="accent4">
                    <a:lumMod val="20000"/>
                    <a:lumOff val="80000"/>
                  </a:schemeClr>
                </a:solidFill>
              </a:rPr>
              <a:t>Recent advancements in AI-driven technologies, particularly in protein structure prediction, are significantly reshaping the landscape of drug discovery and development</a:t>
            </a:r>
          </a:p>
        </p:txBody>
      </p:sp>
      <p:sp>
        <p:nvSpPr>
          <p:cNvPr id="6" name="TextBox 5">
            <a:extLst>
              <a:ext uri="{FF2B5EF4-FFF2-40B4-BE49-F238E27FC236}">
                <a16:creationId xmlns:a16="http://schemas.microsoft.com/office/drawing/2014/main" id="{C5CB0288-EBF4-542A-4AAA-3C74F511F388}"/>
              </a:ext>
            </a:extLst>
          </p:cNvPr>
          <p:cNvSpPr txBox="1"/>
          <p:nvPr/>
        </p:nvSpPr>
        <p:spPr>
          <a:xfrm>
            <a:off x="759542" y="3429000"/>
            <a:ext cx="7204587" cy="1569660"/>
          </a:xfrm>
          <a:prstGeom prst="rect">
            <a:avLst/>
          </a:prstGeom>
          <a:noFill/>
        </p:spPr>
        <p:txBody>
          <a:bodyPr wrap="square">
            <a:spAutoFit/>
          </a:bodyPr>
          <a:lstStyle/>
          <a:p>
            <a:r>
              <a:rPr lang="en-US" sz="2400" dirty="0">
                <a:solidFill>
                  <a:schemeClr val="accent4">
                    <a:lumMod val="20000"/>
                    <a:lumOff val="80000"/>
                  </a:schemeClr>
                </a:solidFill>
              </a:rPr>
              <a:t> By enhancing the precision and speed at which drug targets are identified and drug candidates can be designed and optimized, these technologies are streamlining the entire drug development process.</a:t>
            </a:r>
          </a:p>
        </p:txBody>
      </p:sp>
      <p:pic>
        <p:nvPicPr>
          <p:cNvPr id="12" name="Picture 11">
            <a:extLst>
              <a:ext uri="{FF2B5EF4-FFF2-40B4-BE49-F238E27FC236}">
                <a16:creationId xmlns:a16="http://schemas.microsoft.com/office/drawing/2014/main" id="{83455367-B4A1-B839-5673-B1D782C4C754}"/>
              </a:ext>
            </a:extLst>
          </p:cNvPr>
          <p:cNvPicPr>
            <a:picLocks noChangeAspect="1"/>
          </p:cNvPicPr>
          <p:nvPr/>
        </p:nvPicPr>
        <p:blipFill>
          <a:blip r:embed="rId2"/>
          <a:stretch>
            <a:fillRect/>
          </a:stretch>
        </p:blipFill>
        <p:spPr>
          <a:xfrm>
            <a:off x="7964129" y="943897"/>
            <a:ext cx="4017424" cy="5471844"/>
          </a:xfrm>
          <a:prstGeom prst="rect">
            <a:avLst/>
          </a:prstGeom>
        </p:spPr>
      </p:pic>
    </p:spTree>
    <p:extLst>
      <p:ext uri="{BB962C8B-B14F-4D97-AF65-F5344CB8AC3E}">
        <p14:creationId xmlns:p14="http://schemas.microsoft.com/office/powerpoint/2010/main" val="58408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C27797-396C-EEDD-1119-74C53E0C6323}"/>
              </a:ext>
            </a:extLst>
          </p:cNvPr>
          <p:cNvPicPr>
            <a:picLocks noChangeAspect="1"/>
          </p:cNvPicPr>
          <p:nvPr/>
        </p:nvPicPr>
        <p:blipFill>
          <a:blip r:embed="rId2">
            <a:duotone>
              <a:prstClr val="black"/>
              <a:schemeClr val="accent1">
                <a:tint val="45000"/>
                <a:satMod val="400000"/>
              </a:schemeClr>
            </a:duotone>
          </a:blip>
          <a:srcRect r="706" b="1588"/>
          <a:stretch>
            <a:fillRect/>
          </a:stretch>
        </p:blipFill>
        <p:spPr>
          <a:xfrm>
            <a:off x="3140945" y="2737516"/>
            <a:ext cx="9051055" cy="3702614"/>
          </a:xfrm>
          <a:prstGeom prst="rect">
            <a:avLst/>
          </a:prstGeom>
        </p:spPr>
      </p:pic>
      <p:sp>
        <p:nvSpPr>
          <p:cNvPr id="7" name="TextBox 6">
            <a:extLst>
              <a:ext uri="{FF2B5EF4-FFF2-40B4-BE49-F238E27FC236}">
                <a16:creationId xmlns:a16="http://schemas.microsoft.com/office/drawing/2014/main" id="{CF0A8F63-4427-A038-7A3B-50240F815F17}"/>
              </a:ext>
            </a:extLst>
          </p:cNvPr>
          <p:cNvSpPr txBox="1"/>
          <p:nvPr/>
        </p:nvSpPr>
        <p:spPr>
          <a:xfrm>
            <a:off x="452283" y="319547"/>
            <a:ext cx="7826477" cy="954107"/>
          </a:xfrm>
          <a:prstGeom prst="rect">
            <a:avLst/>
          </a:prstGeom>
          <a:noFill/>
        </p:spPr>
        <p:txBody>
          <a:bodyPr wrap="square">
            <a:spAutoFit/>
          </a:bodyPr>
          <a:lstStyle/>
          <a:p>
            <a:r>
              <a:rPr lang="en-US" sz="2800" b="1" dirty="0">
                <a:solidFill>
                  <a:schemeClr val="accent4">
                    <a:lumMod val="20000"/>
                    <a:lumOff val="80000"/>
                  </a:schemeClr>
                </a:solidFill>
              </a:rPr>
              <a:t>Comparing AlphaFold2 vs. </a:t>
            </a:r>
            <a:r>
              <a:rPr lang="en-US" sz="2800" b="1" dirty="0" err="1">
                <a:solidFill>
                  <a:schemeClr val="accent4">
                    <a:lumMod val="20000"/>
                    <a:lumOff val="80000"/>
                  </a:schemeClr>
                </a:solidFill>
              </a:rPr>
              <a:t>ESMFold</a:t>
            </a:r>
            <a:r>
              <a:rPr lang="en-US" sz="2800" b="1" dirty="0">
                <a:solidFill>
                  <a:schemeClr val="accent4">
                    <a:lumMod val="20000"/>
                    <a:lumOff val="80000"/>
                  </a:schemeClr>
                </a:solidFill>
              </a:rPr>
              <a:t> vs. </a:t>
            </a:r>
            <a:r>
              <a:rPr lang="en-US" sz="2800" b="1" dirty="0" err="1">
                <a:solidFill>
                  <a:schemeClr val="accent4">
                    <a:lumMod val="20000"/>
                    <a:lumOff val="80000"/>
                  </a:schemeClr>
                </a:solidFill>
              </a:rPr>
              <a:t>RoseTTAFold</a:t>
            </a:r>
            <a:r>
              <a:rPr lang="en-US" sz="2800" b="1" dirty="0">
                <a:solidFill>
                  <a:schemeClr val="accent4">
                    <a:lumMod val="20000"/>
                    <a:lumOff val="80000"/>
                  </a:schemeClr>
                </a:solidFill>
              </a:rPr>
              <a:t> vs. </a:t>
            </a:r>
            <a:r>
              <a:rPr lang="en-US" sz="2800" b="1" dirty="0" err="1">
                <a:solidFill>
                  <a:schemeClr val="accent4">
                    <a:lumMod val="20000"/>
                    <a:lumOff val="80000"/>
                  </a:schemeClr>
                </a:solidFill>
              </a:rPr>
              <a:t>OpenFold</a:t>
            </a:r>
            <a:r>
              <a:rPr lang="en-US" sz="2800" b="1" dirty="0">
                <a:solidFill>
                  <a:schemeClr val="accent4">
                    <a:lumMod val="20000"/>
                    <a:lumOff val="80000"/>
                  </a:schemeClr>
                </a:solidFill>
              </a:rPr>
              <a:t>:</a:t>
            </a:r>
          </a:p>
        </p:txBody>
      </p:sp>
      <p:sp>
        <p:nvSpPr>
          <p:cNvPr id="9" name="TextBox 8">
            <a:extLst>
              <a:ext uri="{FF2B5EF4-FFF2-40B4-BE49-F238E27FC236}">
                <a16:creationId xmlns:a16="http://schemas.microsoft.com/office/drawing/2014/main" id="{40103698-65B4-7AE9-81F6-74B356E01F28}"/>
              </a:ext>
            </a:extLst>
          </p:cNvPr>
          <p:cNvSpPr txBox="1"/>
          <p:nvPr/>
        </p:nvSpPr>
        <p:spPr>
          <a:xfrm>
            <a:off x="452283" y="1393873"/>
            <a:ext cx="7924800" cy="1015663"/>
          </a:xfrm>
          <a:prstGeom prst="rect">
            <a:avLst/>
          </a:prstGeom>
          <a:noFill/>
        </p:spPr>
        <p:txBody>
          <a:bodyPr wrap="square">
            <a:spAutoFit/>
          </a:bodyPr>
          <a:lstStyle/>
          <a:p>
            <a:r>
              <a:rPr lang="en-US" sz="2000" dirty="0">
                <a:solidFill>
                  <a:schemeClr val="accent5">
                    <a:lumMod val="40000"/>
                    <a:lumOff val="60000"/>
                  </a:schemeClr>
                </a:solidFill>
              </a:rPr>
              <a:t>The contrasting approaches among AF2, </a:t>
            </a:r>
            <a:r>
              <a:rPr lang="en-US" sz="2000" dirty="0" err="1">
                <a:solidFill>
                  <a:schemeClr val="accent5">
                    <a:lumMod val="40000"/>
                    <a:lumOff val="60000"/>
                  </a:schemeClr>
                </a:solidFill>
              </a:rPr>
              <a:t>ESMFold</a:t>
            </a:r>
            <a:r>
              <a:rPr lang="en-US" sz="2000" dirty="0">
                <a:solidFill>
                  <a:schemeClr val="accent5">
                    <a:lumMod val="40000"/>
                    <a:lumOff val="60000"/>
                  </a:schemeClr>
                </a:solidFill>
              </a:rPr>
              <a:t>, </a:t>
            </a:r>
            <a:r>
              <a:rPr lang="en-US" sz="2000" dirty="0" err="1">
                <a:solidFill>
                  <a:schemeClr val="accent5">
                    <a:lumMod val="40000"/>
                    <a:lumOff val="60000"/>
                  </a:schemeClr>
                </a:solidFill>
              </a:rPr>
              <a:t>RoseTTAFold</a:t>
            </a:r>
            <a:r>
              <a:rPr lang="en-US" sz="2000" dirty="0">
                <a:solidFill>
                  <a:schemeClr val="accent5">
                    <a:lumMod val="40000"/>
                    <a:lumOff val="60000"/>
                  </a:schemeClr>
                </a:solidFill>
              </a:rPr>
              <a:t> and </a:t>
            </a:r>
            <a:r>
              <a:rPr lang="en-US" sz="2000" dirty="0" err="1">
                <a:solidFill>
                  <a:schemeClr val="accent5">
                    <a:lumMod val="40000"/>
                    <a:lumOff val="60000"/>
                  </a:schemeClr>
                </a:solidFill>
              </a:rPr>
              <a:t>OpenFold</a:t>
            </a:r>
            <a:r>
              <a:rPr lang="en-US" sz="2000" dirty="0">
                <a:solidFill>
                  <a:schemeClr val="accent5">
                    <a:lumMod val="40000"/>
                    <a:lumOff val="60000"/>
                  </a:schemeClr>
                </a:solidFill>
              </a:rPr>
              <a:t> highlight the trade-offs between prediction speed and accuracy and need for additional input data</a:t>
            </a:r>
          </a:p>
        </p:txBody>
      </p:sp>
      <p:sp>
        <p:nvSpPr>
          <p:cNvPr id="10" name="TextBox 9">
            <a:extLst>
              <a:ext uri="{FF2B5EF4-FFF2-40B4-BE49-F238E27FC236}">
                <a16:creationId xmlns:a16="http://schemas.microsoft.com/office/drawing/2014/main" id="{0BD26E18-2352-8023-DF6E-508F0298BDD6}"/>
              </a:ext>
            </a:extLst>
          </p:cNvPr>
          <p:cNvSpPr txBox="1"/>
          <p:nvPr/>
        </p:nvSpPr>
        <p:spPr>
          <a:xfrm>
            <a:off x="452283" y="3218014"/>
            <a:ext cx="2688662" cy="1569660"/>
          </a:xfrm>
          <a:prstGeom prst="rect">
            <a:avLst/>
          </a:prstGeom>
          <a:noFill/>
        </p:spPr>
        <p:txBody>
          <a:bodyPr wrap="square" rtlCol="0">
            <a:spAutoFit/>
          </a:bodyPr>
          <a:lstStyle/>
          <a:p>
            <a:r>
              <a:rPr lang="en-US" sz="2400" b="1" dirty="0">
                <a:solidFill>
                  <a:schemeClr val="accent6">
                    <a:lumMod val="60000"/>
                    <a:lumOff val="40000"/>
                  </a:schemeClr>
                </a:solidFill>
              </a:rPr>
              <a:t>It also shows how much room there still is for improvements.</a:t>
            </a:r>
          </a:p>
        </p:txBody>
      </p:sp>
    </p:spTree>
    <p:extLst>
      <p:ext uri="{BB962C8B-B14F-4D97-AF65-F5344CB8AC3E}">
        <p14:creationId xmlns:p14="http://schemas.microsoft.com/office/powerpoint/2010/main" val="30624467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0D3C0-855E-030D-01A0-7C02C0A28118}"/>
              </a:ext>
            </a:extLst>
          </p:cNvPr>
          <p:cNvSpPr>
            <a:spLocks noGrp="1"/>
          </p:cNvSpPr>
          <p:nvPr>
            <p:ph type="title"/>
          </p:nvPr>
        </p:nvSpPr>
        <p:spPr>
          <a:xfrm>
            <a:off x="838200" y="853563"/>
            <a:ext cx="3281516" cy="972062"/>
          </a:xfrm>
        </p:spPr>
        <p:txBody>
          <a:bodyPr>
            <a:normAutofit fontScale="90000"/>
          </a:bodyPr>
          <a:lstStyle/>
          <a:p>
            <a:r>
              <a:rPr lang="en-US" sz="4900" b="1" dirty="0">
                <a:solidFill>
                  <a:schemeClr val="accent4">
                    <a:lumMod val="60000"/>
                    <a:lumOff val="40000"/>
                  </a:schemeClr>
                </a:solidFill>
              </a:rPr>
              <a:t>References:</a:t>
            </a:r>
            <a:br>
              <a:rPr lang="en-US" b="1" dirty="0"/>
            </a:br>
            <a:endParaRPr lang="en-US" dirty="0"/>
          </a:p>
        </p:txBody>
      </p:sp>
      <p:sp>
        <p:nvSpPr>
          <p:cNvPr id="3" name="Content Placeholder 2">
            <a:extLst>
              <a:ext uri="{FF2B5EF4-FFF2-40B4-BE49-F238E27FC236}">
                <a16:creationId xmlns:a16="http://schemas.microsoft.com/office/drawing/2014/main" id="{B1EDC166-0E8C-DF8A-EF42-0A70E257A7BC}"/>
              </a:ext>
            </a:extLst>
          </p:cNvPr>
          <p:cNvSpPr>
            <a:spLocks noGrp="1"/>
          </p:cNvSpPr>
          <p:nvPr>
            <p:ph idx="1"/>
          </p:nvPr>
        </p:nvSpPr>
        <p:spPr>
          <a:xfrm>
            <a:off x="838200" y="1592826"/>
            <a:ext cx="10515600" cy="4584137"/>
          </a:xfrm>
        </p:spPr>
        <p:txBody>
          <a:bodyPr>
            <a:normAutofit fontScale="85000" lnSpcReduction="20000"/>
          </a:bodyPr>
          <a:lstStyle/>
          <a:p>
            <a:r>
              <a:rPr lang="en-US" dirty="0">
                <a:solidFill>
                  <a:schemeClr val="accent4">
                    <a:lumMod val="20000"/>
                    <a:lumOff val="80000"/>
                  </a:schemeClr>
                </a:solidFill>
              </a:rPr>
              <a:t>Machine.Learning.with.PyTorch.and.Scikit-Learn.Sebastian.Raschka.Packt</a:t>
            </a:r>
          </a:p>
          <a:p>
            <a:r>
              <a:rPr lang="en-US" dirty="0">
                <a:solidFill>
                  <a:schemeClr val="accent4">
                    <a:lumMod val="20000"/>
                    <a:lumOff val="80000"/>
                  </a:schemeClr>
                </a:solidFill>
              </a:rPr>
              <a:t>Hands.on.Machine.Learning.with.Scikit.Learn.Keras.and.TensorFlow.OReilly.Media</a:t>
            </a:r>
          </a:p>
          <a:p>
            <a:r>
              <a:rPr lang="en-US" dirty="0">
                <a:solidFill>
                  <a:schemeClr val="accent4">
                    <a:lumMod val="20000"/>
                    <a:lumOff val="80000"/>
                  </a:schemeClr>
                </a:solidFill>
              </a:rPr>
              <a:t>IBM Machine Learning course</a:t>
            </a:r>
          </a:p>
          <a:p>
            <a:r>
              <a:rPr lang="en-US" dirty="0">
                <a:solidFill>
                  <a:schemeClr val="accent4">
                    <a:lumMod val="20000"/>
                    <a:lumOff val="80000"/>
                  </a:schemeClr>
                </a:solidFill>
              </a:rPr>
              <a:t>Andrew NG Machine Learning course</a:t>
            </a:r>
          </a:p>
          <a:p>
            <a:r>
              <a:rPr lang="en-US" dirty="0">
                <a:solidFill>
                  <a:schemeClr val="accent4">
                    <a:lumMod val="20000"/>
                    <a:lumOff val="80000"/>
                  </a:schemeClr>
                </a:solidFill>
              </a:rPr>
              <a:t>Artificial Intelligence in Ophthalmology Second Edition</a:t>
            </a:r>
          </a:p>
          <a:p>
            <a:r>
              <a:rPr lang="en-US" dirty="0">
                <a:solidFill>
                  <a:schemeClr val="accent4">
                    <a:lumMod val="20000"/>
                    <a:lumOff val="80000"/>
                  </a:schemeClr>
                </a:solidFill>
              </a:rPr>
              <a:t>Artificial intelligence for breast cancer screening in mammography (AI-STREAM): preliminary analysis of a prospective multicenter cohort study</a:t>
            </a:r>
          </a:p>
          <a:p>
            <a:r>
              <a:rPr lang="en-US" dirty="0">
                <a:solidFill>
                  <a:schemeClr val="accent4">
                    <a:lumMod val="20000"/>
                    <a:lumOff val="80000"/>
                  </a:schemeClr>
                </a:solidFill>
              </a:rPr>
              <a:t>Advances in AI for Protein Structure Prediction: Implications for Cancer Drug Discovery and Development</a:t>
            </a:r>
          </a:p>
          <a:p>
            <a:r>
              <a:rPr lang="en-US" dirty="0">
                <a:solidFill>
                  <a:schemeClr val="accent4">
                    <a:lumMod val="20000"/>
                    <a:lumOff val="80000"/>
                  </a:schemeClr>
                </a:solidFill>
              </a:rPr>
              <a:t>Poplin R, Varadarajan AV, Blumer K, Liu Y, McConnell MV, Corrado GS, Peng L, Webster DR. Prediction of cardiovascular risk factors from retinal fundus photographs via deep learning. Nat Biomed Eng. 2018 Mar;2(3):158–164</a:t>
            </a:r>
          </a:p>
          <a:p>
            <a:r>
              <a:rPr lang="en-US" b="1" dirty="0">
                <a:solidFill>
                  <a:schemeClr val="accent4">
                    <a:lumMod val="20000"/>
                    <a:lumOff val="80000"/>
                  </a:schemeClr>
                </a:solidFill>
              </a:rPr>
              <a:t>CXAI: Explaining Convolutional Neural Networks for Medical Imaging Diagnostic </a:t>
            </a:r>
          </a:p>
          <a:p>
            <a:endParaRPr lang="en-US" dirty="0">
              <a:solidFill>
                <a:schemeClr val="accent4">
                  <a:lumMod val="20000"/>
                  <a:lumOff val="80000"/>
                </a:schemeClr>
              </a:solidFill>
            </a:endParaRPr>
          </a:p>
          <a:p>
            <a:endParaRPr lang="en-US" b="1" dirty="0">
              <a:solidFill>
                <a:schemeClr val="accent4">
                  <a:lumMod val="20000"/>
                  <a:lumOff val="80000"/>
                </a:schemeClr>
              </a:solidFill>
            </a:endParaRPr>
          </a:p>
          <a:p>
            <a:endParaRPr lang="en-US" b="1" dirty="0">
              <a:solidFill>
                <a:schemeClr val="accent4">
                  <a:lumMod val="20000"/>
                  <a:lumOff val="80000"/>
                </a:schemeClr>
              </a:solidFill>
            </a:endParaRPr>
          </a:p>
          <a:p>
            <a:endParaRPr lang="en-US" b="1" dirty="0">
              <a:solidFill>
                <a:schemeClr val="accent4">
                  <a:lumMod val="20000"/>
                  <a:lumOff val="80000"/>
                </a:schemeClr>
              </a:solidFill>
            </a:endParaRPr>
          </a:p>
          <a:p>
            <a:endParaRPr lang="en-US" dirty="0">
              <a:solidFill>
                <a:schemeClr val="accent4">
                  <a:lumMod val="20000"/>
                  <a:lumOff val="80000"/>
                </a:schemeClr>
              </a:solidFill>
            </a:endParaRPr>
          </a:p>
        </p:txBody>
      </p:sp>
    </p:spTree>
    <p:extLst>
      <p:ext uri="{BB962C8B-B14F-4D97-AF65-F5344CB8AC3E}">
        <p14:creationId xmlns:p14="http://schemas.microsoft.com/office/powerpoint/2010/main" val="38232057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7022C4C-3A38-9A8B-594E-9A92D24711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904977"/>
          </a:xfrm>
          <a:prstGeom prst="rect">
            <a:avLst/>
          </a:prstGeom>
        </p:spPr>
      </p:pic>
    </p:spTree>
    <p:extLst>
      <p:ext uri="{BB962C8B-B14F-4D97-AF65-F5344CB8AC3E}">
        <p14:creationId xmlns:p14="http://schemas.microsoft.com/office/powerpoint/2010/main" val="3861592291"/>
      </p:ext>
    </p:extLst>
  </p:cSld>
  <p:clrMapOvr>
    <a:masterClrMapping/>
  </p:clrMapOvr>
</p:sld>
</file>

<file path=ppt/theme/theme1.xml><?xml version="1.0" encoding="utf-8"?>
<a:theme xmlns:a="http://schemas.openxmlformats.org/drawingml/2006/main" name="content-background">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content-background</Template>
  <TotalTime>1157</TotalTime>
  <Words>1802</Words>
  <Application>Microsoft Office PowerPoint</Application>
  <PresentationFormat>Widescreen</PresentationFormat>
  <Paragraphs>189</Paragraphs>
  <Slides>32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Aptos Display</vt:lpstr>
      <vt:lpstr>Arial</vt:lpstr>
      <vt:lpstr>Cambria Math</vt:lpstr>
      <vt:lpstr>content-background</vt:lpstr>
      <vt:lpstr>PowerPoint Presentation</vt:lpstr>
      <vt:lpstr>PowerPoint Presentation</vt:lpstr>
      <vt:lpstr>What is AI, Machine Learning, and Deep Learning? </vt:lpstr>
      <vt:lpstr>4 Types of Machine Learning: </vt:lpstr>
      <vt:lpstr>PowerPoint Presentation</vt:lpstr>
      <vt:lpstr>Common Steps in ML Usage </vt:lpstr>
      <vt:lpstr>PowerPoint Presentation</vt:lpstr>
      <vt:lpstr>What Types of Medical Data Can AI Use? </vt:lpstr>
      <vt:lpstr>PowerPoint Presentation</vt:lpstr>
      <vt:lpstr>PowerPoint Presentation</vt:lpstr>
      <vt:lpstr>PowerPoint Presentation</vt:lpstr>
      <vt:lpstr>Basic Mathematics Behind Machine Learning </vt:lpstr>
      <vt:lpstr>How AI Understands and Processes Medical Images</vt:lpstr>
      <vt:lpstr>PowerPoint Presentation</vt:lpstr>
      <vt:lpstr>PowerPoint Presentation</vt:lpstr>
      <vt:lpstr>CNN for Medical Imaging Diagnostic </vt:lpstr>
      <vt:lpstr>PowerPoint Presentation</vt:lpstr>
      <vt:lpstr>Example Models Used in Medicine </vt:lpstr>
      <vt:lpstr>How We Evaluate AI in Healthcare: </vt:lpstr>
      <vt:lpstr>Let’s look at an example.</vt:lpstr>
      <vt:lpstr>PowerPoint Presentation</vt:lpstr>
      <vt:lpstr>PowerPoint Presentation</vt:lpstr>
      <vt:lpstr>PowerPoint Presentation</vt:lpstr>
      <vt:lpstr>Applications and Recent Advances of AI in Medicine </vt:lpstr>
      <vt:lpstr>Breast Cancer Detection in Mammography </vt:lpstr>
      <vt:lpstr>PowerPoint Presentation</vt:lpstr>
      <vt:lpstr>Diabetic Retinopathy Screening </vt:lpstr>
      <vt:lpstr>PowerPoint Presentation</vt:lpstr>
      <vt:lpstr>Drug Discovery and Protein Structure </vt:lpstr>
      <vt:lpstr>PowerPoint Presentation</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ARTIN</dc:creator>
  <cp:lastModifiedBy>ARTIN</cp:lastModifiedBy>
  <cp:revision>14</cp:revision>
  <dcterms:created xsi:type="dcterms:W3CDTF">2026-05-29T23:12:25Z</dcterms:created>
  <dcterms:modified xsi:type="dcterms:W3CDTF">2026-06-08T22:45:21Z</dcterms:modified>
</cp:coreProperties>
</file>